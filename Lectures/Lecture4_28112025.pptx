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92" r:id="rId4"/>
    <p:sldId id="258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259" r:id="rId13"/>
    <p:sldId id="299" r:id="rId14"/>
    <p:sldId id="260" r:id="rId15"/>
    <p:sldId id="261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09" r:id="rId24"/>
    <p:sldId id="262" r:id="rId25"/>
    <p:sldId id="263" r:id="rId26"/>
    <p:sldId id="264" r:id="rId27"/>
    <p:sldId id="267" r:id="rId28"/>
    <p:sldId id="298" r:id="rId29"/>
    <p:sldId id="297" r:id="rId30"/>
    <p:sldId id="268" r:id="rId31"/>
    <p:sldId id="269" r:id="rId32"/>
    <p:sldId id="270" r:id="rId33"/>
    <p:sldId id="271" r:id="rId34"/>
    <p:sldId id="272" r:id="rId35"/>
    <p:sldId id="273" r:id="rId36"/>
    <p:sldId id="274" r:id="rId3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42" autoAdjust="0"/>
  </p:normalViewPr>
  <p:slideViewPr>
    <p:cSldViewPr snapToGrid="0">
      <p:cViewPr varScale="1">
        <p:scale>
          <a:sx n="48" d="100"/>
          <a:sy n="48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dirty="0">
                <a:latin typeface="+mn-lt"/>
                <a:ea typeface="+mn-ea"/>
                <a:cs typeface="+mn-cs"/>
                <a:sym typeface="Helvetica Neue"/>
              </a:rPr>
              <a:t>end=""</a:t>
            </a:r>
            <a:r>
              <a:rPr lang="en-US" dirty="0"/>
              <a:t> tells Python </a:t>
            </a:r>
            <a:r>
              <a:rPr lang="en-US" b="1" dirty="0"/>
              <a:t>not</a:t>
            </a:r>
            <a:r>
              <a:rPr lang="en-US" dirty="0"/>
              <a:t> to add a newline after printing (by default </a:t>
            </a:r>
            <a:r>
              <a:rPr lang="en-US" sz="2200" dirty="0">
                <a:latin typeface="+mn-lt"/>
                <a:ea typeface="+mn-ea"/>
                <a:cs typeface="+mn-cs"/>
                <a:sym typeface="Helvetica Neue"/>
              </a:rPr>
              <a:t>print</a:t>
            </a:r>
            <a:r>
              <a:rPr lang="en-US" dirty="0"/>
              <a:t> ends with </a:t>
            </a:r>
            <a:r>
              <a:rPr lang="en-US" sz="2200" dirty="0">
                <a:latin typeface="+mn-lt"/>
                <a:ea typeface="+mn-ea"/>
                <a:cs typeface="+mn-cs"/>
                <a:sym typeface="Helvetica Neue"/>
              </a:rPr>
              <a:t>"\n"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003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C59E-57DD-1E4D-2F25-A9039483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56D25-4234-4D9F-DD4A-61F755E26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51224-AF6C-FCA7-7FC9-F5A37F240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2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05B7-85E9-F2DB-EA06-ECE033CB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06A48-8B89-DCAC-4F0C-EC757C953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54869-94FD-9F07-7929-B0252D6B8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76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A5FC-15CD-A03B-6CAE-3001565A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C9B96-6AAC-D66B-C4B4-17E01461D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51C78-9ED1-8E5C-5EF9-AE4F41B2A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7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6A21-9F07-3471-76F3-02B8A96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9D6B4-7A81-B606-558B-A77BB3A50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A5D94-77C0-7382-8CA4-EDF46A7A3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2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2463-C140-2475-59D2-E8C7A3E1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0D3D5-1CE1-5A96-8416-FE00CF339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81345-FA5F-489E-9C03-1BF3C9CCB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927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54D1-6D34-E7BE-3C0F-AE37D45C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67114-7A50-A932-CC32-B5BDA54F3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F2D99-0872-0819-8C0E-7B2360FD4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33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40A9-85A3-1983-853C-10D5F953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46726-3BA5-3689-81D8-E7B185365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A0D69-7393-235D-D3BB-FDC5ACFF9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737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51" name="Rectangle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15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932" y="2319264"/>
            <a:ext cx="8700671" cy="9077472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Python…"/>
          <p:cNvSpPr txBox="1"/>
          <p:nvPr/>
        </p:nvSpPr>
        <p:spPr>
          <a:xfrm>
            <a:off x="12917667" y="2580076"/>
            <a:ext cx="7848067" cy="7831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Python </a:t>
            </a:r>
          </a:p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for </a:t>
            </a:r>
          </a:p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Beginners</a:t>
            </a:r>
          </a:p>
        </p:txBody>
      </p:sp>
      <p:sp>
        <p:nvSpPr>
          <p:cNvPr id="156" name="S. Sharma, UJ"/>
          <p:cNvSpPr/>
          <p:nvPr/>
        </p:nvSpPr>
        <p:spPr>
          <a:xfrm>
            <a:off x="2679344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5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58" name="Picture 3" descr="Picture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09/12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1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62" name="Rectangle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65" name="S. Sharma, UJ"/>
          <p:cNvSpPr/>
          <p:nvPr/>
        </p:nvSpPr>
        <p:spPr>
          <a:xfrm>
            <a:off x="2679344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6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6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1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169" name="09/12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170" name="Glimpse of last lecture"/>
          <p:cNvSpPr txBox="1"/>
          <p:nvPr/>
        </p:nvSpPr>
        <p:spPr>
          <a:xfrm>
            <a:off x="8646558" y="1168658"/>
            <a:ext cx="690753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Glimpse of last lecture</a:t>
            </a:r>
          </a:p>
        </p:txBody>
      </p:sp>
      <p:grpSp>
        <p:nvGrpSpPr>
          <p:cNvPr id="175" name="Group"/>
          <p:cNvGrpSpPr/>
          <p:nvPr/>
        </p:nvGrpSpPr>
        <p:grpSpPr>
          <a:xfrm>
            <a:off x="5954162" y="2225077"/>
            <a:ext cx="11222195" cy="10030470"/>
            <a:chOff x="0" y="0"/>
            <a:chExt cx="11222193" cy="10030469"/>
          </a:xfrm>
        </p:grpSpPr>
        <p:pic>
          <p:nvPicPr>
            <p:cNvPr id="171" name="Image" descr="Image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20333"/>
              <a:ext cx="6024183" cy="998193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pic>
          <p:nvPicPr>
            <p:cNvPr id="17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287" y="21951"/>
              <a:ext cx="5019954" cy="6995018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pic>
          <p:nvPicPr>
            <p:cNvPr id="17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3287" y="7180600"/>
              <a:ext cx="5019954" cy="284987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sp>
          <p:nvSpPr>
            <p:cNvPr id="174" name="Rectangle"/>
            <p:cNvSpPr/>
            <p:nvPr/>
          </p:nvSpPr>
          <p:spPr>
            <a:xfrm>
              <a:off x="7030" y="0"/>
              <a:ext cx="11215164" cy="10022596"/>
            </a:xfrm>
            <a:prstGeom prst="rect">
              <a:avLst/>
            </a:prstGeom>
            <a:noFill/>
            <a:ln w="635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76" name="Line"/>
          <p:cNvSpPr/>
          <p:nvPr/>
        </p:nvSpPr>
        <p:spPr>
          <a:xfrm>
            <a:off x="7437176" y="2854011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7" name="Line"/>
          <p:cNvSpPr/>
          <p:nvPr/>
        </p:nvSpPr>
        <p:spPr>
          <a:xfrm>
            <a:off x="7437176" y="3198725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8" name="Line"/>
          <p:cNvSpPr/>
          <p:nvPr/>
        </p:nvSpPr>
        <p:spPr>
          <a:xfrm>
            <a:off x="7437176" y="3568839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9" name="Line"/>
          <p:cNvSpPr/>
          <p:nvPr/>
        </p:nvSpPr>
        <p:spPr>
          <a:xfrm>
            <a:off x="7437176" y="3938954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0" name="Line"/>
          <p:cNvSpPr/>
          <p:nvPr/>
        </p:nvSpPr>
        <p:spPr>
          <a:xfrm>
            <a:off x="7351200" y="7240311"/>
            <a:ext cx="174909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1" name="Line"/>
          <p:cNvSpPr/>
          <p:nvPr/>
        </p:nvSpPr>
        <p:spPr>
          <a:xfrm>
            <a:off x="7440100" y="7568278"/>
            <a:ext cx="11932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2" name="Line"/>
          <p:cNvSpPr/>
          <p:nvPr/>
        </p:nvSpPr>
        <p:spPr>
          <a:xfrm>
            <a:off x="7440100" y="8348421"/>
            <a:ext cx="11932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3" name="Line"/>
          <p:cNvSpPr/>
          <p:nvPr/>
        </p:nvSpPr>
        <p:spPr>
          <a:xfrm>
            <a:off x="7440100" y="7958349"/>
            <a:ext cx="11932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4" name="Line"/>
          <p:cNvSpPr/>
          <p:nvPr/>
        </p:nvSpPr>
        <p:spPr>
          <a:xfrm>
            <a:off x="7368347" y="8699576"/>
            <a:ext cx="18164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5" name="Line"/>
          <p:cNvSpPr/>
          <p:nvPr/>
        </p:nvSpPr>
        <p:spPr>
          <a:xfrm>
            <a:off x="7437176" y="4283667"/>
            <a:ext cx="302312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6" name="Line"/>
          <p:cNvSpPr/>
          <p:nvPr/>
        </p:nvSpPr>
        <p:spPr>
          <a:xfrm>
            <a:off x="7440100" y="9050732"/>
            <a:ext cx="89283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87" name="Rectangle Rectangle" descr="Rectangle Rectangle"/>
          <p:cNvPicPr>
            <a:picLocks/>
          </p:cNvPicPr>
          <p:nvPr/>
        </p:nvPicPr>
        <p:blipFill>
          <a:blip r:embed="rId6">
            <a:alphaModFix amt="98696"/>
          </a:blip>
          <a:stretch>
            <a:fillRect/>
          </a:stretch>
        </p:blipFill>
        <p:spPr>
          <a:xfrm>
            <a:off x="6950078" y="11027131"/>
            <a:ext cx="3198732" cy="857882"/>
          </a:xfrm>
          <a:prstGeom prst="rect">
            <a:avLst/>
          </a:prstGeom>
        </p:spPr>
      </p:pic>
      <p:sp>
        <p:nvSpPr>
          <p:cNvPr id="189" name="Line"/>
          <p:cNvSpPr/>
          <p:nvPr/>
        </p:nvSpPr>
        <p:spPr>
          <a:xfrm>
            <a:off x="7221811" y="11977745"/>
            <a:ext cx="275684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0" name="Line"/>
          <p:cNvSpPr/>
          <p:nvPr/>
        </p:nvSpPr>
        <p:spPr>
          <a:xfrm>
            <a:off x="7088669" y="10196955"/>
            <a:ext cx="30231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1" name="Line"/>
          <p:cNvSpPr/>
          <p:nvPr/>
        </p:nvSpPr>
        <p:spPr>
          <a:xfrm>
            <a:off x="7088669" y="10526938"/>
            <a:ext cx="30231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2" name="Line"/>
          <p:cNvSpPr/>
          <p:nvPr/>
        </p:nvSpPr>
        <p:spPr>
          <a:xfrm>
            <a:off x="7088669" y="10889593"/>
            <a:ext cx="37201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95" name="Rectangle Rectangle" descr="Rectangle Rectangle"/>
          <p:cNvPicPr>
            <a:picLocks/>
          </p:cNvPicPr>
          <p:nvPr/>
        </p:nvPicPr>
        <p:blipFill>
          <a:blip r:embed="rId7">
            <a:alphaModFix amt="92155"/>
          </a:blip>
          <a:stretch>
            <a:fillRect/>
          </a:stretch>
        </p:blipFill>
        <p:spPr>
          <a:xfrm>
            <a:off x="12439537" y="2279011"/>
            <a:ext cx="4589264" cy="2218706"/>
          </a:xfrm>
          <a:prstGeom prst="rect">
            <a:avLst/>
          </a:prstGeom>
        </p:spPr>
      </p:pic>
      <p:pic>
        <p:nvPicPr>
          <p:cNvPr id="197" name="Rectangle Rectangle" descr="Rectangle Rectangle"/>
          <p:cNvPicPr>
            <a:picLocks/>
          </p:cNvPicPr>
          <p:nvPr/>
        </p:nvPicPr>
        <p:blipFill>
          <a:blip r:embed="rId8">
            <a:alphaModFix amt="92155"/>
          </a:blip>
          <a:stretch>
            <a:fillRect/>
          </a:stretch>
        </p:blipFill>
        <p:spPr>
          <a:xfrm>
            <a:off x="7412892" y="4351390"/>
            <a:ext cx="3591991" cy="98457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1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4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4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4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5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5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14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754" name="Range in for loops"/>
          <p:cNvSpPr txBox="1"/>
          <p:nvPr/>
        </p:nvSpPr>
        <p:spPr>
          <a:xfrm>
            <a:off x="8776887" y="1446535"/>
            <a:ext cx="4885462" cy="78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600" u="sng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Range in for loops</a:t>
            </a:r>
          </a:p>
        </p:txBody>
      </p:sp>
      <p:sp>
        <p:nvSpPr>
          <p:cNvPr id="755" name="As per documentation, ‘ Range’ represents an immutable sequence of numbers and is…"/>
          <p:cNvSpPr txBox="1"/>
          <p:nvPr/>
        </p:nvSpPr>
        <p:spPr>
          <a:xfrm>
            <a:off x="2246958" y="2300426"/>
            <a:ext cx="19456795" cy="1230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</a:defRPr>
            </a:pPr>
            <a:r>
              <a:t>As per documentation, ‘ Range’ represents an immutable sequence of numbers and is </a:t>
            </a:r>
          </a:p>
          <a:p>
            <a:pPr algn="l">
              <a:defRPr sz="3700" b="1">
                <a:solidFill>
                  <a:srgbClr val="FFFFFF"/>
                </a:solidFill>
              </a:defRPr>
            </a:pPr>
            <a:r>
              <a:t>commonly used  for looping a specific number of times</a:t>
            </a:r>
          </a:p>
        </p:txBody>
      </p:sp>
      <p:sp>
        <p:nvSpPr>
          <p:cNvPr id="756" name="Python ranges  can be used in multiple forms"/>
          <p:cNvSpPr txBox="1"/>
          <p:nvPr/>
        </p:nvSpPr>
        <p:spPr>
          <a:xfrm>
            <a:off x="2244271" y="4215573"/>
            <a:ext cx="10224200" cy="6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Python </a:t>
            </a:r>
            <a:r>
              <a:rPr>
                <a:solidFill>
                  <a:srgbClr val="FFFFFF"/>
                </a:solidFill>
              </a:rPr>
              <a:t>ranges</a:t>
            </a:r>
            <a:r>
              <a:t>  can be used in multiple forms</a:t>
            </a:r>
          </a:p>
        </p:txBody>
      </p:sp>
      <p:sp>
        <p:nvSpPr>
          <p:cNvPr id="757" name="for x in range(11):"/>
          <p:cNvSpPr txBox="1"/>
          <p:nvPr/>
        </p:nvSpPr>
        <p:spPr>
          <a:xfrm>
            <a:off x="10449416" y="5487826"/>
            <a:ext cx="4030448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range(11):  </a:t>
            </a:r>
          </a:p>
        </p:txBody>
      </p:sp>
      <p:sp>
        <p:nvSpPr>
          <p:cNvPr id="758" name="for x in range(4,11):"/>
          <p:cNvSpPr txBox="1"/>
          <p:nvPr/>
        </p:nvSpPr>
        <p:spPr>
          <a:xfrm>
            <a:off x="10489993" y="6857999"/>
            <a:ext cx="4422344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range(4,11):  </a:t>
            </a:r>
          </a:p>
        </p:txBody>
      </p:sp>
      <p:sp>
        <p:nvSpPr>
          <p:cNvPr id="759" name="for x in range(4,11,1):"/>
          <p:cNvSpPr txBox="1"/>
          <p:nvPr/>
        </p:nvSpPr>
        <p:spPr>
          <a:xfrm>
            <a:off x="10478009" y="8234286"/>
            <a:ext cx="4814240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range(4,11,1):  </a:t>
            </a:r>
          </a:p>
        </p:txBody>
      </p:sp>
      <p:sp>
        <p:nvSpPr>
          <p:cNvPr id="760" name="ranges(final)"/>
          <p:cNvSpPr txBox="1"/>
          <p:nvPr/>
        </p:nvSpPr>
        <p:spPr>
          <a:xfrm>
            <a:off x="2609430" y="5553106"/>
            <a:ext cx="2889530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ranges(final)</a:t>
            </a:r>
          </a:p>
        </p:txBody>
      </p:sp>
      <p:sp>
        <p:nvSpPr>
          <p:cNvPr id="761" name="ranges(initial,final)"/>
          <p:cNvSpPr txBox="1"/>
          <p:nvPr/>
        </p:nvSpPr>
        <p:spPr>
          <a:xfrm>
            <a:off x="2601771" y="6851886"/>
            <a:ext cx="421887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ranges(initial,final)</a:t>
            </a:r>
          </a:p>
        </p:txBody>
      </p:sp>
      <p:sp>
        <p:nvSpPr>
          <p:cNvPr id="762" name="ranges(initial,final,step)"/>
          <p:cNvSpPr txBox="1"/>
          <p:nvPr/>
        </p:nvSpPr>
        <p:spPr>
          <a:xfrm>
            <a:off x="2522219" y="8228173"/>
            <a:ext cx="5324082" cy="6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ranges(initial,final,step)</a:t>
            </a:r>
          </a:p>
        </p:txBody>
      </p:sp>
      <p:sp>
        <p:nvSpPr>
          <p:cNvPr id="763" name="for x in range(4,11,2):"/>
          <p:cNvSpPr txBox="1"/>
          <p:nvPr/>
        </p:nvSpPr>
        <p:spPr>
          <a:xfrm>
            <a:off x="10478009" y="9392618"/>
            <a:ext cx="4814240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range(4,11,2):  </a:t>
            </a:r>
          </a:p>
        </p:txBody>
      </p:sp>
      <p:sp>
        <p:nvSpPr>
          <p:cNvPr id="764" name="for x in range(11,1,-2):"/>
          <p:cNvSpPr txBox="1"/>
          <p:nvPr/>
        </p:nvSpPr>
        <p:spPr>
          <a:xfrm>
            <a:off x="10412013" y="10550951"/>
            <a:ext cx="4997032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range(11,1,-2):  </a:t>
            </a:r>
          </a:p>
        </p:txBody>
      </p:sp>
      <p:pic>
        <p:nvPicPr>
          <p:cNvPr id="76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412484" y="9716850"/>
            <a:ext cx="2391122" cy="76201"/>
          </a:xfrm>
          <a:prstGeom prst="rect">
            <a:avLst/>
          </a:prstGeom>
        </p:spPr>
      </p:pic>
      <p:pic>
        <p:nvPicPr>
          <p:cNvPr id="767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8516769"/>
            <a:ext cx="943636" cy="206959"/>
          </a:xfrm>
          <a:prstGeom prst="rect">
            <a:avLst/>
          </a:prstGeom>
        </p:spPr>
      </p:pic>
      <p:pic>
        <p:nvPicPr>
          <p:cNvPr id="769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9653570"/>
            <a:ext cx="943636" cy="206959"/>
          </a:xfrm>
          <a:prstGeom prst="rect">
            <a:avLst/>
          </a:prstGeom>
        </p:spPr>
      </p:pic>
      <p:pic>
        <p:nvPicPr>
          <p:cNvPr id="771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10771093"/>
            <a:ext cx="943636" cy="206959"/>
          </a:xfrm>
          <a:prstGeom prst="rect">
            <a:avLst/>
          </a:prstGeom>
        </p:spPr>
      </p:pic>
      <p:pic>
        <p:nvPicPr>
          <p:cNvPr id="773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847256" y="8596007"/>
            <a:ext cx="1747134" cy="76201"/>
          </a:xfrm>
          <a:prstGeom prst="rect">
            <a:avLst/>
          </a:prstGeom>
        </p:spPr>
      </p:pic>
      <p:pic>
        <p:nvPicPr>
          <p:cNvPr id="775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4864874" y="10181737"/>
            <a:ext cx="1309573" cy="352736"/>
          </a:xfrm>
          <a:prstGeom prst="rect">
            <a:avLst/>
          </a:prstGeom>
        </p:spPr>
      </p:pic>
      <p:sp>
        <p:nvSpPr>
          <p:cNvPr id="777" name="Steps up / down"/>
          <p:cNvSpPr txBox="1"/>
          <p:nvPr/>
        </p:nvSpPr>
        <p:spPr>
          <a:xfrm>
            <a:off x="15937060" y="10040149"/>
            <a:ext cx="3200502" cy="585112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Steps up / down</a:t>
            </a:r>
          </a:p>
        </p:txBody>
      </p:sp>
      <p:sp>
        <p:nvSpPr>
          <p:cNvPr id="3" name="09/12/2022">
            <a:extLst>
              <a:ext uri="{FF2B5EF4-FFF2-40B4-BE49-F238E27FC236}">
                <a16:creationId xmlns:a16="http://schemas.microsoft.com/office/drawing/2014/main" id="{C13CB697-14E8-2C6A-F9A4-357FDCBF9F5C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/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EC8F845C-3A90-E91B-C792-0E4BB26DA855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7F881-EC48-F627-C20A-E66394B2D4FE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9D55F11-DA78-5613-C896-4B574413C857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AE97F3-6A95-BC4A-05A5-3AA334207AE7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68D021-F151-83D2-D264-E5C812782C52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3419967-82F2-9340-8A9C-AF49D6ED66B9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5FAD5CF-F029-DF14-6A6B-8FF337B3A3AB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A3487D-A9E1-33F7-9F2D-8B61F46EF2A0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3B5367-0D9C-D0AA-5B46-5FE9EC9FFC13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8EF782-ECDA-058B-E0BD-90024FBAC411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B5FBCE-2386-E050-EBBC-5FB0EB34CA71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8A546D4-C4BC-A10A-2D31-F585FF8DEF7C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E76D14-D350-DB79-73EC-B49D9231633E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A14748-3643-BB47-5396-CF86B1CB4465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9FD71B-61C6-774C-9625-1DE045921995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7652B79-FEC8-DC06-4DFF-981595BF3923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E0AD43-78CF-29B8-2E31-483149C9320B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BB93120-DF75-0F37-DD1F-44F492711FD2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D6023C-BDC0-F7F6-FBB3-7CAE52C659CC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3C518322-C398-D1A3-B48F-19EEC5EAF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CB6A9A-415E-6D3D-5405-BD80BE0F4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B46DA06-0D00-B456-2FBF-7ADC872152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3D9AD27-4C91-A75E-CE6C-D60540E4CC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BFA073B-4DAF-0E9C-C500-188E719744DF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6DE4BC-CCE0-13F3-60E1-0D8C6CA82DFA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7CEAA67C-89FB-2414-8B3C-1294C8D48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73" y="8096971"/>
            <a:ext cx="20361612" cy="4404644"/>
          </a:xfrm>
          <a:prstGeom prst="rect">
            <a:avLst/>
          </a:prstGeom>
        </p:spPr>
      </p:pic>
      <p:sp>
        <p:nvSpPr>
          <p:cNvPr id="40" name="2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0FE5500A-0443-E376-A69D-19121FCD6C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520" y="3876839"/>
            <a:ext cx="14384422" cy="440464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121D-030F-B98E-E52E-85ADEE15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A81660D8-AA79-E48B-2BD9-544E3F79257A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43DB81B8-1113-5ABA-8906-77724DDC6B70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88C42FB2-6808-2515-BBA1-404E167290DC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DF7C8039-16F1-820B-9600-C1DE1467949D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26F07CDF-D413-8642-3026-B877E473C88F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CBA405D1-13FB-CD7A-AF62-F695585426A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D5B6CAE5-04D5-569F-FF05-59871120E697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D5622950-7FCC-7E8E-134A-E6795FBEAC3D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13A44-CD7C-0879-8CD8-D29FC02E989E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9372AC-ABC7-5400-500B-013A2950F97C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821A7C-9E25-2FE8-9149-7070FFAD345F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491039-D24C-07A3-3028-CB83DAC475AF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AB3A20-5FD0-A7F2-779A-AEDC897DB2B9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E36B834-4C6D-3A7E-B3D8-73AB8C1C965A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5511CA-8422-7637-C129-8EEA5621AC0A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5105EE-FB5F-1748-44BC-248D1051F8F6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4F11C4-1469-5E3A-DF54-A6A2B377788E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81916D9-7845-228F-02CC-D09CD1C9801D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F9243F-8E62-ACB1-1AF2-F0B26FFF14E9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C81CCB-3FE8-222D-3554-6FDE15612A21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EBE3B-F18C-DFEA-E24C-BC4FCC0835B4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9C5A659-BEFC-5A26-4BD2-78F540761B14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7B14429-7CFE-1F55-09C3-127080A8B621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AD9440-8B8C-1E9D-CA76-B8029AE92826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A3C0F4A-8E7B-AC0C-29F6-FF9B330B97FB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3983EB-3194-08C1-2E2E-BD8F45A11AE1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D0C05081-BBF8-F936-8246-44E06264B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6CE7E03-9476-9F07-97EE-43CE9C4AE0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8B86BFB-7E1F-669A-B5AE-F4A2ED628A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7469B7D-9C4C-3376-DA79-3B3F97214F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F7A876E-10A4-002F-CF96-657A6344621D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523961-8D0B-B877-96B1-86C436884727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CDB29BDC-92AA-626A-2D95-25EBDF64E1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8096971"/>
            <a:ext cx="15040087" cy="4404644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D47D1893-3605-DAD0-F17F-8DB553B87823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68287A51-15B6-9F76-FCD5-87D22036AA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520" y="3876839"/>
            <a:ext cx="14384422" cy="440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19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3D84-82F2-8B66-E21C-00C6A74C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4B7434A0-DF79-9E0F-547A-539BE2A5E743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57DA163A-4896-3193-0F72-C94DBE370A00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85ECF263-D613-F516-FB8F-333335DB8275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766CB642-27CC-D3ED-F982-21FEB5F36F7D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0DF68E13-431C-1A90-B865-13EED21790B7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FF0A5D02-870A-36E8-34C5-A0C2F1C806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3EC4C540-2E65-8C59-4EEB-BEB999B43684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7E796274-B8AA-20AA-77C2-DA30DF47F635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E5799-0EA3-3456-85D8-FD954E2FBEF0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446355-7BE7-4958-F5A6-E182CAAD7C64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BE2BA4-5C71-6E1C-57E4-84E779C9DBC1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61A4C2-E63C-C61D-853C-CC53CB1BF2A2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B46EA2-AD76-D121-C437-DE414B64B625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61F9E4D-37E9-F6C0-EFAA-764D1789540B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C66AEC-A724-CB70-D96F-4C43F459CAD0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5EA8F5-9F87-15B7-6565-12D56977CA45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08222B-DE37-427E-6BFD-55A33E854DA7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8F75BB-643E-75A3-68CA-4C37C81FBF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2C3A04-1E18-3ED0-8C18-5C16EBD730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E171D8-BC16-925F-F094-177C5BAB8D79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F09079-9088-7D97-7AC1-46BD8B029322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3574864-1F3F-6736-25AA-0EB50AF89D31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57CD961-F833-CC9D-899A-FDB745FF1A7A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E57630-EF5A-DE32-E897-06C0C63266E1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F58200D-BD26-B77D-B89C-2DE88AC11C60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9E1901-8F25-6B6D-13BE-8D0BF43843FD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58EAE09D-5E08-E77F-BEA6-38367B552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6F22FB7-C803-19D6-A927-F2CA8EBFC5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CCD294-8F5C-23F2-84D0-34295951F9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2AABD98-E941-AF39-4A44-678DFBC55B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91443DF-16E0-41AF-3294-596E9F623C4F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0E2AD4-986F-2ADA-8EEA-BC2802A1875B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2A76EC63-050F-D5B2-4FDC-B6AE3218BF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8096971"/>
            <a:ext cx="15040087" cy="4404644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42C2A528-6271-E534-1152-3B2C3EEEF594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098DF578-AFB3-187F-9F92-4F1FC04787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24" y="3876839"/>
            <a:ext cx="9889018" cy="440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7599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D90AE-BD8D-A2C7-5CB2-7348D56C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16399A9E-A547-DA27-A08F-7355BD7053E5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6C08B635-5F10-1E99-8306-91FF662491E9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FF9D5C7E-DFC7-69F0-9E7E-0D2EC3CCCEC2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F62129FF-9400-34D3-D917-7EA264879C43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CECAE282-57AE-1814-D576-919A0FDC1ED7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C8559AE4-FF1E-5D14-9FBE-DB0C9F59F2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17436FA9-9E43-A096-18DD-03680FEEDC68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9F179F3B-A63D-D283-C728-239A34649C78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6D5F3-F9EF-1BF3-115F-3C8AD4B30FA9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4E854F-1BE0-4CAF-08CC-A1C82E288E14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C53EA3-8E14-70AE-1F9D-6AD3F0993962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6031F6D-E3E5-BC84-D691-56FD1D45D970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7FFF965-5479-775D-B5B2-32042A9DDF24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923F10-EF29-26B2-DC8D-AC73176D7793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F5A00F-77FE-BBFD-3DFC-5AF8B199BEEA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2003B9-28FC-93F6-0E95-D5BB55917CBC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8E0CDB-6872-B031-E730-47495CFCAF26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DEE0A8-4EB3-251F-7507-3A0BD0DA197C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A7FFB7-DF6E-2D74-42DF-AB071B240BAE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66CFF3-4C11-1416-9FFE-ED2E5495D915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B534C6-3F8E-C191-A05E-23E61DFB6058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C72E3F-08C5-BBA5-0516-C52C8B520E32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E940BD-9DD0-13AE-C1D4-8AD7F9058C33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026E9E-B227-1CC7-6C20-D301B1F8AA24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1D74AB8-883A-E70A-CB89-93EB69F57350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8BE561-2DAA-A6DA-5103-BBE7EF892819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E4E199E1-6E73-AC68-EB4B-C6368A0E2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104420-F38A-50DB-61DF-D694116F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0F1143F-E01D-9AFB-A54D-9F5901A09F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E38714B-283B-2C02-3B26-8923C6796B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879BCD3-F7F8-6E8E-69B0-ECC76C85D1FF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84EF81-BA0B-B6DA-95EA-D46A43EB4AC1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7A33EFC6-CD0B-7A93-4DB0-0FBC5FC8A2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928" y="8096971"/>
            <a:ext cx="9535757" cy="4404644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AAB2D49E-49C0-A624-DF7B-3A3325179B18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60BB535B-BEFB-22CB-2BCA-FD01467274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535" y="3876839"/>
            <a:ext cx="10194407" cy="544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8995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ACD9D-980B-698D-B93A-9461F63D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06F1FEC9-0D97-7B5C-C2D7-0F21C5395975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B418C7A9-05EE-2135-1D64-B57F6E585DC0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37196BBD-2F60-FC2D-6CBD-65D02AD4F9C3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31A48B55-B084-1F63-DA0F-B992C14C7379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1EE215C2-8174-9C86-3B91-C1D90332A2B1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6717B38D-19B7-0AD3-F84A-CC312705265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96DE4AC4-0B48-DEE4-B7E6-AF4AA12A617A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4B1A12F3-EEAF-0B46-92E1-ED287F461B1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4B3E1-02B4-0102-780A-2CAC9D22D612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40FF98-5368-ACAA-D5EE-0568FA87D913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E798CC-B972-5DD1-547E-3333630948DE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63D782-5E4A-24FE-6E11-18392A4F6A2F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266F87B-D3E6-8E97-0EB9-3AE8E7E7024D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8D2FB8B-F62E-87F2-A507-3F8C2833F240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DB2C7B-FAF6-A542-501C-D4EBC8F44CFC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E8EB44-E8E1-21DD-188D-CE638663115D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3542F4-6FAE-3F2C-D33F-6D49E59DFF4F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E713BE-AF4C-8543-3CFA-795C8812C5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AA6150A-8517-A330-9E84-0FFF80123268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BC9A0B-8748-5905-A1AC-1E5A6D00D34C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A15C81-EC89-8D47-ADE8-66464D6BC42D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2A3B434-1335-6381-3C06-C4C651625878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7AE873-A09E-F532-8395-769DC390901D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37E39F-0473-02E0-9C08-6A5A4A36837F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4C158BF-C3ED-D843-5C3A-E18D9A4601FA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F89629-EBC4-A384-50D7-C9A967F6E52B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3BC2F289-6813-1895-F0A8-7B9FF7476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21E7743-A939-669C-6AB7-3BA0A456E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4922D5-FBD9-1FC2-863F-CE617DDD8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921C5B2-FAB9-CD24-04D8-8E10B3A5A9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7C03E06-F9B1-ACA1-843F-5F2870FFB021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58F95F-0A12-C164-5E03-D202966703BC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EC1878B5-92A8-9CCB-9615-23035B3426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928" y="8096971"/>
            <a:ext cx="9535757" cy="4404644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927C2D07-6AE7-0800-F6BF-EB51F1804D96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11DBBBBB-8D56-7F1E-9CC9-6DFB1A1267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9043" y="3876839"/>
            <a:ext cx="5138899" cy="5449224"/>
          </a:xfrm>
          <a:prstGeom prst="rect">
            <a:avLst/>
          </a:prstGeom>
        </p:spPr>
      </p:pic>
      <p:pic>
        <p:nvPicPr>
          <p:cNvPr id="8" name="Picture 7" descr="A black rectangular object&#10;&#10;AI-generated content may be incorrect.">
            <a:extLst>
              <a:ext uri="{FF2B5EF4-FFF2-40B4-BE49-F238E27FC236}">
                <a16:creationId xmlns:a16="http://schemas.microsoft.com/office/drawing/2014/main" id="{2866E740-F410-DF2E-49C8-AA543A050B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07" y="8639289"/>
            <a:ext cx="5138899" cy="64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7547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27BF-6E03-BA13-A1E2-72C2133F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A9709E43-63F2-BF7D-959E-B5B2C82053EF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B2227393-E081-A5C4-AE09-ACB8B2EC51C6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2BED9794-2697-4DCF-D210-49BE6801A893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6BD5273C-8C0F-A3B9-7612-26597B11FEAD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3427BB03-6CD1-F73C-FF12-BFA4681A25B3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124E4660-5B80-8456-54AD-6375F6A76A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13E93CDD-A8DB-3091-A870-249F8C7EA39B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96A48D55-DADB-9A8B-9A32-D82FEEB86909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56333-8E7E-6C2D-F5FE-EB7480AAEE14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0A3A80-BBE8-9AB5-DFAC-28BEC2FBD760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23DBF6-2693-B81C-2CFA-966184D46430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DF6858-11E3-3269-EA9A-734F3E2F92B7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0D82D84-4931-AEB0-5CFD-F02E219A9BC5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26CB213-DDB0-73E1-D865-425BE12DD9E3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1EC4A4-B04F-91CF-47E3-25F343AA7594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04FE72-4A04-7EEB-E58F-D2736F489626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439005-154E-67DD-7DA8-F2DFB9D4FA62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B1E3448-987C-533D-C8F4-80005CF7D55F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D3E8EF-7A4B-48DD-B1A1-AB9DD634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3B5BE73-5F13-66CE-1A3F-3DE980DAA06D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644C8D-EF3A-A1B1-24DB-D6B36E5C7C8F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21BF80-99E8-E00A-6DE7-D41FC3F24E73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A8794AB-C738-17A3-3CC4-5F70E57A16D3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905ED7-1FD9-328A-4ABC-AE8432CA7631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A0C5A55-51A4-58F4-C49D-D4809861FB65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6084B2-D615-06EB-1A6F-0B4ADF77DC31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0E668E48-0F34-DC54-A08E-DCC122C9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FCEA77-0B2A-EC89-9A8D-66D7DEFCA8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1D41759-74B8-FE93-D6A1-129B8EE48A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3708FD5-2108-2358-1843-BA9D85A528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699FFF9-6CA6-104E-7803-8D97C4F92686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117D88-8C63-A092-38E2-B4CB803B23D3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DE18796B-4DB9-D91C-7A2C-580C472362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184" y="9613583"/>
            <a:ext cx="6074501" cy="2888032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785CECF6-E66B-F262-3560-521F4BE28F5A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41" name="Picture 40" descr="A black rectangular object&#10;&#10;AI-generated content may be incorrect.">
            <a:extLst>
              <a:ext uri="{FF2B5EF4-FFF2-40B4-BE49-F238E27FC236}">
                <a16:creationId xmlns:a16="http://schemas.microsoft.com/office/drawing/2014/main" id="{33194275-E45B-96A7-4197-BC725FE450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703" y="3876839"/>
            <a:ext cx="3592239" cy="544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9646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842A8-B40A-8A79-FDA2-DDF935ED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A576AFF4-57AC-4B9D-E9C3-7508C0D38646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7BA1BA21-996A-0380-A257-1E46EB499753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4D2C19BD-8848-D7AC-A7B7-A2CFB266D287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5A5CC990-6008-ECD4-BC2B-EB2F3EC2EADD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C4C07ADF-863A-570B-DC66-BE48CB5E8228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C7B99374-2434-58D0-297F-D80AC4B2B9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68462551-4583-933F-FE72-FF48754CA752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1046F791-121A-965F-40D6-77EB09764462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0B6FD-A1DF-83A1-5594-8706EB3EA67D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0430B-9FBF-9F26-0069-1E593921BF64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19E5A1C-FE3D-7549-635A-E8E9A45B263F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7FED1E-22B5-9971-8E8C-54027B6100A0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E9943E2-206D-7D7A-3958-41CB68F94C0F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3B61A3A-9B6E-0679-0A76-3CCE9430EAEC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417CA1-8256-9681-2345-DA711DB89506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CFDB34-3B95-3F06-3D5B-AB1F1A8E6B01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A45C53-66A7-02F8-C0D8-9506EFCFB065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C246287-79C6-631A-E202-325954A0E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3046CF9-E8DA-9164-1318-E6E02F267323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FE8C26-4E84-C51B-204C-97C5B9DE77DE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2FF807-D9A3-888E-4225-0EFBD7591E0E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FEFEE83-9AFD-BAF6-6421-EB21EB6D42BF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551E2E2-AB93-EBB2-9AC1-18BFA750DCFB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D61E4E-2F6B-4466-CC18-C8885C9E8CA4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3259CAD-4220-6550-C3F4-EF08DFBF330A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0514B0-236C-DD87-1987-222B0FA1E84A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9ACBEA20-0CAB-DAF8-239D-27B3A8255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42A576-C66A-924A-57B6-4C14553FF7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6AB31FA-3DAD-8E68-9A10-96D3C11FC5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4EB12EA-C6AF-E40C-5055-1F27969123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3D1515F-C9AF-91D9-86E8-508C1BF76AC7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E571DB-6AD6-A3ED-C730-3D2114E120F6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9" name="Picture 38" descr="A black rectangular object&#10;&#10;AI-generated content may be incorrect.">
            <a:extLst>
              <a:ext uri="{FF2B5EF4-FFF2-40B4-BE49-F238E27FC236}">
                <a16:creationId xmlns:a16="http://schemas.microsoft.com/office/drawing/2014/main" id="{62573D40-47E7-6436-DB55-1184DCFFA9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184" y="9613583"/>
            <a:ext cx="6074501" cy="2888032"/>
          </a:xfrm>
          <a:prstGeom prst="rect">
            <a:avLst/>
          </a:prstGeom>
        </p:spPr>
      </p:pic>
      <p:sp>
        <p:nvSpPr>
          <p:cNvPr id="40" name="2">
            <a:extLst>
              <a:ext uri="{FF2B5EF4-FFF2-40B4-BE49-F238E27FC236}">
                <a16:creationId xmlns:a16="http://schemas.microsoft.com/office/drawing/2014/main" id="{5FD492D2-F6AF-2DD8-D134-FC59387663AB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891147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C07A-940B-5097-80EA-7A00395C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">
            <a:extLst>
              <a:ext uri="{FF2B5EF4-FFF2-40B4-BE49-F238E27FC236}">
                <a16:creationId xmlns:a16="http://schemas.microsoft.com/office/drawing/2014/main" id="{5F752923-13CD-C22F-F2F4-C7455C447D92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00" name="8">
              <a:extLst>
                <a:ext uri="{FF2B5EF4-FFF2-40B4-BE49-F238E27FC236}">
                  <a16:creationId xmlns:a16="http://schemas.microsoft.com/office/drawing/2014/main" id="{2F08D210-BAE9-A3E2-3BE9-F084CED9BFC9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01" name="Shape">
              <a:extLst>
                <a:ext uri="{FF2B5EF4-FFF2-40B4-BE49-F238E27FC236}">
                  <a16:creationId xmlns:a16="http://schemas.microsoft.com/office/drawing/2014/main" id="{04D7B213-A68A-2865-0FAA-D1904392D3D6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3" name="S. Sharma, UJ">
            <a:extLst>
              <a:ext uri="{FF2B5EF4-FFF2-40B4-BE49-F238E27FC236}">
                <a16:creationId xmlns:a16="http://schemas.microsoft.com/office/drawing/2014/main" id="{D57A3E46-B429-2938-1643-F70E66ADA0AC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04" name="Python for beginners">
            <a:extLst>
              <a:ext uri="{FF2B5EF4-FFF2-40B4-BE49-F238E27FC236}">
                <a16:creationId xmlns:a16="http://schemas.microsoft.com/office/drawing/2014/main" id="{B66F8484-791D-8512-68FA-F1E8D7C2952D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05" name="Picture 3" descr="Picture 3">
            <a:extLst>
              <a:ext uri="{FF2B5EF4-FFF2-40B4-BE49-F238E27FC236}">
                <a16:creationId xmlns:a16="http://schemas.microsoft.com/office/drawing/2014/main" id="{CF22B10A-1EA0-0C46-852D-00C0C36C5F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Nested…">
            <a:extLst>
              <a:ext uri="{FF2B5EF4-FFF2-40B4-BE49-F238E27FC236}">
                <a16:creationId xmlns:a16="http://schemas.microsoft.com/office/drawing/2014/main" id="{7FF95465-67FB-1FBE-BFB1-527B99F5A184}"/>
              </a:ext>
            </a:extLst>
          </p:cNvPr>
          <p:cNvSpPr txBox="1"/>
          <p:nvPr/>
        </p:nvSpPr>
        <p:spPr>
          <a:xfrm>
            <a:off x="2357695" y="1448406"/>
            <a:ext cx="3591992" cy="1456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u="sng" dirty="0"/>
              <a:t>Nested</a:t>
            </a:r>
            <a:r>
              <a:rPr dirty="0"/>
              <a:t> 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rPr dirty="0"/>
              <a:t>            </a:t>
            </a:r>
            <a:r>
              <a:rPr u="sng" dirty="0"/>
              <a:t>FOR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3267A563-135D-876F-FACA-EE8F78A796F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E5679-3F0C-ECDB-6E53-5C1A2CA38D09}"/>
              </a:ext>
            </a:extLst>
          </p:cNvPr>
          <p:cNvSpPr txBox="1"/>
          <p:nvPr/>
        </p:nvSpPr>
        <p:spPr>
          <a:xfrm>
            <a:off x="7117955" y="1598101"/>
            <a:ext cx="1332157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solidFill>
                  <a:schemeClr val="bg1"/>
                </a:solidFill>
              </a:rPr>
              <a:t>P</a:t>
            </a: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atters using FOR loop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B94F02-464D-945D-90E6-576E0AD7054D}"/>
              </a:ext>
            </a:extLst>
          </p:cNvPr>
          <p:cNvGrpSpPr/>
          <p:nvPr/>
        </p:nvGrpSpPr>
        <p:grpSpPr>
          <a:xfrm>
            <a:off x="806826" y="3816281"/>
            <a:ext cx="6920753" cy="3913139"/>
            <a:chOff x="1075766" y="3816281"/>
            <a:chExt cx="6920753" cy="3913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9B092B-2403-9D9E-A222-88FB6FF62EC5}"/>
                </a:ext>
              </a:extLst>
            </p:cNvPr>
            <p:cNvSpPr txBox="1"/>
            <p:nvPr/>
          </p:nvSpPr>
          <p:spPr>
            <a:xfrm>
              <a:off x="3245226" y="4549062"/>
              <a:ext cx="2163787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  </a:t>
              </a:r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 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31B004-E521-DC63-387A-A43AA9BB90F9}"/>
                </a:ext>
              </a:extLst>
            </p:cNvPr>
            <p:cNvSpPr txBox="1"/>
            <p:nvPr/>
          </p:nvSpPr>
          <p:spPr>
            <a:xfrm>
              <a:off x="1075766" y="3816281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6912B3-0FA8-9B63-9657-02CEBCECC68A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4751294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5029BBE-72D2-35CA-948D-36C72273D3CC}"/>
                </a:ext>
              </a:extLst>
            </p:cNvPr>
            <p:cNvCxnSpPr>
              <a:cxnSpLocks/>
            </p:cNvCxnSpPr>
            <p:nvPr/>
          </p:nvCxnSpPr>
          <p:spPr>
            <a:xfrm>
              <a:off x="3711388" y="7588215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2A5100-0252-0FB6-905F-0904A796E2DC}"/>
              </a:ext>
            </a:extLst>
          </p:cNvPr>
          <p:cNvGrpSpPr/>
          <p:nvPr/>
        </p:nvGrpSpPr>
        <p:grpSpPr>
          <a:xfrm>
            <a:off x="6302190" y="3938257"/>
            <a:ext cx="6920753" cy="3791163"/>
            <a:chOff x="7664824" y="3938257"/>
            <a:chExt cx="6920753" cy="37911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BE483B-BE3E-F057-16E7-E824426AA94A}"/>
                </a:ext>
              </a:extLst>
            </p:cNvPr>
            <p:cNvSpPr txBox="1"/>
            <p:nvPr/>
          </p:nvSpPr>
          <p:spPr>
            <a:xfrm>
              <a:off x="7664824" y="3938257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E550E6-684E-7FA3-C372-B22AE932A0F3}"/>
                </a:ext>
              </a:extLst>
            </p:cNvPr>
            <p:cNvSpPr txBox="1"/>
            <p:nvPr/>
          </p:nvSpPr>
          <p:spPr>
            <a:xfrm>
              <a:off x="9936535" y="4549062"/>
              <a:ext cx="2163788" cy="31803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****</a:t>
              </a:r>
              <a:br>
                <a:rPr lang="en-US" sz="4000" dirty="0">
                  <a:solidFill>
                    <a:schemeClr val="bg1"/>
                  </a:solidFill>
                </a:rPr>
              </a:br>
              <a:r>
                <a:rPr lang="en-US" sz="4000" dirty="0">
                  <a:solidFill>
                    <a:schemeClr val="bg1"/>
                  </a:solidFill>
                </a:rPr>
                <a:t>      *****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8C69F6-FE5D-7FB1-D027-B0195AA6B552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474233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50F9320-8113-2A00-9E83-6D94EF6EB1D9}"/>
                </a:ext>
              </a:extLst>
            </p:cNvPr>
            <p:cNvCxnSpPr>
              <a:cxnSpLocks/>
            </p:cNvCxnSpPr>
            <p:nvPr/>
          </p:nvCxnSpPr>
          <p:spPr>
            <a:xfrm>
              <a:off x="10712824" y="757925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14346-8CE8-D547-4BEC-05BC3F4E3AA4}"/>
              </a:ext>
            </a:extLst>
          </p:cNvPr>
          <p:cNvGrpSpPr/>
          <p:nvPr/>
        </p:nvGrpSpPr>
        <p:grpSpPr>
          <a:xfrm>
            <a:off x="12018605" y="3938256"/>
            <a:ext cx="6920753" cy="4160496"/>
            <a:chOff x="10153953" y="3938256"/>
            <a:chExt cx="6920753" cy="41604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685719-12C0-9961-B68A-D55A19D83F4F}"/>
                </a:ext>
              </a:extLst>
            </p:cNvPr>
            <p:cNvSpPr txBox="1"/>
            <p:nvPr/>
          </p:nvSpPr>
          <p:spPr>
            <a:xfrm>
              <a:off x="10153953" y="3938256"/>
              <a:ext cx="692075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Pattern 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BBB6C8-160C-E75C-1E1B-2D9BC8FE3386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4719512"/>
              <a:ext cx="0" cy="2814918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5F9D95-A7E3-61F1-82D1-83467938DC10}"/>
                </a:ext>
              </a:extLst>
            </p:cNvPr>
            <p:cNvCxnSpPr>
              <a:cxnSpLocks/>
            </p:cNvCxnSpPr>
            <p:nvPr/>
          </p:nvCxnSpPr>
          <p:spPr>
            <a:xfrm>
              <a:off x="13088294" y="7556433"/>
              <a:ext cx="1697625" cy="0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EF818D-9DDA-5A32-687C-9EA80F54E00E}"/>
                </a:ext>
              </a:extLst>
            </p:cNvPr>
            <p:cNvSpPr txBox="1"/>
            <p:nvPr/>
          </p:nvSpPr>
          <p:spPr>
            <a:xfrm>
              <a:off x="13277883" y="4549062"/>
              <a:ext cx="2187386" cy="3549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**</a:t>
              </a:r>
            </a:p>
            <a:p>
              <a:pPr algn="l"/>
              <a:r>
                <a:rPr lang="en-US" sz="4000" dirty="0">
                  <a:solidFill>
                    <a:schemeClr val="bg1"/>
                  </a:solidFill>
                </a:rPr>
                <a:t>*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844DA8B-94A7-38FD-6D67-588110844A22}"/>
              </a:ext>
            </a:extLst>
          </p:cNvPr>
          <p:cNvSpPr txBox="1"/>
          <p:nvPr/>
        </p:nvSpPr>
        <p:spPr>
          <a:xfrm>
            <a:off x="16318255" y="4015583"/>
            <a:ext cx="692075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Pattern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456D6-D072-59EF-ACC7-136F47FD814E}"/>
              </a:ext>
            </a:extLst>
          </p:cNvPr>
          <p:cNvSpPr txBox="1"/>
          <p:nvPr/>
        </p:nvSpPr>
        <p:spPr>
          <a:xfrm>
            <a:off x="19121156" y="4348624"/>
            <a:ext cx="4333008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1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1 2 3 4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8" name="Picture 27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86A6FD7C-8AE1-04C7-19F6-1ADC5D27C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78" y="8975145"/>
            <a:ext cx="5144493" cy="26005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583E26C-E45A-1392-1F1A-A8A15AB3B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98" y="10008667"/>
            <a:ext cx="5416003" cy="4948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F35D4F6-A104-A9B2-9104-CE0255B608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15" y="8711002"/>
            <a:ext cx="6163332" cy="528286"/>
          </a:xfrm>
          <a:prstGeom prst="rect">
            <a:avLst/>
          </a:prstGeom>
        </p:spPr>
      </p:pic>
      <p:pic>
        <p:nvPicPr>
          <p:cNvPr id="35" name="Picture 3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CCF9946-969F-CA67-5D73-AF3E03E019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504" y="9613583"/>
            <a:ext cx="5676385" cy="260051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BF02111-B01F-8C8F-5A57-2C9635C39CA3}"/>
              </a:ext>
            </a:extLst>
          </p:cNvPr>
          <p:cNvSpPr/>
          <p:nvPr/>
        </p:nvSpPr>
        <p:spPr>
          <a:xfrm>
            <a:off x="20206441" y="10472622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718EC4-CF86-6C60-E4A6-870FBE9090C1}"/>
              </a:ext>
            </a:extLst>
          </p:cNvPr>
          <p:cNvSpPr/>
          <p:nvPr/>
        </p:nvSpPr>
        <p:spPr>
          <a:xfrm>
            <a:off x="18583828" y="11091188"/>
            <a:ext cx="645459" cy="697399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2">
            <a:extLst>
              <a:ext uri="{FF2B5EF4-FFF2-40B4-BE49-F238E27FC236}">
                <a16:creationId xmlns:a16="http://schemas.microsoft.com/office/drawing/2014/main" id="{EF413CCD-499F-4FE0-5971-14A58FD811A8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941738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3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4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4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4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4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3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48" name="Nested loop (Hands-On)"/>
          <p:cNvSpPr txBox="1"/>
          <p:nvPr/>
        </p:nvSpPr>
        <p:spPr>
          <a:xfrm>
            <a:off x="8403988" y="1202933"/>
            <a:ext cx="739267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Nested loop (Hands-On)</a:t>
            </a:r>
          </a:p>
        </p:txBody>
      </p:sp>
      <p:pic>
        <p:nvPicPr>
          <p:cNvPr id="249" name="Screen Shot 2022-12-04 at 3.04.56 PM.png" descr="Screen Shot 2022-12-04 at 3.04.56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4957" y="2919244"/>
            <a:ext cx="8674463" cy="875261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Line"/>
          <p:cNvSpPr/>
          <p:nvPr/>
        </p:nvSpPr>
        <p:spPr>
          <a:xfrm>
            <a:off x="13244084" y="3658959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2" name="Line"/>
          <p:cNvSpPr/>
          <p:nvPr/>
        </p:nvSpPr>
        <p:spPr>
          <a:xfrm>
            <a:off x="13244084" y="4578889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3" name="Line"/>
          <p:cNvSpPr/>
          <p:nvPr/>
        </p:nvSpPr>
        <p:spPr>
          <a:xfrm>
            <a:off x="13244084" y="537140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4" name="Line"/>
          <p:cNvSpPr/>
          <p:nvPr/>
        </p:nvSpPr>
        <p:spPr>
          <a:xfrm>
            <a:off x="13244084" y="629133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5" name="Line"/>
          <p:cNvSpPr/>
          <p:nvPr/>
        </p:nvSpPr>
        <p:spPr>
          <a:xfrm>
            <a:off x="13244084" y="721126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6" name="Line"/>
          <p:cNvSpPr/>
          <p:nvPr/>
        </p:nvSpPr>
        <p:spPr>
          <a:xfrm>
            <a:off x="13244084" y="813119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7" name="Line"/>
          <p:cNvSpPr/>
          <p:nvPr/>
        </p:nvSpPr>
        <p:spPr>
          <a:xfrm>
            <a:off x="13404826" y="905112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8" name="Line"/>
          <p:cNvSpPr/>
          <p:nvPr/>
        </p:nvSpPr>
        <p:spPr>
          <a:xfrm>
            <a:off x="13404826" y="997105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9" name="Line"/>
          <p:cNvSpPr/>
          <p:nvPr/>
        </p:nvSpPr>
        <p:spPr>
          <a:xfrm>
            <a:off x="13404826" y="1079705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1" name="Rectangle"/>
          <p:cNvSpPr/>
          <p:nvPr/>
        </p:nvSpPr>
        <p:spPr>
          <a:xfrm>
            <a:off x="17152249" y="3005610"/>
            <a:ext cx="4293771" cy="8483596"/>
          </a:xfrm>
          <a:prstGeom prst="rect">
            <a:avLst/>
          </a:prstGeom>
          <a:solidFill>
            <a:srgbClr val="60D937">
              <a:alpha val="4249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A20DA82D-8B72-1E57-3505-E1B12A5143D7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727E28DA-E873-07FB-F78D-57A63083EC7D}"/>
              </a:ext>
            </a:extLst>
          </p:cNvPr>
          <p:cNvSpPr/>
          <p:nvPr/>
        </p:nvSpPr>
        <p:spPr>
          <a:xfrm>
            <a:off x="12989164" y="3023959"/>
            <a:ext cx="4082239" cy="8483596"/>
          </a:xfrm>
          <a:prstGeom prst="rect">
            <a:avLst/>
          </a:prstGeom>
          <a:solidFill>
            <a:schemeClr val="accent1">
              <a:lumMod val="40000"/>
              <a:lumOff val="60000"/>
              <a:alpha val="6425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7FE4-7B54-0E73-2BC1-C9AEE104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">
            <a:extLst>
              <a:ext uri="{FF2B5EF4-FFF2-40B4-BE49-F238E27FC236}">
                <a16:creationId xmlns:a16="http://schemas.microsoft.com/office/drawing/2014/main" id="{3D1C6A8B-4ACC-ED1D-5691-86E4F4619993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39" name="8">
              <a:extLst>
                <a:ext uri="{FF2B5EF4-FFF2-40B4-BE49-F238E27FC236}">
                  <a16:creationId xmlns:a16="http://schemas.microsoft.com/office/drawing/2014/main" id="{8EF55EEC-7D0C-2BC1-5E0F-9E217053AF02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40" name="Shape">
              <a:extLst>
                <a:ext uri="{FF2B5EF4-FFF2-40B4-BE49-F238E27FC236}">
                  <a16:creationId xmlns:a16="http://schemas.microsoft.com/office/drawing/2014/main" id="{579688BF-51F9-D279-57E6-7C6BAFF165A1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42" name="S. Sharma, UJ">
            <a:extLst>
              <a:ext uri="{FF2B5EF4-FFF2-40B4-BE49-F238E27FC236}">
                <a16:creationId xmlns:a16="http://schemas.microsoft.com/office/drawing/2014/main" id="{3D0EE6EB-A293-67DB-B0C4-3E66512C60A2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43" name="Python for beginners">
            <a:extLst>
              <a:ext uri="{FF2B5EF4-FFF2-40B4-BE49-F238E27FC236}">
                <a16:creationId xmlns:a16="http://schemas.microsoft.com/office/drawing/2014/main" id="{9E94B4C7-255C-0A6E-BEAC-8DB04264ABE2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44" name="Picture 3" descr="Picture 3">
            <a:extLst>
              <a:ext uri="{FF2B5EF4-FFF2-40B4-BE49-F238E27FC236}">
                <a16:creationId xmlns:a16="http://schemas.microsoft.com/office/drawing/2014/main" id="{AC429925-4335-4352-F643-B0E2B3842A7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3">
            <a:extLst>
              <a:ext uri="{FF2B5EF4-FFF2-40B4-BE49-F238E27FC236}">
                <a16:creationId xmlns:a16="http://schemas.microsoft.com/office/drawing/2014/main" id="{0564B82F-70DB-AF9E-15FC-616E757393FA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47" name="for loop in range(1,11):…">
            <a:extLst>
              <a:ext uri="{FF2B5EF4-FFF2-40B4-BE49-F238E27FC236}">
                <a16:creationId xmlns:a16="http://schemas.microsoft.com/office/drawing/2014/main" id="{A29D812C-869F-DBEA-1AAB-4EFACDF2D3DD}"/>
              </a:ext>
            </a:extLst>
          </p:cNvPr>
          <p:cNvSpPr txBox="1"/>
          <p:nvPr/>
        </p:nvSpPr>
        <p:spPr>
          <a:xfrm>
            <a:off x="2598709" y="2656779"/>
            <a:ext cx="8132034" cy="927754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for loop in range(1,11):                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for space in range(1</a:t>
            </a:r>
            <a:r>
              <a:rPr lang="en-US" dirty="0"/>
              <a:t>0</a:t>
            </a:r>
            <a:r>
              <a:rPr dirty="0"/>
              <a:t>-loop):        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    print(" ", end = " ")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for numbers in range(1,loop):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    print(</a:t>
            </a:r>
            <a:r>
              <a:rPr dirty="0" err="1"/>
              <a:t>numbers,end</a:t>
            </a:r>
            <a:r>
              <a:rPr dirty="0"/>
              <a:t>=" ")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for numbers in range(loop,0,-1):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    print(</a:t>
            </a:r>
            <a:r>
              <a:rPr dirty="0" err="1"/>
              <a:t>numbers,end</a:t>
            </a:r>
            <a:r>
              <a:rPr dirty="0"/>
              <a:t>=" ")</a:t>
            </a:r>
          </a:p>
          <a:p>
            <a:pPr algn="l" defTabSz="825500">
              <a:lnSpc>
                <a:spcPct val="200000"/>
              </a:lnSpc>
              <a:defRPr sz="3800" b="1">
                <a:solidFill>
                  <a:srgbClr val="000000"/>
                </a:solidFill>
              </a:defRPr>
            </a:pPr>
            <a:r>
              <a:rPr dirty="0"/>
              <a:t>    print("\n")</a:t>
            </a:r>
            <a:endParaRPr lang="en-US" dirty="0"/>
          </a:p>
        </p:txBody>
      </p:sp>
      <p:sp>
        <p:nvSpPr>
          <p:cNvPr id="248" name="Nested loop (Hands-On)">
            <a:extLst>
              <a:ext uri="{FF2B5EF4-FFF2-40B4-BE49-F238E27FC236}">
                <a16:creationId xmlns:a16="http://schemas.microsoft.com/office/drawing/2014/main" id="{070990D9-8D25-16EF-1672-9863E9A94A0D}"/>
              </a:ext>
            </a:extLst>
          </p:cNvPr>
          <p:cNvSpPr txBox="1"/>
          <p:nvPr/>
        </p:nvSpPr>
        <p:spPr>
          <a:xfrm>
            <a:off x="8403988" y="1202933"/>
            <a:ext cx="739267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Nested loop (Hands-On)</a:t>
            </a:r>
          </a:p>
        </p:txBody>
      </p:sp>
      <p:pic>
        <p:nvPicPr>
          <p:cNvPr id="249" name="Screen Shot 2022-12-04 at 3.04.56 PM.png" descr="Screen Shot 2022-12-04 at 3.04.56 PM.png">
            <a:extLst>
              <a:ext uri="{FF2B5EF4-FFF2-40B4-BE49-F238E27FC236}">
                <a16:creationId xmlns:a16="http://schemas.microsoft.com/office/drawing/2014/main" id="{FE3B8030-0E39-14A4-2EDF-4AFD0495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9164" y="2919244"/>
            <a:ext cx="8650256" cy="875261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Line">
            <a:extLst>
              <a:ext uri="{FF2B5EF4-FFF2-40B4-BE49-F238E27FC236}">
                <a16:creationId xmlns:a16="http://schemas.microsoft.com/office/drawing/2014/main" id="{3319F8FB-5E56-C475-C5AF-5A4113A3FA6D}"/>
              </a:ext>
            </a:extLst>
          </p:cNvPr>
          <p:cNvSpPr/>
          <p:nvPr/>
        </p:nvSpPr>
        <p:spPr>
          <a:xfrm>
            <a:off x="13244084" y="3658959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2" name="Line">
            <a:extLst>
              <a:ext uri="{FF2B5EF4-FFF2-40B4-BE49-F238E27FC236}">
                <a16:creationId xmlns:a16="http://schemas.microsoft.com/office/drawing/2014/main" id="{5A6A0346-9F18-DAED-E88A-30D50E218896}"/>
              </a:ext>
            </a:extLst>
          </p:cNvPr>
          <p:cNvSpPr/>
          <p:nvPr/>
        </p:nvSpPr>
        <p:spPr>
          <a:xfrm>
            <a:off x="13244084" y="4578889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3" name="Line">
            <a:extLst>
              <a:ext uri="{FF2B5EF4-FFF2-40B4-BE49-F238E27FC236}">
                <a16:creationId xmlns:a16="http://schemas.microsoft.com/office/drawing/2014/main" id="{77504328-DC6C-6A86-F134-95A0841AA6B7}"/>
              </a:ext>
            </a:extLst>
          </p:cNvPr>
          <p:cNvSpPr/>
          <p:nvPr/>
        </p:nvSpPr>
        <p:spPr>
          <a:xfrm>
            <a:off x="13244084" y="537140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4" name="Line">
            <a:extLst>
              <a:ext uri="{FF2B5EF4-FFF2-40B4-BE49-F238E27FC236}">
                <a16:creationId xmlns:a16="http://schemas.microsoft.com/office/drawing/2014/main" id="{1113B39F-1762-9BCB-05CE-A0D8A2E5A676}"/>
              </a:ext>
            </a:extLst>
          </p:cNvPr>
          <p:cNvSpPr/>
          <p:nvPr/>
        </p:nvSpPr>
        <p:spPr>
          <a:xfrm>
            <a:off x="13244084" y="629133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5" name="Line">
            <a:extLst>
              <a:ext uri="{FF2B5EF4-FFF2-40B4-BE49-F238E27FC236}">
                <a16:creationId xmlns:a16="http://schemas.microsoft.com/office/drawing/2014/main" id="{70B96371-458D-48A0-ADC0-1C399F4FC35A}"/>
              </a:ext>
            </a:extLst>
          </p:cNvPr>
          <p:cNvSpPr/>
          <p:nvPr/>
        </p:nvSpPr>
        <p:spPr>
          <a:xfrm>
            <a:off x="13244084" y="721126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6" name="Line">
            <a:extLst>
              <a:ext uri="{FF2B5EF4-FFF2-40B4-BE49-F238E27FC236}">
                <a16:creationId xmlns:a16="http://schemas.microsoft.com/office/drawing/2014/main" id="{079F1A91-D72F-9743-7055-5B8F212C57A5}"/>
              </a:ext>
            </a:extLst>
          </p:cNvPr>
          <p:cNvSpPr/>
          <p:nvPr/>
        </p:nvSpPr>
        <p:spPr>
          <a:xfrm>
            <a:off x="13244084" y="813119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7" name="Line">
            <a:extLst>
              <a:ext uri="{FF2B5EF4-FFF2-40B4-BE49-F238E27FC236}">
                <a16:creationId xmlns:a16="http://schemas.microsoft.com/office/drawing/2014/main" id="{A417C10F-E0B4-43A5-E25C-EC60195B65F7}"/>
              </a:ext>
            </a:extLst>
          </p:cNvPr>
          <p:cNvSpPr/>
          <p:nvPr/>
        </p:nvSpPr>
        <p:spPr>
          <a:xfrm>
            <a:off x="13404826" y="905112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8" name="Line">
            <a:extLst>
              <a:ext uri="{FF2B5EF4-FFF2-40B4-BE49-F238E27FC236}">
                <a16:creationId xmlns:a16="http://schemas.microsoft.com/office/drawing/2014/main" id="{F752235D-B765-0DE4-409A-D05F2592C409}"/>
              </a:ext>
            </a:extLst>
          </p:cNvPr>
          <p:cNvSpPr/>
          <p:nvPr/>
        </p:nvSpPr>
        <p:spPr>
          <a:xfrm>
            <a:off x="13404826" y="997105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9" name="Line">
            <a:extLst>
              <a:ext uri="{FF2B5EF4-FFF2-40B4-BE49-F238E27FC236}">
                <a16:creationId xmlns:a16="http://schemas.microsoft.com/office/drawing/2014/main" id="{DCEEC9F9-38AD-9D9F-EF6D-04D1ED426176}"/>
              </a:ext>
            </a:extLst>
          </p:cNvPr>
          <p:cNvSpPr/>
          <p:nvPr/>
        </p:nvSpPr>
        <p:spPr>
          <a:xfrm>
            <a:off x="13404826" y="10797054"/>
            <a:ext cx="811620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4D5125-2C05-07AB-45AB-9E2890096DE4}"/>
              </a:ext>
            </a:extLst>
          </p:cNvPr>
          <p:cNvGrpSpPr/>
          <p:nvPr/>
        </p:nvGrpSpPr>
        <p:grpSpPr>
          <a:xfrm>
            <a:off x="12446415" y="3045366"/>
            <a:ext cx="453238" cy="8483596"/>
            <a:chOff x="11929587" y="3005610"/>
            <a:chExt cx="453238" cy="8483596"/>
          </a:xfrm>
        </p:grpSpPr>
        <p:sp>
          <p:nvSpPr>
            <p:cNvPr id="250" name="Rectangle">
              <a:extLst>
                <a:ext uri="{FF2B5EF4-FFF2-40B4-BE49-F238E27FC236}">
                  <a16:creationId xmlns:a16="http://schemas.microsoft.com/office/drawing/2014/main" id="{2FB22CEE-0FF1-79B2-FA09-9D8976EA2087}"/>
                </a:ext>
              </a:extLst>
            </p:cNvPr>
            <p:cNvSpPr/>
            <p:nvPr/>
          </p:nvSpPr>
          <p:spPr>
            <a:xfrm>
              <a:off x="11938134" y="3005610"/>
              <a:ext cx="436146" cy="8483596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D9BDE21-E212-AA34-491B-ABA131E55C86}"/>
                </a:ext>
              </a:extLst>
            </p:cNvPr>
            <p:cNvGrpSpPr/>
            <p:nvPr/>
          </p:nvGrpSpPr>
          <p:grpSpPr>
            <a:xfrm>
              <a:off x="11929587" y="3082878"/>
              <a:ext cx="453238" cy="8256772"/>
              <a:chOff x="13201797" y="3082878"/>
              <a:chExt cx="453238" cy="8256772"/>
            </a:xfrm>
          </p:grpSpPr>
          <p:sp>
            <p:nvSpPr>
              <p:cNvPr id="260" name="1">
                <a:extLst>
                  <a:ext uri="{FF2B5EF4-FFF2-40B4-BE49-F238E27FC236}">
                    <a16:creationId xmlns:a16="http://schemas.microsoft.com/office/drawing/2014/main" id="{1214CA0D-9673-A978-1D2E-2683379459CA}"/>
                  </a:ext>
                </a:extLst>
              </p:cNvPr>
              <p:cNvSpPr txBox="1"/>
              <p:nvPr/>
            </p:nvSpPr>
            <p:spPr>
              <a:xfrm>
                <a:off x="13286531" y="3082878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  <p:sp>
            <p:nvSpPr>
              <p:cNvPr id="261" name="2">
                <a:extLst>
                  <a:ext uri="{FF2B5EF4-FFF2-40B4-BE49-F238E27FC236}">
                    <a16:creationId xmlns:a16="http://schemas.microsoft.com/office/drawing/2014/main" id="{18541C5E-1AB7-BB59-4E9B-B4F1234AC67E}"/>
                  </a:ext>
                </a:extLst>
              </p:cNvPr>
              <p:cNvSpPr txBox="1"/>
              <p:nvPr/>
            </p:nvSpPr>
            <p:spPr>
              <a:xfrm>
                <a:off x="13286531" y="3824533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  <p:sp>
            <p:nvSpPr>
              <p:cNvPr id="262" name="3">
                <a:extLst>
                  <a:ext uri="{FF2B5EF4-FFF2-40B4-BE49-F238E27FC236}">
                    <a16:creationId xmlns:a16="http://schemas.microsoft.com/office/drawing/2014/main" id="{B2EF5952-5FB3-AA07-EFEC-B623736BFE0F}"/>
                  </a:ext>
                </a:extLst>
              </p:cNvPr>
              <p:cNvSpPr txBox="1"/>
              <p:nvPr/>
            </p:nvSpPr>
            <p:spPr>
              <a:xfrm>
                <a:off x="13286531" y="4680756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  <p:sp>
            <p:nvSpPr>
              <p:cNvPr id="263" name="4">
                <a:extLst>
                  <a:ext uri="{FF2B5EF4-FFF2-40B4-BE49-F238E27FC236}">
                    <a16:creationId xmlns:a16="http://schemas.microsoft.com/office/drawing/2014/main" id="{D7C433FF-5231-E1DA-8E45-A116DE70070C}"/>
                  </a:ext>
                </a:extLst>
              </p:cNvPr>
              <p:cNvSpPr txBox="1"/>
              <p:nvPr/>
            </p:nvSpPr>
            <p:spPr>
              <a:xfrm>
                <a:off x="13286531" y="5600686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264" name="10">
                <a:extLst>
                  <a:ext uri="{FF2B5EF4-FFF2-40B4-BE49-F238E27FC236}">
                    <a16:creationId xmlns:a16="http://schemas.microsoft.com/office/drawing/2014/main" id="{E10FE9B6-2A5E-0E67-F9D1-E3AD92E3691D}"/>
                  </a:ext>
                </a:extLst>
              </p:cNvPr>
              <p:cNvSpPr txBox="1"/>
              <p:nvPr/>
            </p:nvSpPr>
            <p:spPr>
              <a:xfrm>
                <a:off x="13201797" y="10878284"/>
                <a:ext cx="453238" cy="4613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10</a:t>
                </a:r>
              </a:p>
            </p:txBody>
          </p:sp>
          <p:sp>
            <p:nvSpPr>
              <p:cNvPr id="265" name="5">
                <a:extLst>
                  <a:ext uri="{FF2B5EF4-FFF2-40B4-BE49-F238E27FC236}">
                    <a16:creationId xmlns:a16="http://schemas.microsoft.com/office/drawing/2014/main" id="{FA0C1484-1108-A263-FF8F-909EF2CC7711}"/>
                  </a:ext>
                </a:extLst>
              </p:cNvPr>
              <p:cNvSpPr txBox="1"/>
              <p:nvPr/>
            </p:nvSpPr>
            <p:spPr>
              <a:xfrm>
                <a:off x="13286531" y="6584323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5</a:t>
                </a:r>
              </a:p>
            </p:txBody>
          </p:sp>
          <p:sp>
            <p:nvSpPr>
              <p:cNvPr id="266" name="6">
                <a:extLst>
                  <a:ext uri="{FF2B5EF4-FFF2-40B4-BE49-F238E27FC236}">
                    <a16:creationId xmlns:a16="http://schemas.microsoft.com/office/drawing/2014/main" id="{5FA5B6E8-4A5F-09B2-FC7A-A7C166CEBCB4}"/>
                  </a:ext>
                </a:extLst>
              </p:cNvPr>
              <p:cNvSpPr txBox="1"/>
              <p:nvPr/>
            </p:nvSpPr>
            <p:spPr>
              <a:xfrm>
                <a:off x="13286531" y="7440546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6</a:t>
                </a:r>
              </a:p>
            </p:txBody>
          </p:sp>
          <p:sp>
            <p:nvSpPr>
              <p:cNvPr id="267" name="7">
                <a:extLst>
                  <a:ext uri="{FF2B5EF4-FFF2-40B4-BE49-F238E27FC236}">
                    <a16:creationId xmlns:a16="http://schemas.microsoft.com/office/drawing/2014/main" id="{729543CE-4167-17A5-FCC7-0D49E92C5661}"/>
                  </a:ext>
                </a:extLst>
              </p:cNvPr>
              <p:cNvSpPr txBox="1"/>
              <p:nvPr/>
            </p:nvSpPr>
            <p:spPr>
              <a:xfrm>
                <a:off x="13286531" y="8360476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t>7</a:t>
                </a:r>
              </a:p>
            </p:txBody>
          </p:sp>
          <p:sp>
            <p:nvSpPr>
              <p:cNvPr id="268" name="8">
                <a:extLst>
                  <a:ext uri="{FF2B5EF4-FFF2-40B4-BE49-F238E27FC236}">
                    <a16:creationId xmlns:a16="http://schemas.microsoft.com/office/drawing/2014/main" id="{895A60D9-7A3B-CC07-1929-85B57A76FBFE}"/>
                  </a:ext>
                </a:extLst>
              </p:cNvPr>
              <p:cNvSpPr txBox="1"/>
              <p:nvPr/>
            </p:nvSpPr>
            <p:spPr>
              <a:xfrm>
                <a:off x="13286531" y="9233441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8</a:t>
                </a:r>
              </a:p>
            </p:txBody>
          </p:sp>
          <p:sp>
            <p:nvSpPr>
              <p:cNvPr id="269" name="9">
                <a:extLst>
                  <a:ext uri="{FF2B5EF4-FFF2-40B4-BE49-F238E27FC236}">
                    <a16:creationId xmlns:a16="http://schemas.microsoft.com/office/drawing/2014/main" id="{D3530A01-76C0-159E-DAF8-8938B92FCB67}"/>
                  </a:ext>
                </a:extLst>
              </p:cNvPr>
              <p:cNvSpPr txBox="1"/>
              <p:nvPr/>
            </p:nvSpPr>
            <p:spPr>
              <a:xfrm>
                <a:off x="13286531" y="10153371"/>
                <a:ext cx="283770" cy="461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FFFFFF"/>
                    </a:solidFill>
                  </a:defRPr>
                </a:lvl1pPr>
              </a:lstStyle>
              <a:p>
                <a:r>
                  <a:t>9</a:t>
                </a:r>
              </a:p>
            </p:txBody>
          </p:sp>
        </p:grpSp>
      </p:grpSp>
      <p:sp>
        <p:nvSpPr>
          <p:cNvPr id="270" name="Rectangle">
            <a:extLst>
              <a:ext uri="{FF2B5EF4-FFF2-40B4-BE49-F238E27FC236}">
                <a16:creationId xmlns:a16="http://schemas.microsoft.com/office/drawing/2014/main" id="{FBD2B7FE-CFFD-FFF9-6BBD-2207179C4F17}"/>
              </a:ext>
            </a:extLst>
          </p:cNvPr>
          <p:cNvSpPr/>
          <p:nvPr/>
        </p:nvSpPr>
        <p:spPr>
          <a:xfrm>
            <a:off x="12989164" y="3023959"/>
            <a:ext cx="4082239" cy="8483596"/>
          </a:xfrm>
          <a:prstGeom prst="rect">
            <a:avLst/>
          </a:prstGeom>
          <a:solidFill>
            <a:schemeClr val="accent1">
              <a:lumMod val="40000"/>
              <a:lumOff val="60000"/>
              <a:alpha val="6425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1" name="Rectangle">
            <a:extLst>
              <a:ext uri="{FF2B5EF4-FFF2-40B4-BE49-F238E27FC236}">
                <a16:creationId xmlns:a16="http://schemas.microsoft.com/office/drawing/2014/main" id="{715F1C17-7890-38DD-83C2-80E42B0A616B}"/>
              </a:ext>
            </a:extLst>
          </p:cNvPr>
          <p:cNvSpPr/>
          <p:nvPr/>
        </p:nvSpPr>
        <p:spPr>
          <a:xfrm>
            <a:off x="17152249" y="3005610"/>
            <a:ext cx="4293771" cy="8483596"/>
          </a:xfrm>
          <a:prstGeom prst="rect">
            <a:avLst/>
          </a:prstGeom>
          <a:solidFill>
            <a:srgbClr val="60D937">
              <a:alpha val="4249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id="{FA7498E9-4449-C656-2233-5042B781E0BF}"/>
              </a:ext>
            </a:extLst>
          </p:cNvPr>
          <p:cNvSpPr/>
          <p:nvPr/>
        </p:nvSpPr>
        <p:spPr>
          <a:xfrm>
            <a:off x="2767512" y="6057289"/>
            <a:ext cx="7847213" cy="2416935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3" name="Rectangle">
            <a:extLst>
              <a:ext uri="{FF2B5EF4-FFF2-40B4-BE49-F238E27FC236}">
                <a16:creationId xmlns:a16="http://schemas.microsoft.com/office/drawing/2014/main" id="{8912482D-78BC-62AB-A427-C8F24D7E926D}"/>
              </a:ext>
            </a:extLst>
          </p:cNvPr>
          <p:cNvSpPr/>
          <p:nvPr/>
        </p:nvSpPr>
        <p:spPr>
          <a:xfrm>
            <a:off x="2767512" y="8546208"/>
            <a:ext cx="7847213" cy="2416935"/>
          </a:xfrm>
          <a:prstGeom prst="rect">
            <a:avLst/>
          </a:prstGeom>
          <a:solidFill>
            <a:srgbClr val="60D937">
              <a:alpha val="4245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714E51C2-C772-22C9-B6E7-7094A50F5CC4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504234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75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76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78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79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80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4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83" name="While loop"/>
          <p:cNvSpPr txBox="1"/>
          <p:nvPr/>
        </p:nvSpPr>
        <p:spPr>
          <a:xfrm>
            <a:off x="10456943" y="1496966"/>
            <a:ext cx="328676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While loop</a:t>
            </a:r>
          </a:p>
        </p:txBody>
      </p:sp>
      <p:sp>
        <p:nvSpPr>
          <p:cNvPr id="284" name="for loop mainly use to iterate the actions through an iterable in a sequence or range .…"/>
          <p:cNvSpPr txBox="1"/>
          <p:nvPr/>
        </p:nvSpPr>
        <p:spPr>
          <a:xfrm>
            <a:off x="2298444" y="3418299"/>
            <a:ext cx="20011289" cy="5077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4100">
                <a:solidFill>
                  <a:srgbClr val="FFFFFF"/>
                </a:solidFill>
              </a:defRPr>
            </a:pPr>
            <a:r>
              <a:t> </a:t>
            </a:r>
            <a:r>
              <a:rPr i="1" u="sng">
                <a:solidFill>
                  <a:schemeClr val="accent4">
                    <a:hueOff val="-476017"/>
                    <a:lumOff val="-10042"/>
                  </a:schemeClr>
                </a:solidFill>
              </a:rPr>
              <a:t>for loop</a:t>
            </a:r>
            <a:r>
              <a:t> mainly use to iterate the actions through an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iterable</a:t>
            </a:r>
            <a:r>
              <a:t> in a </a:t>
            </a:r>
            <a:r>
              <a:rPr u="sng"/>
              <a:t>sequence</a:t>
            </a:r>
            <a:r>
              <a:t> or </a:t>
            </a:r>
            <a:r>
              <a:rPr u="sng"/>
              <a:t>range</a:t>
            </a:r>
            <a:r>
              <a:t> . </a:t>
            </a:r>
          </a:p>
          <a:p>
            <a:pPr algn="l">
              <a:lnSpc>
                <a:spcPct val="150000"/>
              </a:lnSpc>
              <a:defRPr sz="4100">
                <a:solidFill>
                  <a:srgbClr val="FFFFFF"/>
                </a:solidFill>
              </a:defRPr>
            </a:pPr>
            <a:r>
              <a:t> but sometimes, one needs to iterate actions as long as certain condition is true. </a:t>
            </a:r>
          </a:p>
          <a:p>
            <a:pPr algn="l">
              <a:defRPr sz="3400">
                <a:solidFill>
                  <a:srgbClr val="FFFFFF"/>
                </a:solidFill>
              </a:defRPr>
            </a:pPr>
            <a:endParaRPr/>
          </a:p>
          <a:p>
            <a:pPr algn="l">
              <a:lnSpc>
                <a:spcPct val="120000"/>
              </a:lnSpc>
              <a:defRPr sz="4100">
                <a:solidFill>
                  <a:srgbClr val="FFFFFF"/>
                </a:solidFill>
              </a:defRPr>
            </a:pPr>
            <a:r>
              <a:t>As long as the condition remains true , the sequence of actions inside the loop will </a:t>
            </a:r>
          </a:p>
          <a:p>
            <a:pPr algn="l">
              <a:lnSpc>
                <a:spcPct val="120000"/>
              </a:lnSpc>
              <a:defRPr sz="4100">
                <a:solidFill>
                  <a:srgbClr val="FFFFFF"/>
                </a:solidFill>
              </a:defRPr>
            </a:pPr>
            <a:r>
              <a:t>be executed</a:t>
            </a:r>
          </a:p>
          <a:p>
            <a:pPr algn="l">
              <a:defRPr sz="3400">
                <a:solidFill>
                  <a:srgbClr val="FFFFFF"/>
                </a:solidFill>
              </a:defRPr>
            </a:pPr>
            <a:endParaRPr/>
          </a:p>
          <a:p>
            <a:pPr algn="l">
              <a:defRPr sz="4200">
                <a:solidFill>
                  <a:srgbClr val="FFFFFF"/>
                </a:solidFill>
              </a:defRPr>
            </a:pPr>
            <a:r>
              <a:t>Once the </a:t>
            </a:r>
            <a:r>
              <a:rPr u="sng"/>
              <a:t>condition becomes false</a:t>
            </a:r>
            <a:r>
              <a:t>, the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loop terminates</a:t>
            </a:r>
            <a:r>
              <a:t>.</a:t>
            </a:r>
          </a:p>
        </p:txBody>
      </p:sp>
      <p:grpSp>
        <p:nvGrpSpPr>
          <p:cNvPr id="287" name="Group"/>
          <p:cNvGrpSpPr/>
          <p:nvPr/>
        </p:nvGrpSpPr>
        <p:grpSpPr>
          <a:xfrm>
            <a:off x="5083080" y="9797730"/>
            <a:ext cx="14217840" cy="1373870"/>
            <a:chOff x="-608685" y="-55727"/>
            <a:chExt cx="14217839" cy="1373868"/>
          </a:xfrm>
        </p:grpSpPr>
        <p:sp>
          <p:nvSpPr>
            <p:cNvPr id="285" name="while &lt;condition&gt;:                           // Condition can evaluate to True or False"/>
            <p:cNvSpPr txBox="1"/>
            <p:nvPr/>
          </p:nvSpPr>
          <p:spPr>
            <a:xfrm>
              <a:off x="-362168" y="-55728"/>
              <a:ext cx="13971322" cy="572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50000"/>
                </a:lnSpc>
                <a:defRPr sz="3200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while &lt;condition&gt;:                           // Condition can evaluate to True or False</a:t>
              </a:r>
            </a:p>
          </p:txBody>
        </p:sp>
        <p:sp>
          <p:nvSpPr>
            <p:cNvPr id="286" name="block_of_code_to_execute"/>
            <p:cNvSpPr txBox="1"/>
            <p:nvPr/>
          </p:nvSpPr>
          <p:spPr>
            <a:xfrm>
              <a:off x="-608686" y="745320"/>
              <a:ext cx="7269786" cy="572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5">
                <a:lnSpc>
                  <a:spcPct val="150000"/>
                </a:lnSpc>
                <a:defRPr sz="3200">
                  <a:solidFill>
                    <a:srgbClr val="FFFFFF"/>
                  </a:solidFill>
                </a:defRPr>
              </a:pPr>
              <a:r>
                <a:rPr dirty="0" err="1"/>
                <a:t>block_of_code_to_execute</a:t>
              </a:r>
              <a:endParaRPr dirty="0"/>
            </a:p>
          </p:txBody>
        </p:sp>
      </p:grpSp>
      <p:grpSp>
        <p:nvGrpSpPr>
          <p:cNvPr id="290" name="Rectangle"/>
          <p:cNvGrpSpPr/>
          <p:nvPr/>
        </p:nvGrpSpPr>
        <p:grpSpPr>
          <a:xfrm>
            <a:off x="4789072" y="9517340"/>
            <a:ext cx="16416689" cy="2051809"/>
            <a:chOff x="-1" y="0"/>
            <a:chExt cx="14805853" cy="1850481"/>
          </a:xfrm>
          <a:solidFill>
            <a:schemeClr val="accent3">
              <a:lumMod val="60000"/>
              <a:lumOff val="40000"/>
              <a:alpha val="33000"/>
            </a:schemeClr>
          </a:solidFill>
        </p:grpSpPr>
        <p:sp>
          <p:nvSpPr>
            <p:cNvPr id="289" name="Rectangle"/>
            <p:cNvSpPr/>
            <p:nvPr/>
          </p:nvSpPr>
          <p:spPr>
            <a:xfrm>
              <a:off x="38099" y="38100"/>
              <a:ext cx="14729653" cy="1774281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dirty="0"/>
            </a:p>
          </p:txBody>
        </p:sp>
        <p:pic>
          <p:nvPicPr>
            <p:cNvPr id="288" name="Rectangle Rectangle" descr="Rectangle Rectangle"/>
            <p:cNvPicPr>
              <a:picLocks/>
            </p:cNvPicPr>
            <p:nvPr/>
          </p:nvPicPr>
          <p:blipFill>
            <a:blip r:embed="rId3">
              <a:alphaModFix amt="50522"/>
            </a:blip>
            <a:stretch>
              <a:fillRect/>
            </a:stretch>
          </p:blipFill>
          <p:spPr>
            <a:xfrm>
              <a:off x="-1" y="0"/>
              <a:ext cx="14805853" cy="1850481"/>
            </a:xfrm>
            <a:prstGeom prst="rect">
              <a:avLst/>
            </a:prstGeom>
            <a:grpFill/>
            <a:effectLst/>
          </p:spPr>
        </p:pic>
      </p:grpSp>
      <p:sp>
        <p:nvSpPr>
          <p:cNvPr id="2" name="09/12/2022">
            <a:extLst>
              <a:ext uri="{FF2B5EF4-FFF2-40B4-BE49-F238E27FC236}">
                <a16:creationId xmlns:a16="http://schemas.microsoft.com/office/drawing/2014/main" id="{878FAE4F-BF73-3A4C-DB04-839569019722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1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A5A2326B-CED4-0217-0E29-018E03DA6197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96B1F-E492-75E2-BEA5-9423CE2AB514}"/>
              </a:ext>
            </a:extLst>
          </p:cNvPr>
          <p:cNvSpPr txBox="1"/>
          <p:nvPr/>
        </p:nvSpPr>
        <p:spPr>
          <a:xfrm>
            <a:off x="974104" y="2260516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1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FB83-68C4-C8CA-D5D1-8614882F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C1F2B851-C746-5DEC-AE83-951A8A9D214D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8D55404D-3100-F0B1-9B13-BC815299B969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6AF5F1F6-9F28-B026-3895-D8A439C50C75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E39AD62C-FAC0-9F87-8643-7F915902D8D3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469DB755-ABE5-649C-00C5-4A635226FDB6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B5585D54-277B-0005-803B-7A910A9C68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72A6ACA0-B7EE-0C2A-FF29-A7FBAF0ABAC6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7E908C96-43AB-D532-17B3-5C1BDBB36C3D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B1F67-A843-6E34-23AE-9CA4FB5CA49D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F7448BC-D9F0-FD25-8CF6-D85C1D934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B1996C-9E05-87DA-AE78-3FE42AE8027F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8A0F2E-0E4C-E4C0-4FD2-E17B3546A96A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E1F49-0E76-BA2E-578A-385C56B1E047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DCF4A-F000-E607-2836-CEEA1129B140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341298943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C84C-D870-EEE6-7448-34C2BEE9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8F4F5719-01A6-B4BE-4C9A-AD9831F5BB50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41F7C90E-6087-29FE-AFEF-FA9A279D9660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9DBA2DA9-15EA-8D4F-FDC8-49ADD7B6B3DA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502F8A92-C484-46CF-04D2-D7CBE51DD5EB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06E8DDC4-7AEA-3F8F-C0E4-ED2BC844405D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7F9AC7D3-301E-CF09-CEEC-743324FFF36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A5DCB4B2-230A-77CB-33A0-C976B25E69E6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7FCE3C16-F5EB-9246-A411-367C25FD4F59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A983D-7D14-2D86-75E5-8A7374A6E8DE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F77A703-0765-B478-58DC-17C0D9DA2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A536DA-FDB4-3679-02BE-7061C2D9E2E0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091DCA-C55F-EC05-D6DD-04DCB27E034C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D30802-7CF3-C164-861B-3F010CEE123E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4C18C-5920-C0C7-DB90-FB08D6EB14C0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8D72F-0A66-05F8-E590-19E0BEA4F482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1466501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9341-9433-D8BB-032C-4C796BE1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278FCFDD-0876-FA33-747C-31A7411289C8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7A1659E4-0C51-C2CF-085B-33F476FC40B7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602E856F-5112-9D07-332B-6B44BFDCF612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EE8ACC11-7F55-963D-3F44-04BB2E92F03C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B701A1C0-F953-0E69-9BD3-149847A18A36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824AE1D5-2CE7-A36E-9FA9-FC258F88B83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6B010D46-519D-5CBA-4E34-250614B41002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19D86CF7-5DFC-4C33-07C1-98F6090B5EC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A0ABC-D90E-8D40-E11E-DD499A232DA5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69F034E-8D20-5514-20A8-34B28629C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933216-9C9E-D518-152C-053508D9ACBD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BA1CFE7-9484-FBAE-A36A-51556E5D535F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D87700-E695-B1E5-FDB5-AF27F8F2E36A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97E55-0D4F-B109-8DF5-C73F7B821B15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CEC64-AA48-FBD5-13B4-DF148A96B818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50E1702-32E0-5B15-A6C2-C35ADD43B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96" y="9214185"/>
            <a:ext cx="5070092" cy="286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0467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76F9-1637-1953-9AF0-80A893E0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570F9618-5AB9-E5DB-45CE-91F0DF39B3E7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54285912-A9D7-5E0F-9FB9-1399255506AB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904168B3-67CF-44E8-2892-A91E21FA1D63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A141D903-4FFC-D39D-924F-0CB18C6879C8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D51360EC-F95D-4E5C-9D6F-BC105590CAE1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10F66CE0-DE41-3AF4-89FA-53D4E8F5993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9E042E4E-A6F4-1C76-2C29-76D3550E9721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9452E8E8-4288-9EDF-B015-429AD740B519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CE308-B0E7-6A32-88EC-A5C221338B1D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420B2BE-5F0A-F482-4087-61399E4A2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AC59C8-6B19-05C4-DE64-8B90156E44CB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628661-C184-15EE-5298-7C9008E06747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95F8D-1D33-9BEA-94B0-A0E178F8B8B6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E5B2B-4531-3106-A29B-34E096387AAF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9B05B-43F0-9CA2-1F87-1EDEA5570B36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88611D-C834-E82B-1799-0B951A709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96" y="9214185"/>
            <a:ext cx="5070092" cy="2869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603410-BF75-34C8-E39B-753E967EBB94}"/>
              </a:ext>
            </a:extLst>
          </p:cNvPr>
          <p:cNvSpPr txBox="1"/>
          <p:nvPr/>
        </p:nvSpPr>
        <p:spPr>
          <a:xfrm>
            <a:off x="11994421" y="3067472"/>
            <a:ext cx="4843670" cy="4719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1 2 3 4 5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B33C6-6EEE-BE29-E898-FD70F41F0E7B}"/>
              </a:ext>
            </a:extLst>
          </p:cNvPr>
          <p:cNvSpPr txBox="1"/>
          <p:nvPr/>
        </p:nvSpPr>
        <p:spPr>
          <a:xfrm>
            <a:off x="10912847" y="1207266"/>
            <a:ext cx="1060845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</a:t>
            </a:r>
            <a:r>
              <a:rPr lang="en-US" sz="4000" b="1" dirty="0">
                <a:solidFill>
                  <a:schemeClr val="bg1"/>
                </a:solidFill>
              </a:rPr>
              <a:t> in the following format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(nested while)</a:t>
            </a:r>
          </a:p>
        </p:txBody>
      </p:sp>
    </p:spTree>
    <p:extLst>
      <p:ext uri="{BB962C8B-B14F-4D97-AF65-F5344CB8AC3E}">
        <p14:creationId xmlns:p14="http://schemas.microsoft.com/office/powerpoint/2010/main" val="136201921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08D9-E3D4-7502-44F9-70FFBF16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A1C3D1CB-9FEE-B4A0-C31B-2C98B62D0A46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005E035C-F1F0-CAC6-8B42-CC1358CBF66D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5044663B-EA4B-D18B-F5A9-B962D11D2729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C6A11AEB-879C-C0E2-2F4F-F97E4ED643A5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0FB08156-1AF2-5A23-8675-8D2FE599DB36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F655104B-512D-545A-B233-D3AC6A9B973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596C92F0-1C2B-8E6E-F23A-DF6E6DDBBAA8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686D43FE-2C7D-BBA1-6415-32D31C2CB29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74021-8511-1EFD-7AFE-A249CECF8196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250D819-7017-8932-8BB1-B3E08E78E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22D09E-1396-AF85-3094-B719C1DB7DF6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DE1A08-196E-A13A-CC5A-02DA6C898D45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E2EF61-0747-7863-CE3A-5B6C63BAFAAF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CC21C-90C3-7A98-76CF-B7286356B234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72010-7075-6A0E-6690-F60B4DE63966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87D2370-07F7-4F1D-8F44-D66FAFFB5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96" y="9214185"/>
            <a:ext cx="5070092" cy="2869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B5F1F-F517-2559-E302-E49F0FB52674}"/>
              </a:ext>
            </a:extLst>
          </p:cNvPr>
          <p:cNvSpPr txBox="1"/>
          <p:nvPr/>
        </p:nvSpPr>
        <p:spPr>
          <a:xfrm>
            <a:off x="11994421" y="3067472"/>
            <a:ext cx="4843670" cy="4719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1 2 3 4 5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68410-546F-F59C-4E92-F203BB07C41B}"/>
              </a:ext>
            </a:extLst>
          </p:cNvPr>
          <p:cNvSpPr txBox="1"/>
          <p:nvPr/>
        </p:nvSpPr>
        <p:spPr>
          <a:xfrm>
            <a:off x="10912847" y="1207266"/>
            <a:ext cx="1060845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</a:t>
            </a:r>
            <a:r>
              <a:rPr lang="en-US" sz="4000" b="1" dirty="0">
                <a:solidFill>
                  <a:schemeClr val="bg1"/>
                </a:solidFill>
              </a:rPr>
              <a:t> in the following format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(nested while)</a:t>
            </a:r>
          </a:p>
        </p:txBody>
      </p:sp>
      <p:pic>
        <p:nvPicPr>
          <p:cNvPr id="16" name="Picture 1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C309500B-43C2-370F-E816-BA9D77F2F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623" y="2677910"/>
            <a:ext cx="6229112" cy="57282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550FE2-2C15-85DE-53DB-B09AD573EE09}"/>
              </a:ext>
            </a:extLst>
          </p:cNvPr>
          <p:cNvSpPr/>
          <p:nvPr/>
        </p:nvSpPr>
        <p:spPr>
          <a:xfrm>
            <a:off x="14828479" y="2747703"/>
            <a:ext cx="5902498" cy="1422615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36643-DEF3-67A2-42A9-A763C556DDC2}"/>
              </a:ext>
            </a:extLst>
          </p:cNvPr>
          <p:cNvSpPr/>
          <p:nvPr/>
        </p:nvSpPr>
        <p:spPr>
          <a:xfrm>
            <a:off x="15608886" y="4296987"/>
            <a:ext cx="5222294" cy="1258185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792231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5A5-1BE7-62F6-E7BC-BD6E7A55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0EF5E2CF-1345-2467-74BA-54923BB7DAC2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E843CFD7-8492-9CDC-9E6E-E3F5A61DF1E5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7C81E651-9DF4-0FC0-73E0-7237F67CBD7C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99CF9C2A-A31D-4CD3-046A-10ADA4E33474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54E8EA24-B895-E0EE-532A-CC0A83278A9F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74D2CA36-B77D-ACF5-FF20-429D3F9197E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DD03D504-36E8-D420-3977-C7BEFE800396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03FC2E0A-AFEB-641B-3467-5DEA2ECB5ADE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4C3BC-41EA-8937-1DD9-A3AFA1DEAC74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C2336BD-78C7-B67B-2C2D-15AE578D4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F1FE8D-E236-8471-D2B3-682E944F52F3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06604C9-8ECA-49CE-323C-452445AA0B27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F9C1EE-6F7B-0477-AEE7-C34B8DACB620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0CDCE-74FD-8CFA-B1F0-C6E1AFA533BB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F548E-354E-A975-EC72-9BF963996707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AD4C84B-1C45-232A-3125-EF3A6CEAC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96" y="9214185"/>
            <a:ext cx="5070092" cy="2869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FD8086-31B1-BC6C-1D4F-C9185DF22308}"/>
              </a:ext>
            </a:extLst>
          </p:cNvPr>
          <p:cNvSpPr txBox="1"/>
          <p:nvPr/>
        </p:nvSpPr>
        <p:spPr>
          <a:xfrm>
            <a:off x="11994421" y="3067472"/>
            <a:ext cx="4843670" cy="4719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</a:t>
            </a:r>
          </a:p>
          <a:p>
            <a:pPr algn="l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</a:rPr>
              <a:t>1 2 3 4 5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3D40-FB78-D36B-3470-6AD38BD6D0ED}"/>
              </a:ext>
            </a:extLst>
          </p:cNvPr>
          <p:cNvSpPr txBox="1"/>
          <p:nvPr/>
        </p:nvSpPr>
        <p:spPr>
          <a:xfrm>
            <a:off x="10912847" y="1207266"/>
            <a:ext cx="1060845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</a:t>
            </a:r>
            <a:r>
              <a:rPr lang="en-US" sz="4000" b="1" dirty="0">
                <a:solidFill>
                  <a:schemeClr val="bg1"/>
                </a:solidFill>
              </a:rPr>
              <a:t> in the following format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(nested while)</a:t>
            </a:r>
          </a:p>
        </p:txBody>
      </p:sp>
      <p:pic>
        <p:nvPicPr>
          <p:cNvPr id="16" name="Picture 1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3A9E2A57-0837-F702-F16D-62B751BF6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623" y="2598398"/>
            <a:ext cx="6229112" cy="57282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BC61DA-3031-9776-B120-223BB4BD4C29}"/>
              </a:ext>
            </a:extLst>
          </p:cNvPr>
          <p:cNvSpPr/>
          <p:nvPr/>
        </p:nvSpPr>
        <p:spPr>
          <a:xfrm>
            <a:off x="14828479" y="2747703"/>
            <a:ext cx="5902498" cy="1422615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90053-CA7D-8434-DA3C-A8379DCF4C06}"/>
              </a:ext>
            </a:extLst>
          </p:cNvPr>
          <p:cNvSpPr/>
          <p:nvPr/>
        </p:nvSpPr>
        <p:spPr>
          <a:xfrm>
            <a:off x="15608886" y="4296987"/>
            <a:ext cx="5222294" cy="1258185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54E74-5E96-2B59-CDEB-2E5697977B86}"/>
              </a:ext>
            </a:extLst>
          </p:cNvPr>
          <p:cNvSpPr txBox="1"/>
          <p:nvPr/>
        </p:nvSpPr>
        <p:spPr>
          <a:xfrm>
            <a:off x="14710411" y="10025264"/>
            <a:ext cx="2936607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6A116-2A53-2050-7819-E5A1634BD166}"/>
              </a:ext>
            </a:extLst>
          </p:cNvPr>
          <p:cNvSpPr txBox="1"/>
          <p:nvPr/>
        </p:nvSpPr>
        <p:spPr>
          <a:xfrm>
            <a:off x="9948692" y="9094240"/>
            <a:ext cx="4641250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1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1 2 3 4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1 2 3 4 5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308C5-F9F8-DB9F-1F40-A111C36876DB}"/>
              </a:ext>
            </a:extLst>
          </p:cNvPr>
          <p:cNvSpPr/>
          <p:nvPr/>
        </p:nvSpPr>
        <p:spPr>
          <a:xfrm>
            <a:off x="12404034" y="8578209"/>
            <a:ext cx="2544913" cy="3939375"/>
          </a:xfrm>
          <a:prstGeom prst="rect">
            <a:avLst/>
          </a:prstGeom>
          <a:noFill/>
          <a:ln w="12700" cap="flat">
            <a:solidFill>
              <a:srgbClr val="FF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6427961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69A5-E007-2C72-F089-3514A27F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9800DE60-3584-121D-CF55-23B9C8EA7C2A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3440B3A1-4357-138B-EDA8-0D3A8E5D3E19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F0C17228-4152-D7C4-A617-C2A2D636C22C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E79A4BB0-8A42-D336-6DE7-24C2DDDCC73C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D4EE79D0-5C4F-4E6A-D192-C136DDBCBBB7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F7E498A0-62FB-3703-1B72-28FEAEEE89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591C2AEB-9506-4358-43D0-6C6E8BDBFFAD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A7C1D709-00C5-45D8-02EA-E0027A4CD42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A8492-8DA2-B7BA-BC15-D5AA5BAFCA9D}"/>
              </a:ext>
            </a:extLst>
          </p:cNvPr>
          <p:cNvSpPr txBox="1"/>
          <p:nvPr/>
        </p:nvSpPr>
        <p:spPr>
          <a:xfrm>
            <a:off x="974104" y="1266602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 – 10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DB7A70B-7FDB-84CA-0085-BD372E116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88" y="3603014"/>
            <a:ext cx="5506928" cy="28921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EA1D5C-CDCB-6100-D2DC-2628D5FC13FA}"/>
              </a:ext>
            </a:extLst>
          </p:cNvPr>
          <p:cNvCxnSpPr>
            <a:cxnSpLocks/>
          </p:cNvCxnSpPr>
          <p:nvPr/>
        </p:nvCxnSpPr>
        <p:spPr>
          <a:xfrm flipH="1">
            <a:off x="4475340" y="3336343"/>
            <a:ext cx="3597491" cy="600156"/>
          </a:xfrm>
          <a:prstGeom prst="straightConnector1">
            <a:avLst/>
          </a:prstGeom>
          <a:noFill/>
          <a:ln w="57150" cap="flat">
            <a:solidFill>
              <a:srgbClr val="FFFF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C8DC0A-BD70-5EDF-8D06-AD60E680DC3D}"/>
              </a:ext>
            </a:extLst>
          </p:cNvPr>
          <p:cNvSpPr txBox="1"/>
          <p:nvPr/>
        </p:nvSpPr>
        <p:spPr>
          <a:xfrm>
            <a:off x="6798047" y="2866971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22630-1AA3-216B-F770-32AD115486AA}"/>
              </a:ext>
            </a:extLst>
          </p:cNvPr>
          <p:cNvSpPr/>
          <p:nvPr/>
        </p:nvSpPr>
        <p:spPr>
          <a:xfrm>
            <a:off x="2367696" y="4289586"/>
            <a:ext cx="5203098" cy="779701"/>
          </a:xfrm>
          <a:prstGeom prst="rect">
            <a:avLst/>
          </a:prstGeom>
          <a:noFill/>
          <a:ln w="12700" cap="flat">
            <a:solidFill>
              <a:srgbClr val="FFFF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06089-A76A-CAB1-53B2-20F58A69105F}"/>
              </a:ext>
            </a:extLst>
          </p:cNvPr>
          <p:cNvSpPr txBox="1"/>
          <p:nvPr/>
        </p:nvSpPr>
        <p:spPr>
          <a:xfrm>
            <a:off x="7006767" y="4247472"/>
            <a:ext cx="4114800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20220-BE9F-7838-E9DF-1B3CCEE1D9E4}"/>
              </a:ext>
            </a:extLst>
          </p:cNvPr>
          <p:cNvSpPr txBox="1"/>
          <p:nvPr/>
        </p:nvSpPr>
        <p:spPr>
          <a:xfrm>
            <a:off x="1013471" y="7244511"/>
            <a:ext cx="805069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 between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10-1 </a:t>
            </a:r>
            <a:r>
              <a:rPr lang="en-US" sz="4000" b="1" dirty="0">
                <a:solidFill>
                  <a:schemeClr val="bg1"/>
                </a:solidFill>
              </a:rPr>
              <a:t> using while loop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5A04127-2F3A-F4FB-870D-A78691F35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96" y="9214185"/>
            <a:ext cx="5070092" cy="2869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D51EB-48EF-5DFB-5E88-A47A3B4B49CC}"/>
              </a:ext>
            </a:extLst>
          </p:cNvPr>
          <p:cNvSpPr txBox="1"/>
          <p:nvPr/>
        </p:nvSpPr>
        <p:spPr>
          <a:xfrm>
            <a:off x="10912847" y="1207266"/>
            <a:ext cx="1060845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Print numbers</a:t>
            </a:r>
            <a:r>
              <a:rPr lang="en-US" sz="4000" b="1" dirty="0">
                <a:solidFill>
                  <a:schemeClr val="bg1"/>
                </a:solidFill>
              </a:rPr>
              <a:t> in the following format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(nested while)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461AF-D3C2-6969-97D5-B027DAF93385}"/>
              </a:ext>
            </a:extLst>
          </p:cNvPr>
          <p:cNvSpPr txBox="1"/>
          <p:nvPr/>
        </p:nvSpPr>
        <p:spPr>
          <a:xfrm>
            <a:off x="9547120" y="5836558"/>
            <a:ext cx="4641250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1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1 2 3 4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1 2 3 4 5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B7F442-EC2E-BA2B-AB97-1ACCDFBA8BAB}"/>
              </a:ext>
            </a:extLst>
          </p:cNvPr>
          <p:cNvSpPr/>
          <p:nvPr/>
        </p:nvSpPr>
        <p:spPr>
          <a:xfrm>
            <a:off x="12002462" y="5320527"/>
            <a:ext cx="2544913" cy="3939375"/>
          </a:xfrm>
          <a:prstGeom prst="rect">
            <a:avLst/>
          </a:prstGeom>
          <a:noFill/>
          <a:ln w="12700" cap="flat">
            <a:solidFill>
              <a:srgbClr val="FFFF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3" name="Picture 22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F0C87181-B650-F006-D211-6793F94E7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9778" y="3878089"/>
            <a:ext cx="8272481" cy="776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4053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51FD7-EF66-0913-A8D6-867F9DF4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">
            <a:extLst>
              <a:ext uri="{FF2B5EF4-FFF2-40B4-BE49-F238E27FC236}">
                <a16:creationId xmlns:a16="http://schemas.microsoft.com/office/drawing/2014/main" id="{2AE2DA6D-B92B-B704-AD8F-7D8EE5CD8DC8}"/>
              </a:ext>
            </a:extLst>
          </p:cNvPr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92" name="8">
              <a:extLst>
                <a:ext uri="{FF2B5EF4-FFF2-40B4-BE49-F238E27FC236}">
                  <a16:creationId xmlns:a16="http://schemas.microsoft.com/office/drawing/2014/main" id="{50587578-CC4C-FD41-7008-A1119E1CEB18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93" name="Shape">
              <a:extLst>
                <a:ext uri="{FF2B5EF4-FFF2-40B4-BE49-F238E27FC236}">
                  <a16:creationId xmlns:a16="http://schemas.microsoft.com/office/drawing/2014/main" id="{75679957-46F4-0226-67A1-C55A088F5E74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95" name="S. Sharma, UJ">
            <a:extLst>
              <a:ext uri="{FF2B5EF4-FFF2-40B4-BE49-F238E27FC236}">
                <a16:creationId xmlns:a16="http://schemas.microsoft.com/office/drawing/2014/main" id="{05A682F4-8885-CB84-B277-5F6D297A5451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96" name="Python for beginners">
            <a:extLst>
              <a:ext uri="{FF2B5EF4-FFF2-40B4-BE49-F238E27FC236}">
                <a16:creationId xmlns:a16="http://schemas.microsoft.com/office/drawing/2014/main" id="{E55D4572-BAF7-71BE-B704-CA1EDFDE9061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97" name="Picture 3" descr="Picture 3">
            <a:extLst>
              <a:ext uri="{FF2B5EF4-FFF2-40B4-BE49-F238E27FC236}">
                <a16:creationId xmlns:a16="http://schemas.microsoft.com/office/drawing/2014/main" id="{1119154E-7B71-0BD3-FA87-B92DCD683EF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5">
            <a:extLst>
              <a:ext uri="{FF2B5EF4-FFF2-40B4-BE49-F238E27FC236}">
                <a16:creationId xmlns:a16="http://schemas.microsoft.com/office/drawing/2014/main" id="{216FD805-B61A-8D45-3C70-E6916BE87DE0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300" name="- Reproduce using while loop -">
            <a:extLst>
              <a:ext uri="{FF2B5EF4-FFF2-40B4-BE49-F238E27FC236}">
                <a16:creationId xmlns:a16="http://schemas.microsoft.com/office/drawing/2014/main" id="{5873EF08-FC6A-4568-2A86-FFB7D75A8B02}"/>
              </a:ext>
            </a:extLst>
          </p:cNvPr>
          <p:cNvSpPr txBox="1"/>
          <p:nvPr/>
        </p:nvSpPr>
        <p:spPr>
          <a:xfrm>
            <a:off x="7311470" y="1371641"/>
            <a:ext cx="957770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- Reproduce using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 loop -</a:t>
            </a:r>
            <a:r>
              <a:t> </a:t>
            </a:r>
          </a:p>
        </p:txBody>
      </p:sp>
      <p:pic>
        <p:nvPicPr>
          <p:cNvPr id="301" name="Screen Shot 2022-12-04 at 3.04.56 PM.png" descr="Screen Shot 2022-12-04 at 3.04.56 PM.png">
            <a:extLst>
              <a:ext uri="{FF2B5EF4-FFF2-40B4-BE49-F238E27FC236}">
                <a16:creationId xmlns:a16="http://schemas.microsoft.com/office/drawing/2014/main" id="{A3C89AAA-CB1C-CC6A-E8D5-5CFBF32CE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124" y="2834959"/>
            <a:ext cx="8674463" cy="8752611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Rectangle">
            <a:extLst>
              <a:ext uri="{FF2B5EF4-FFF2-40B4-BE49-F238E27FC236}">
                <a16:creationId xmlns:a16="http://schemas.microsoft.com/office/drawing/2014/main" id="{B2F7628E-25E1-D3DB-3293-E2E3E91BE447}"/>
              </a:ext>
            </a:extLst>
          </p:cNvPr>
          <p:cNvSpPr/>
          <p:nvPr/>
        </p:nvSpPr>
        <p:spPr>
          <a:xfrm>
            <a:off x="7710781" y="2969466"/>
            <a:ext cx="436146" cy="848359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322" name="Group">
            <a:extLst>
              <a:ext uri="{FF2B5EF4-FFF2-40B4-BE49-F238E27FC236}">
                <a16:creationId xmlns:a16="http://schemas.microsoft.com/office/drawing/2014/main" id="{6585CE23-371B-70D6-60A8-4753AE85E7F4}"/>
              </a:ext>
            </a:extLst>
          </p:cNvPr>
          <p:cNvGrpSpPr/>
          <p:nvPr/>
        </p:nvGrpSpPr>
        <p:grpSpPr>
          <a:xfrm>
            <a:off x="7689997" y="3082878"/>
            <a:ext cx="8230336" cy="8256772"/>
            <a:chOff x="-5092700" y="0"/>
            <a:chExt cx="8230335" cy="8256770"/>
          </a:xfrm>
        </p:grpSpPr>
        <p:sp>
          <p:nvSpPr>
            <p:cNvPr id="303" name="Line">
              <a:extLst>
                <a:ext uri="{FF2B5EF4-FFF2-40B4-BE49-F238E27FC236}">
                  <a16:creationId xmlns:a16="http://schemas.microsoft.com/office/drawing/2014/main" id="{BB6E37FE-6B20-35BA-D136-0AB5E9F35EA0}"/>
                </a:ext>
              </a:extLst>
            </p:cNvPr>
            <p:cNvSpPr/>
            <p:nvPr/>
          </p:nvSpPr>
          <p:spPr>
            <a:xfrm>
              <a:off x="-5050413" y="576080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4" name="Line">
              <a:extLst>
                <a:ext uri="{FF2B5EF4-FFF2-40B4-BE49-F238E27FC236}">
                  <a16:creationId xmlns:a16="http://schemas.microsoft.com/office/drawing/2014/main" id="{1D2A54B4-CEC2-FF3E-59AA-88669F230333}"/>
                </a:ext>
              </a:extLst>
            </p:cNvPr>
            <p:cNvSpPr/>
            <p:nvPr/>
          </p:nvSpPr>
          <p:spPr>
            <a:xfrm>
              <a:off x="-5050413" y="1496010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5" name="Line">
              <a:extLst>
                <a:ext uri="{FF2B5EF4-FFF2-40B4-BE49-F238E27FC236}">
                  <a16:creationId xmlns:a16="http://schemas.microsoft.com/office/drawing/2014/main" id="{4F164340-90EA-9FC3-5D03-6B99FBF185C9}"/>
                </a:ext>
              </a:extLst>
            </p:cNvPr>
            <p:cNvSpPr/>
            <p:nvPr/>
          </p:nvSpPr>
          <p:spPr>
            <a:xfrm>
              <a:off x="-5050413" y="2288525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6" name="Line">
              <a:extLst>
                <a:ext uri="{FF2B5EF4-FFF2-40B4-BE49-F238E27FC236}">
                  <a16:creationId xmlns:a16="http://schemas.microsoft.com/office/drawing/2014/main" id="{0B760966-2A17-A3FB-3729-5AD3B7D434F2}"/>
                </a:ext>
              </a:extLst>
            </p:cNvPr>
            <p:cNvSpPr/>
            <p:nvPr/>
          </p:nvSpPr>
          <p:spPr>
            <a:xfrm>
              <a:off x="-5050413" y="3208455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7" name="Line">
              <a:extLst>
                <a:ext uri="{FF2B5EF4-FFF2-40B4-BE49-F238E27FC236}">
                  <a16:creationId xmlns:a16="http://schemas.microsoft.com/office/drawing/2014/main" id="{C30C13C2-F589-3DF0-5AA5-46417F3E4BF8}"/>
                </a:ext>
              </a:extLst>
            </p:cNvPr>
            <p:cNvSpPr/>
            <p:nvPr/>
          </p:nvSpPr>
          <p:spPr>
            <a:xfrm>
              <a:off x="-5050413" y="4128385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8" name="Line">
              <a:extLst>
                <a:ext uri="{FF2B5EF4-FFF2-40B4-BE49-F238E27FC236}">
                  <a16:creationId xmlns:a16="http://schemas.microsoft.com/office/drawing/2014/main" id="{9584486D-BF84-2823-9FAA-C8D2505429C2}"/>
                </a:ext>
              </a:extLst>
            </p:cNvPr>
            <p:cNvSpPr/>
            <p:nvPr/>
          </p:nvSpPr>
          <p:spPr>
            <a:xfrm>
              <a:off x="-5050413" y="5048315"/>
              <a:ext cx="8116207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9" name="Line">
              <a:extLst>
                <a:ext uri="{FF2B5EF4-FFF2-40B4-BE49-F238E27FC236}">
                  <a16:creationId xmlns:a16="http://schemas.microsoft.com/office/drawing/2014/main" id="{2320083E-2994-81F1-7FEA-C6F52C1AF82E}"/>
                </a:ext>
              </a:extLst>
            </p:cNvPr>
            <p:cNvSpPr/>
            <p:nvPr/>
          </p:nvSpPr>
          <p:spPr>
            <a:xfrm>
              <a:off x="-5047184" y="5968245"/>
              <a:ext cx="8184820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0" name="Line">
              <a:extLst>
                <a:ext uri="{FF2B5EF4-FFF2-40B4-BE49-F238E27FC236}">
                  <a16:creationId xmlns:a16="http://schemas.microsoft.com/office/drawing/2014/main" id="{44B14995-E719-C1BB-3A91-900A6AFDF65F}"/>
                </a:ext>
              </a:extLst>
            </p:cNvPr>
            <p:cNvSpPr/>
            <p:nvPr/>
          </p:nvSpPr>
          <p:spPr>
            <a:xfrm>
              <a:off x="-5067471" y="6888174"/>
              <a:ext cx="8116208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1" name="Line">
              <a:extLst>
                <a:ext uri="{FF2B5EF4-FFF2-40B4-BE49-F238E27FC236}">
                  <a16:creationId xmlns:a16="http://schemas.microsoft.com/office/drawing/2014/main" id="{57E4A799-A366-6C8F-3AE4-728ADA84182C}"/>
                </a:ext>
              </a:extLst>
            </p:cNvPr>
            <p:cNvSpPr/>
            <p:nvPr/>
          </p:nvSpPr>
          <p:spPr>
            <a:xfrm>
              <a:off x="-5067471" y="7714174"/>
              <a:ext cx="8116208" cy="1"/>
            </a:xfrm>
            <a:prstGeom prst="lin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2" name="1">
              <a:extLst>
                <a:ext uri="{FF2B5EF4-FFF2-40B4-BE49-F238E27FC236}">
                  <a16:creationId xmlns:a16="http://schemas.microsoft.com/office/drawing/2014/main" id="{4BC07170-F653-E260-0375-64715E8F7E91}"/>
                </a:ext>
              </a:extLst>
            </p:cNvPr>
            <p:cNvSpPr txBox="1"/>
            <p:nvPr/>
          </p:nvSpPr>
          <p:spPr>
            <a:xfrm>
              <a:off x="-5007966" y="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13" name="2">
              <a:extLst>
                <a:ext uri="{FF2B5EF4-FFF2-40B4-BE49-F238E27FC236}">
                  <a16:creationId xmlns:a16="http://schemas.microsoft.com/office/drawing/2014/main" id="{3FE71E5C-5E0D-04C6-45C0-DFC342355433}"/>
                </a:ext>
              </a:extLst>
            </p:cNvPr>
            <p:cNvSpPr txBox="1"/>
            <p:nvPr/>
          </p:nvSpPr>
          <p:spPr>
            <a:xfrm>
              <a:off x="-5007966" y="741655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14" name="3">
              <a:extLst>
                <a:ext uri="{FF2B5EF4-FFF2-40B4-BE49-F238E27FC236}">
                  <a16:creationId xmlns:a16="http://schemas.microsoft.com/office/drawing/2014/main" id="{ED2EAB7B-5BA9-E86E-7F8B-73ADE7E4A40F}"/>
                </a:ext>
              </a:extLst>
            </p:cNvPr>
            <p:cNvSpPr txBox="1"/>
            <p:nvPr/>
          </p:nvSpPr>
          <p:spPr>
            <a:xfrm>
              <a:off x="-5007966" y="159787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15" name="4">
              <a:extLst>
                <a:ext uri="{FF2B5EF4-FFF2-40B4-BE49-F238E27FC236}">
                  <a16:creationId xmlns:a16="http://schemas.microsoft.com/office/drawing/2014/main" id="{A2AD290F-AAAD-08E3-0E44-DE7032F05F2E}"/>
                </a:ext>
              </a:extLst>
            </p:cNvPr>
            <p:cNvSpPr txBox="1"/>
            <p:nvPr/>
          </p:nvSpPr>
          <p:spPr>
            <a:xfrm>
              <a:off x="-5007966" y="251780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316" name="10">
              <a:extLst>
                <a:ext uri="{FF2B5EF4-FFF2-40B4-BE49-F238E27FC236}">
                  <a16:creationId xmlns:a16="http://schemas.microsoft.com/office/drawing/2014/main" id="{B002F606-9646-99CF-5588-05C8B1F9C089}"/>
                </a:ext>
              </a:extLst>
            </p:cNvPr>
            <p:cNvSpPr txBox="1"/>
            <p:nvPr/>
          </p:nvSpPr>
          <p:spPr>
            <a:xfrm>
              <a:off x="-5092701" y="7795404"/>
              <a:ext cx="45323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10</a:t>
              </a:r>
            </a:p>
          </p:txBody>
        </p:sp>
        <p:sp>
          <p:nvSpPr>
            <p:cNvPr id="317" name="5">
              <a:extLst>
                <a:ext uri="{FF2B5EF4-FFF2-40B4-BE49-F238E27FC236}">
                  <a16:creationId xmlns:a16="http://schemas.microsoft.com/office/drawing/2014/main" id="{3F715C77-AF1A-1619-76C3-82C1587C748A}"/>
                </a:ext>
              </a:extLst>
            </p:cNvPr>
            <p:cNvSpPr txBox="1"/>
            <p:nvPr/>
          </p:nvSpPr>
          <p:spPr>
            <a:xfrm>
              <a:off x="-5007966" y="3501444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318" name="6">
              <a:extLst>
                <a:ext uri="{FF2B5EF4-FFF2-40B4-BE49-F238E27FC236}">
                  <a16:creationId xmlns:a16="http://schemas.microsoft.com/office/drawing/2014/main" id="{F27D4313-E237-824B-69DF-3E737E5EA02A}"/>
                </a:ext>
              </a:extLst>
            </p:cNvPr>
            <p:cNvSpPr txBox="1"/>
            <p:nvPr/>
          </p:nvSpPr>
          <p:spPr>
            <a:xfrm>
              <a:off x="-5007966" y="435766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319" name="7">
              <a:extLst>
                <a:ext uri="{FF2B5EF4-FFF2-40B4-BE49-F238E27FC236}">
                  <a16:creationId xmlns:a16="http://schemas.microsoft.com/office/drawing/2014/main" id="{2EDD9585-5337-FB20-B151-3EA0FA0A1542}"/>
                </a:ext>
              </a:extLst>
            </p:cNvPr>
            <p:cNvSpPr txBox="1"/>
            <p:nvPr/>
          </p:nvSpPr>
          <p:spPr>
            <a:xfrm>
              <a:off x="-5007966" y="527759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7</a:t>
              </a:r>
            </a:p>
          </p:txBody>
        </p:sp>
        <p:sp>
          <p:nvSpPr>
            <p:cNvPr id="320" name="8">
              <a:extLst>
                <a:ext uri="{FF2B5EF4-FFF2-40B4-BE49-F238E27FC236}">
                  <a16:creationId xmlns:a16="http://schemas.microsoft.com/office/drawing/2014/main" id="{32779B38-740E-5B40-2899-253D18262BDF}"/>
                </a:ext>
              </a:extLst>
            </p:cNvPr>
            <p:cNvSpPr txBox="1"/>
            <p:nvPr/>
          </p:nvSpPr>
          <p:spPr>
            <a:xfrm>
              <a:off x="-5007966" y="6150562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21" name="9">
              <a:extLst>
                <a:ext uri="{FF2B5EF4-FFF2-40B4-BE49-F238E27FC236}">
                  <a16:creationId xmlns:a16="http://schemas.microsoft.com/office/drawing/2014/main" id="{F6335589-52F7-A161-D009-5BCB83787A23}"/>
                </a:ext>
              </a:extLst>
            </p:cNvPr>
            <p:cNvSpPr txBox="1"/>
            <p:nvPr/>
          </p:nvSpPr>
          <p:spPr>
            <a:xfrm>
              <a:off x="-5007966" y="7070492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9</a:t>
              </a:r>
            </a:p>
          </p:txBody>
        </p:sp>
      </p:grpSp>
      <p:sp>
        <p:nvSpPr>
          <p:cNvPr id="323" name="Rectangle">
            <a:extLst>
              <a:ext uri="{FF2B5EF4-FFF2-40B4-BE49-F238E27FC236}">
                <a16:creationId xmlns:a16="http://schemas.microsoft.com/office/drawing/2014/main" id="{F018549C-260E-8D70-2C55-259CD53E8174}"/>
              </a:ext>
            </a:extLst>
          </p:cNvPr>
          <p:cNvSpPr/>
          <p:nvPr/>
        </p:nvSpPr>
        <p:spPr>
          <a:xfrm>
            <a:off x="8672224" y="2969466"/>
            <a:ext cx="3728055" cy="8483596"/>
          </a:xfrm>
          <a:prstGeom prst="rect">
            <a:avLst/>
          </a:prstGeom>
          <a:solidFill>
            <a:schemeClr val="accent1">
              <a:lumMod val="40000"/>
              <a:lumOff val="60000"/>
              <a:alpha val="6425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24" name="Rectangle">
            <a:extLst>
              <a:ext uri="{FF2B5EF4-FFF2-40B4-BE49-F238E27FC236}">
                <a16:creationId xmlns:a16="http://schemas.microsoft.com/office/drawing/2014/main" id="{C27B58FA-A32A-8A24-B23B-44D4DFEC91D2}"/>
              </a:ext>
            </a:extLst>
          </p:cNvPr>
          <p:cNvSpPr/>
          <p:nvPr/>
        </p:nvSpPr>
        <p:spPr>
          <a:xfrm>
            <a:off x="12401398" y="2969466"/>
            <a:ext cx="4293771" cy="8483596"/>
          </a:xfrm>
          <a:prstGeom prst="rect">
            <a:avLst/>
          </a:prstGeom>
          <a:solidFill>
            <a:srgbClr val="60D937">
              <a:alpha val="4249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E5E62F8F-B13A-417B-20B9-DCBB2777290E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2522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2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2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2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3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3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6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pic>
        <p:nvPicPr>
          <p:cNvPr id="334" name="Screen Shot 2022-12-05 at 8.11.05 PM.png" descr="Screen Shot 2022-12-05 at 8.11.05 PM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215996" y="2117544"/>
            <a:ext cx="8456216" cy="10104042"/>
          </a:xfrm>
          <a:prstGeom prst="rect">
            <a:avLst/>
          </a:prstGeom>
          <a:effectLst>
            <a:outerShdw blurRad="571500" dist="152400" rotWithShape="0">
              <a:srgbClr val="000000">
                <a:alpha val="75000"/>
              </a:srgbClr>
            </a:outerShdw>
          </a:effectLst>
        </p:spPr>
      </p:pic>
      <p:pic>
        <p:nvPicPr>
          <p:cNvPr id="335" name="Screen Shot 2022-12-05 at 8.15.10 PM.png" descr="Screen Shot 2022-12-05 at 8.15.10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261" y="2458737"/>
            <a:ext cx="7864216" cy="809503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One can conclude, while loops are more flexible since…"/>
          <p:cNvSpPr txBox="1"/>
          <p:nvPr/>
        </p:nvSpPr>
        <p:spPr>
          <a:xfrm>
            <a:off x="10797323" y="10659604"/>
            <a:ext cx="12448416" cy="1764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One can conclude, </a:t>
            </a:r>
            <a:r>
              <a:rPr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</a:t>
            </a:r>
            <a:r>
              <a:t> loops are </a:t>
            </a:r>
            <a:r>
              <a:rPr u="sng"/>
              <a:t>more flexible</a:t>
            </a:r>
            <a:r>
              <a:t> since 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r>
              <a:t>one explicitly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set</a:t>
            </a:r>
            <a:r>
              <a:t> the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start</a:t>
            </a:r>
            <a:r>
              <a:t> and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end</a:t>
            </a:r>
            <a:r>
              <a:t> conditions, but 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r>
              <a:t>require </a:t>
            </a:r>
            <a:r>
              <a:rPr i="1" u="sng"/>
              <a:t>more set-up</a:t>
            </a:r>
            <a:r>
              <a:t> than </a:t>
            </a:r>
            <a:r>
              <a:rPr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for</a:t>
            </a:r>
            <a:r>
              <a:t> loops</a:t>
            </a:r>
          </a:p>
        </p:txBody>
      </p:sp>
      <p:sp>
        <p:nvSpPr>
          <p:cNvPr id="337" name="- Reproduce using while loop -"/>
          <p:cNvSpPr txBox="1"/>
          <p:nvPr/>
        </p:nvSpPr>
        <p:spPr>
          <a:xfrm>
            <a:off x="7311470" y="1371641"/>
            <a:ext cx="957770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- Reproduce using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 loop -</a:t>
            </a:r>
            <a:r>
              <a:t> 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4557CE96-344E-3770-ED54-A5D504B341E2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3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4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4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4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4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7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347" name="- More on while loop -"/>
          <p:cNvSpPr txBox="1"/>
          <p:nvPr/>
        </p:nvSpPr>
        <p:spPr>
          <a:xfrm>
            <a:off x="9271291" y="1460779"/>
            <a:ext cx="5841417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- More on while loop - </a:t>
            </a:r>
          </a:p>
        </p:txBody>
      </p:sp>
      <p:sp>
        <p:nvSpPr>
          <p:cNvPr id="348" name="while loop is frequently used when one cannot determine/know in advance how often…"/>
          <p:cNvSpPr txBox="1"/>
          <p:nvPr/>
        </p:nvSpPr>
        <p:spPr>
          <a:xfrm>
            <a:off x="2268219" y="3059403"/>
            <a:ext cx="19706337" cy="218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>
              <a:lnSpc>
                <a:spcPct val="120000"/>
              </a:lnSpc>
              <a:defRPr sz="4000">
                <a:solidFill>
                  <a:srgbClr val="FFFFFF"/>
                </a:solidFill>
              </a:defRPr>
            </a:pPr>
            <a:r>
              <a:rPr b="1"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</a:t>
            </a:r>
            <a:r>
              <a:t> loop is frequently used when one cannot d</a:t>
            </a:r>
            <a:r>
              <a:rPr u="sng"/>
              <a:t>etermine/know in advance</a:t>
            </a:r>
            <a:r>
              <a:t>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how often </a:t>
            </a:r>
          </a:p>
          <a:p>
            <a:pPr algn="just">
              <a:lnSpc>
                <a:spcPct val="120000"/>
              </a:lnSpc>
              <a:defRPr sz="4000">
                <a:solidFill>
                  <a:srgbClr val="FFFFFF"/>
                </a:solidFill>
              </a:defRPr>
            </a:pP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the loop must be executed</a:t>
            </a:r>
            <a:r>
              <a:t>, however in </a:t>
            </a:r>
            <a:r>
              <a:rPr b="1"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for</a:t>
            </a:r>
            <a:r>
              <a:t> loop,  each item repeats in pre-determined </a:t>
            </a:r>
          </a:p>
          <a:p>
            <a:pPr algn="just">
              <a:lnSpc>
                <a:spcPct val="120000"/>
              </a:lnSpc>
              <a:defRPr sz="4000">
                <a:solidFill>
                  <a:srgbClr val="FFFFFF"/>
                </a:solidFill>
              </a:defRPr>
            </a:pPr>
            <a:r>
              <a:t>range/sequence.</a:t>
            </a:r>
          </a:p>
        </p:txBody>
      </p:sp>
      <p:sp>
        <p:nvSpPr>
          <p:cNvPr id="349" name="The while loop is especially important and is used when…"/>
          <p:cNvSpPr txBox="1"/>
          <p:nvPr/>
        </p:nvSpPr>
        <p:spPr>
          <a:xfrm>
            <a:off x="2166140" y="6637744"/>
            <a:ext cx="19715131" cy="3560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>
              <a:defRPr sz="4000">
                <a:solidFill>
                  <a:srgbClr val="FFFFFF"/>
                </a:solidFill>
              </a:defRPr>
            </a:pPr>
            <a:r>
              <a:t>T</a:t>
            </a:r>
            <a:r>
              <a:rPr i="1"/>
              <a:t>he </a:t>
            </a:r>
            <a:r>
              <a:rPr b="1"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 loop</a:t>
            </a:r>
            <a:r>
              <a:rPr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 </a:t>
            </a:r>
            <a:r>
              <a:rPr i="1"/>
              <a:t>is especially important and is used when</a:t>
            </a:r>
          </a:p>
          <a:p>
            <a:pPr algn="just">
              <a:defRPr sz="3700">
                <a:solidFill>
                  <a:srgbClr val="FFFFFF"/>
                </a:solidFill>
              </a:defRPr>
            </a:pPr>
            <a:r>
              <a:rPr i="1"/>
              <a:t> </a:t>
            </a:r>
          </a:p>
          <a:p>
            <a:pPr marL="685800" lvl="1" indent="-228600" algn="just">
              <a:lnSpc>
                <a:spcPct val="150000"/>
              </a:lnSpc>
              <a:buSzPct val="58000"/>
              <a:buBlip>
                <a:blip r:embed="rId3"/>
              </a:buBlip>
              <a:defRPr sz="3800">
                <a:solidFill>
                  <a:srgbClr val="FFFFFF"/>
                </a:solidFill>
              </a:defRPr>
            </a:pPr>
            <a:r>
              <a:rPr i="1"/>
              <a:t> </a:t>
            </a:r>
            <a:r>
              <a:rPr i="1" u="sng"/>
              <a:t>Reading data from files</a:t>
            </a:r>
            <a:r>
              <a:rPr i="1"/>
              <a:t> where you do not know in advance how much data to process. </a:t>
            </a:r>
          </a:p>
          <a:p>
            <a:pPr marL="685800" lvl="1" indent="-228600" algn="just">
              <a:lnSpc>
                <a:spcPct val="150000"/>
              </a:lnSpc>
              <a:buSzPct val="58000"/>
              <a:buBlip>
                <a:blip r:embed="rId3"/>
              </a:buBlip>
              <a:defRPr sz="3800">
                <a:solidFill>
                  <a:srgbClr val="FFFFFF"/>
                </a:solidFill>
              </a:defRPr>
            </a:pPr>
            <a:r>
              <a:rPr i="1"/>
              <a:t> The </a:t>
            </a:r>
            <a:r>
              <a:rPr b="1"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while loop</a:t>
            </a:r>
            <a:r>
              <a:rPr i="1"/>
              <a:t> continue reading until there is no more data, or it terminates when the </a:t>
            </a:r>
          </a:p>
          <a:p>
            <a:pPr lvl="1" algn="just">
              <a:lnSpc>
                <a:spcPct val="150000"/>
              </a:lnSpc>
              <a:defRPr sz="3800">
                <a:solidFill>
                  <a:srgbClr val="FFFFFF"/>
                </a:solidFill>
              </a:defRPr>
            </a:pPr>
            <a:r>
              <a:rPr i="1"/>
              <a:t> desired condition is met.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ED3AC84A-AFC5-A9BC-B0D7-D7931484729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5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5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5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5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5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8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359" name="- More on while loop -"/>
          <p:cNvSpPr txBox="1"/>
          <p:nvPr/>
        </p:nvSpPr>
        <p:spPr>
          <a:xfrm>
            <a:off x="8749115" y="1330566"/>
            <a:ext cx="5483874" cy="74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-Uses of while loop - </a:t>
            </a:r>
            <a:endParaRPr dirty="0"/>
          </a:p>
        </p:txBody>
      </p:sp>
      <p:sp>
        <p:nvSpPr>
          <p:cNvPr id="360" name="Use a while loop to generate a random number between 1 and…"/>
          <p:cNvSpPr txBox="1"/>
          <p:nvPr/>
        </p:nvSpPr>
        <p:spPr>
          <a:xfrm>
            <a:off x="2238374" y="2778737"/>
            <a:ext cx="13324160" cy="958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6200"/>
              </a:lnSpc>
              <a:defRPr sz="4000">
                <a:solidFill>
                  <a:schemeClr val="accent4">
                    <a:hueOff val="-476017"/>
                    <a:lumOff val="-10042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rgbClr val="FFFFFF"/>
                </a:solidFill>
              </a:rPr>
              <a:t>Use a</a:t>
            </a:r>
            <a:r>
              <a:rPr dirty="0"/>
              <a:t> 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dirty="0"/>
              <a:t> loop </a:t>
            </a:r>
            <a:r>
              <a:rPr dirty="0">
                <a:solidFill>
                  <a:srgbClr val="FFFFFF"/>
                </a:solidFill>
              </a:rPr>
              <a:t>to generate a random number between 1 and </a:t>
            </a:r>
          </a:p>
          <a:p>
            <a:pPr algn="l" defTabSz="457200">
              <a:lnSpc>
                <a:spcPts val="6200"/>
              </a:lnSpc>
              <a:defRPr sz="4000">
                <a:solidFill>
                  <a:schemeClr val="accent4">
                    <a:hueOff val="-476017"/>
                    <a:lumOff val="-10042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rgbClr val="FFFFFF"/>
                </a:solidFill>
              </a:rPr>
              <a:t>14 until you get the number 7, print some message</a:t>
            </a:r>
            <a:r>
              <a:rPr dirty="0"/>
              <a:t>.</a:t>
            </a:r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marL="482600" indent="-482600" algn="l" defTabSz="457200">
              <a:lnSpc>
                <a:spcPct val="120000"/>
              </a:lnSpc>
              <a:buSzPct val="40000"/>
              <a:buBlip>
                <a:blip r:embed="rId3"/>
              </a:buBlip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800" dirty="0"/>
              <a:t>First condition, how many times you want to check</a:t>
            </a:r>
            <a:r>
              <a:rPr dirty="0"/>
              <a:t> </a:t>
            </a:r>
          </a:p>
          <a:p>
            <a:pPr marL="469900" indent="-469900" algn="l" defTabSz="457200">
              <a:lnSpc>
                <a:spcPct val="120000"/>
              </a:lnSpc>
              <a:buSzPct val="40000"/>
              <a:buBlip>
                <a:blip r:embed="rId3"/>
              </a:buBlip>
              <a:defRPr sz="38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Generate random number and save it to a variable</a:t>
            </a:r>
          </a:p>
          <a:p>
            <a:pPr marL="469900" indent="-469900" algn="l" defTabSz="457200">
              <a:lnSpc>
                <a:spcPct val="120000"/>
              </a:lnSpc>
              <a:buSzPct val="40000"/>
              <a:buBlip>
                <a:blip r:embed="rId3"/>
              </a:buBlip>
              <a:defRPr sz="38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Check if variable value is equal to 7, print message for </a:t>
            </a:r>
          </a:p>
          <a:p>
            <a:pPr algn="l" defTabSz="457200">
              <a:lnSpc>
                <a:spcPct val="120000"/>
              </a:lnSpc>
              <a:defRPr sz="38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   both cases (</a:t>
            </a:r>
            <a:r>
              <a:rPr dirty="0" err="1"/>
              <a:t>i</a:t>
            </a:r>
            <a:r>
              <a:rPr dirty="0"/>
              <a:t>) when generate number is 7 or </a:t>
            </a:r>
          </a:p>
          <a:p>
            <a:pPr algn="l" defTabSz="457200">
              <a:lnSpc>
                <a:spcPct val="120000"/>
              </a:lnSpc>
              <a:defRPr sz="38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                    (ii) generate number is not 7</a:t>
            </a:r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#</a:t>
            </a:r>
            <a:r>
              <a:rPr sz="4000" dirty="0"/>
              <a:t>Hint: </a:t>
            </a:r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#How to generate random number from random </a:t>
            </a:r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  </a:t>
            </a: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import </a:t>
            </a:r>
            <a:r>
              <a:rPr dirty="0" err="1">
                <a:solidFill>
                  <a:schemeClr val="accent4">
                    <a:hueOff val="-476017"/>
                    <a:lumOff val="-10042"/>
                  </a:schemeClr>
                </a:solidFill>
              </a:rPr>
              <a:t>randint</a:t>
            </a: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 </a:t>
            </a:r>
          </a:p>
          <a:p>
            <a:pPr algn="l" defTabSz="457200">
              <a:lnSpc>
                <a:spcPts val="5800"/>
              </a:lnSpc>
              <a:defRPr sz="3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  </a:t>
            </a:r>
            <a:r>
              <a:rPr dirty="0" err="1">
                <a:solidFill>
                  <a:schemeClr val="accent4">
                    <a:hueOff val="-476017"/>
                    <a:lumOff val="-10042"/>
                  </a:schemeClr>
                </a:solidFill>
              </a:rPr>
              <a:t>randint</a:t>
            </a: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(a, b) </a:t>
            </a:r>
            <a:r>
              <a:rPr dirty="0"/>
              <a:t>         # Generate random number between a, b</a:t>
            </a:r>
          </a:p>
        </p:txBody>
      </p:sp>
      <p:sp>
        <p:nvSpPr>
          <p:cNvPr id="361" name="Hands-On"/>
          <p:cNvSpPr txBox="1"/>
          <p:nvPr/>
        </p:nvSpPr>
        <p:spPr>
          <a:xfrm>
            <a:off x="2176463" y="2019598"/>
            <a:ext cx="2201622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pic>
        <p:nvPicPr>
          <p:cNvPr id="362" name="from random import randint… from random import randint i = 1  while i &lt; 30:    number = randint(1,14)    if number == 7:        print(&quot;found the number&quot;)        break    elif number != 7:        print(&quot;Please try again&quot;)    i+=1" descr="from random import randint… from random import randint i = 1  while i &lt; 30:    number = randint(1,14)    if number == 7:        print(&quot;found the number&quot;)        break    elif number != 7:        print(&quot;Please try again&quot;)    i+=1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638" y="3912436"/>
            <a:ext cx="7586472" cy="6690665"/>
          </a:xfrm>
          <a:prstGeom prst="rect">
            <a:avLst/>
          </a:prstGeom>
          <a:effectLst>
            <a:outerShdw blurRad="571500" dist="152400" rotWithShape="0">
              <a:srgbClr val="000000">
                <a:alpha val="75000"/>
              </a:srgbClr>
            </a:outerShdw>
          </a:effectLst>
        </p:spPr>
      </p:pic>
      <p:sp>
        <p:nvSpPr>
          <p:cNvPr id="2" name="09/12/2022">
            <a:extLst>
              <a:ext uri="{FF2B5EF4-FFF2-40B4-BE49-F238E27FC236}">
                <a16:creationId xmlns:a16="http://schemas.microsoft.com/office/drawing/2014/main" id="{2E721BDD-C4E0-FB98-1D01-3CFF8A1D697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" grpId="1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roup"/>
          <p:cNvGrpSpPr/>
          <p:nvPr/>
        </p:nvGrpSpPr>
        <p:grpSpPr>
          <a:xfrm>
            <a:off x="1054963" y="610608"/>
            <a:ext cx="22090721" cy="12494784"/>
            <a:chOff x="0" y="25400"/>
            <a:chExt cx="22090719" cy="12494783"/>
          </a:xfrm>
        </p:grpSpPr>
        <p:sp>
          <p:nvSpPr>
            <p:cNvPr id="392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9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9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9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9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11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400" name="- Functions -"/>
          <p:cNvSpPr txBox="1"/>
          <p:nvPr/>
        </p:nvSpPr>
        <p:spPr>
          <a:xfrm>
            <a:off x="9217185" y="1261727"/>
            <a:ext cx="4547720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dirty="0"/>
              <a:t>- </a:t>
            </a:r>
            <a:r>
              <a:rPr sz="6000" dirty="0"/>
              <a:t>Functions</a:t>
            </a:r>
            <a:r>
              <a:rPr dirty="0"/>
              <a:t> - </a:t>
            </a:r>
          </a:p>
        </p:txBody>
      </p:sp>
      <p:sp>
        <p:nvSpPr>
          <p:cNvPr id="401" name="Similar to loops, functions also allow to execute the Same Task Several Times…"/>
          <p:cNvSpPr txBox="1"/>
          <p:nvPr/>
        </p:nvSpPr>
        <p:spPr>
          <a:xfrm>
            <a:off x="2759179" y="2375503"/>
            <a:ext cx="18783988" cy="104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Similar to loops</a:t>
            </a:r>
            <a:r>
              <a:rPr dirty="0">
                <a:solidFill>
                  <a:schemeClr val="bg1"/>
                </a:solidFill>
              </a:rPr>
              <a:t>, functions also allow to execute the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ame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ask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everal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imes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6000"/>
              </a:lnSpc>
              <a:defRPr sz="38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							                                                               </a:t>
            </a:r>
            <a:r>
              <a:rPr sz="5400" dirty="0">
                <a:solidFill>
                  <a:srgbClr val="FFFFFF"/>
                </a:solidFill>
              </a:rPr>
              <a:t>D</a:t>
            </a:r>
            <a:r>
              <a:rPr dirty="0">
                <a:solidFill>
                  <a:schemeClr val="bg1"/>
                </a:solidFill>
              </a:rPr>
              <a:t>on’t </a:t>
            </a:r>
            <a:r>
              <a:rPr sz="5400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epeat </a:t>
            </a:r>
            <a:r>
              <a:rPr sz="5400" dirty="0">
                <a:solidFill>
                  <a:schemeClr val="bg1"/>
                </a:solidFill>
              </a:rPr>
              <a:t>Y</a:t>
            </a:r>
            <a:r>
              <a:rPr dirty="0">
                <a:solidFill>
                  <a:schemeClr val="bg1"/>
                </a:solidFill>
              </a:rPr>
              <a:t>ourself</a:t>
            </a:r>
            <a:r>
              <a:rPr dirty="0"/>
              <a:t> </a:t>
            </a:r>
          </a:p>
          <a:p>
            <a:pPr algn="l" defTabSz="457200">
              <a:lnSpc>
                <a:spcPts val="6800"/>
              </a:lnSpc>
              <a:defRPr sz="3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algn="l" defTabSz="457200">
              <a:lnSpc>
                <a:spcPct val="150000"/>
              </a:lnSpc>
              <a:defRPr sz="40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A function is a</a:t>
            </a:r>
            <a:r>
              <a:rPr dirty="0"/>
              <a:t> </a:t>
            </a:r>
            <a:r>
              <a:rPr i="1"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block of statements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dirty="0"/>
              <a:t> </a:t>
            </a:r>
            <a:r>
              <a:rPr u="sng" dirty="0">
                <a:solidFill>
                  <a:srgbClr val="FFFFFF"/>
                </a:solidFill>
              </a:rPr>
              <a:t>performs a particular task</a:t>
            </a:r>
            <a:r>
              <a:rPr dirty="0"/>
              <a:t>. </a:t>
            </a:r>
          </a:p>
          <a:p>
            <a:pPr marL="1080654" lvl="1" indent="-623454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Functions provide better modularity and a high degree of code reusing (avoid duplicating).</a:t>
            </a:r>
          </a:p>
          <a:p>
            <a:pPr marL="457200" lvl="1" indent="0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  </a:t>
            </a:r>
            <a:r>
              <a:rPr dirty="0">
                <a:solidFill>
                  <a:schemeClr val="bg1"/>
                </a:solidFill>
              </a:rPr>
              <a:t>Functions can be ‘abstracted’ for the other users</a:t>
            </a:r>
          </a:p>
          <a:p>
            <a:pPr algn="l" defTabSz="457200">
              <a:lnSpc>
                <a:spcPct val="150000"/>
              </a:lnSpc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  </a:t>
            </a:r>
            <a:r>
              <a:rPr dirty="0">
                <a:solidFill>
                  <a:schemeClr val="bg1"/>
                </a:solidFill>
              </a:rPr>
              <a:t>e.g. print()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Define and use the function</a:t>
            </a:r>
            <a:r>
              <a:rPr dirty="0">
                <a:solidFill>
                  <a:schemeClr val="bg1"/>
                </a:solidFill>
              </a:rPr>
              <a:t> - (difference between function - method (OOP))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Clr>
                <a:srgbClr val="000000"/>
              </a:buClr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Interacting with functions</a:t>
            </a:r>
            <a:r>
              <a:rPr dirty="0">
                <a:solidFill>
                  <a:schemeClr val="bg1"/>
                </a:solidFill>
              </a:rPr>
              <a:t> (input / output / return)</a:t>
            </a: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pic>
        <p:nvPicPr>
          <p:cNvPr id="402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551592" y="2438076"/>
            <a:ext cx="7245879" cy="2763663"/>
          </a:xfrm>
          <a:prstGeom prst="rect">
            <a:avLst/>
          </a:prstGeom>
        </p:spPr>
      </p:pic>
      <p:pic>
        <p:nvPicPr>
          <p:cNvPr id="5" name="Picture 4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4F9F5979-937D-3F0F-4E49-F1A93E883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875" y="6033940"/>
            <a:ext cx="18783988" cy="6184751"/>
          </a:xfrm>
          <a:prstGeom prst="rect">
            <a:avLst/>
          </a:prstGeom>
        </p:spPr>
      </p:pic>
      <p:sp>
        <p:nvSpPr>
          <p:cNvPr id="6" name="09/12/2022">
            <a:extLst>
              <a:ext uri="{FF2B5EF4-FFF2-40B4-BE49-F238E27FC236}">
                <a16:creationId xmlns:a16="http://schemas.microsoft.com/office/drawing/2014/main" id="{A762035F-E91C-FF9D-98C6-2F6A3C6C6C4F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" grpId="1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68F1-8D61-F2B2-958D-1EA9F2F9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roup">
            <a:extLst>
              <a:ext uri="{FF2B5EF4-FFF2-40B4-BE49-F238E27FC236}">
                <a16:creationId xmlns:a16="http://schemas.microsoft.com/office/drawing/2014/main" id="{FC7F941B-E685-A67D-BD92-E48157AE1A9D}"/>
              </a:ext>
            </a:extLst>
          </p:cNvPr>
          <p:cNvGrpSpPr/>
          <p:nvPr/>
        </p:nvGrpSpPr>
        <p:grpSpPr>
          <a:xfrm>
            <a:off x="1054963" y="610608"/>
            <a:ext cx="22090721" cy="12494784"/>
            <a:chOff x="0" y="25400"/>
            <a:chExt cx="22090719" cy="12494783"/>
          </a:xfrm>
        </p:grpSpPr>
        <p:sp>
          <p:nvSpPr>
            <p:cNvPr id="392" name="8">
              <a:extLst>
                <a:ext uri="{FF2B5EF4-FFF2-40B4-BE49-F238E27FC236}">
                  <a16:creationId xmlns:a16="http://schemas.microsoft.com/office/drawing/2014/main" id="{3A91BC9D-2F7C-A982-5794-26C63E6ADE0C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93" name="Shape">
              <a:extLst>
                <a:ext uri="{FF2B5EF4-FFF2-40B4-BE49-F238E27FC236}">
                  <a16:creationId xmlns:a16="http://schemas.microsoft.com/office/drawing/2014/main" id="{F413686D-4C81-63A2-8667-8040E4F40680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95" name="S. Sharma, UJ">
            <a:extLst>
              <a:ext uri="{FF2B5EF4-FFF2-40B4-BE49-F238E27FC236}">
                <a16:creationId xmlns:a16="http://schemas.microsoft.com/office/drawing/2014/main" id="{BF59D149-64A3-3A9B-3118-A270CBD87F46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96" name="Python for beginners">
            <a:extLst>
              <a:ext uri="{FF2B5EF4-FFF2-40B4-BE49-F238E27FC236}">
                <a16:creationId xmlns:a16="http://schemas.microsoft.com/office/drawing/2014/main" id="{141337A7-C948-5104-76DF-168249B8D5D8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97" name="Picture 3" descr="Picture 3">
            <a:extLst>
              <a:ext uri="{FF2B5EF4-FFF2-40B4-BE49-F238E27FC236}">
                <a16:creationId xmlns:a16="http://schemas.microsoft.com/office/drawing/2014/main" id="{C05FB38A-766D-4664-2E7D-42493E9E328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11">
            <a:extLst>
              <a:ext uri="{FF2B5EF4-FFF2-40B4-BE49-F238E27FC236}">
                <a16:creationId xmlns:a16="http://schemas.microsoft.com/office/drawing/2014/main" id="{9521245A-ECAA-5A72-7847-D8E1DE835E71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400" name="- Functions -">
            <a:extLst>
              <a:ext uri="{FF2B5EF4-FFF2-40B4-BE49-F238E27FC236}">
                <a16:creationId xmlns:a16="http://schemas.microsoft.com/office/drawing/2014/main" id="{E249A40C-3CA0-55AE-4518-541466D097DC}"/>
              </a:ext>
            </a:extLst>
          </p:cNvPr>
          <p:cNvSpPr txBox="1"/>
          <p:nvPr/>
        </p:nvSpPr>
        <p:spPr>
          <a:xfrm>
            <a:off x="9217185" y="1261727"/>
            <a:ext cx="4547720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dirty="0"/>
              <a:t>- </a:t>
            </a:r>
            <a:r>
              <a:rPr sz="6000" dirty="0"/>
              <a:t>Functions</a:t>
            </a:r>
            <a:r>
              <a:rPr dirty="0"/>
              <a:t> - </a:t>
            </a:r>
          </a:p>
        </p:txBody>
      </p:sp>
      <p:sp>
        <p:nvSpPr>
          <p:cNvPr id="401" name="Similar to loops, functions also allow to execute the Same Task Several Times…">
            <a:extLst>
              <a:ext uri="{FF2B5EF4-FFF2-40B4-BE49-F238E27FC236}">
                <a16:creationId xmlns:a16="http://schemas.microsoft.com/office/drawing/2014/main" id="{8454A312-DD85-D43B-8215-10157DB6F6A7}"/>
              </a:ext>
            </a:extLst>
          </p:cNvPr>
          <p:cNvSpPr txBox="1"/>
          <p:nvPr/>
        </p:nvSpPr>
        <p:spPr>
          <a:xfrm>
            <a:off x="2759179" y="2375503"/>
            <a:ext cx="18783988" cy="104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Similar to loops</a:t>
            </a:r>
            <a:r>
              <a:rPr dirty="0">
                <a:solidFill>
                  <a:schemeClr val="bg1"/>
                </a:solidFill>
              </a:rPr>
              <a:t>, functions also allow to execute the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ame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ask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everal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imes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6000"/>
              </a:lnSpc>
              <a:defRPr sz="38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							                                                               </a:t>
            </a:r>
            <a:r>
              <a:rPr sz="5400" dirty="0">
                <a:solidFill>
                  <a:srgbClr val="FFFFFF"/>
                </a:solidFill>
              </a:rPr>
              <a:t>D</a:t>
            </a:r>
            <a:r>
              <a:rPr dirty="0">
                <a:solidFill>
                  <a:schemeClr val="bg1"/>
                </a:solidFill>
              </a:rPr>
              <a:t>on’t </a:t>
            </a:r>
            <a:r>
              <a:rPr sz="5400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epeat </a:t>
            </a:r>
            <a:r>
              <a:rPr sz="5400" dirty="0">
                <a:solidFill>
                  <a:schemeClr val="bg1"/>
                </a:solidFill>
              </a:rPr>
              <a:t>Y</a:t>
            </a:r>
            <a:r>
              <a:rPr dirty="0">
                <a:solidFill>
                  <a:schemeClr val="bg1"/>
                </a:solidFill>
              </a:rPr>
              <a:t>ourself</a:t>
            </a:r>
            <a:r>
              <a:rPr dirty="0"/>
              <a:t> </a:t>
            </a:r>
          </a:p>
          <a:p>
            <a:pPr algn="l" defTabSz="457200">
              <a:lnSpc>
                <a:spcPts val="6800"/>
              </a:lnSpc>
              <a:defRPr sz="3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algn="l" defTabSz="457200">
              <a:lnSpc>
                <a:spcPct val="150000"/>
              </a:lnSpc>
              <a:defRPr sz="40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A function is a</a:t>
            </a:r>
            <a:r>
              <a:rPr dirty="0"/>
              <a:t> </a:t>
            </a:r>
            <a:r>
              <a:rPr i="1"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block of statements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dirty="0"/>
              <a:t> </a:t>
            </a:r>
            <a:r>
              <a:rPr u="sng" dirty="0">
                <a:solidFill>
                  <a:srgbClr val="FFFFFF"/>
                </a:solidFill>
              </a:rPr>
              <a:t>performs a particular task</a:t>
            </a:r>
            <a:r>
              <a:rPr dirty="0"/>
              <a:t>. </a:t>
            </a:r>
          </a:p>
          <a:p>
            <a:pPr marL="1080654" lvl="1" indent="-623454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Functions provide </a:t>
            </a:r>
            <a:r>
              <a:rPr b="1" dirty="0">
                <a:solidFill>
                  <a:schemeClr val="bg1"/>
                </a:solidFill>
              </a:rPr>
              <a:t>better modularity </a:t>
            </a:r>
            <a:r>
              <a:rPr dirty="0">
                <a:solidFill>
                  <a:schemeClr val="bg1"/>
                </a:solidFill>
              </a:rPr>
              <a:t>and a </a:t>
            </a:r>
            <a:r>
              <a:rPr b="1" dirty="0">
                <a:solidFill>
                  <a:schemeClr val="bg1"/>
                </a:solidFill>
              </a:rPr>
              <a:t>high degree of code reusing </a:t>
            </a:r>
            <a:r>
              <a:rPr dirty="0">
                <a:solidFill>
                  <a:schemeClr val="bg1"/>
                </a:solidFill>
              </a:rPr>
              <a:t>(avoid duplicating).</a:t>
            </a:r>
          </a:p>
          <a:p>
            <a:pPr marL="457200" lvl="1" indent="0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  </a:t>
            </a:r>
            <a:r>
              <a:rPr dirty="0">
                <a:solidFill>
                  <a:schemeClr val="bg1"/>
                </a:solidFill>
              </a:rPr>
              <a:t>Functions can be ‘abstracted’ for the other users</a:t>
            </a:r>
          </a:p>
          <a:p>
            <a:pPr algn="l" defTabSz="457200">
              <a:lnSpc>
                <a:spcPct val="150000"/>
              </a:lnSpc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  </a:t>
            </a:r>
            <a:r>
              <a:rPr dirty="0">
                <a:solidFill>
                  <a:schemeClr val="bg1"/>
                </a:solidFill>
              </a:rPr>
              <a:t>e.g. print()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Define and use the function</a:t>
            </a:r>
            <a:r>
              <a:rPr dirty="0">
                <a:solidFill>
                  <a:schemeClr val="bg1"/>
                </a:solidFill>
              </a:rPr>
              <a:t> - (difference between function - method (OOP))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Clr>
                <a:srgbClr val="000000"/>
              </a:buClr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Interacting with functions</a:t>
            </a:r>
            <a:r>
              <a:rPr dirty="0">
                <a:solidFill>
                  <a:schemeClr val="bg1"/>
                </a:solidFill>
              </a:rPr>
              <a:t> (input / output / return)</a:t>
            </a: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pic>
        <p:nvPicPr>
          <p:cNvPr id="402" name="Rectangle Rectangle" descr="Rectangle Rectangle">
            <a:extLst>
              <a:ext uri="{FF2B5EF4-FFF2-40B4-BE49-F238E27FC236}">
                <a16:creationId xmlns:a16="http://schemas.microsoft.com/office/drawing/2014/main" id="{B6CCB7F7-6574-1918-8A29-2503323EE86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551592" y="2438076"/>
            <a:ext cx="7245879" cy="2763663"/>
          </a:xfrm>
          <a:prstGeom prst="rect">
            <a:avLst/>
          </a:prstGeom>
        </p:spPr>
      </p:pic>
      <p:pic>
        <p:nvPicPr>
          <p:cNvPr id="5" name="Picture 4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E367290E-C94C-EF1A-97E1-9601250B7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875" y="9850582"/>
            <a:ext cx="18783988" cy="2368109"/>
          </a:xfrm>
          <a:prstGeom prst="rect">
            <a:avLst/>
          </a:prstGeom>
        </p:spPr>
      </p:pic>
      <p:sp>
        <p:nvSpPr>
          <p:cNvPr id="2" name="09/12/2022">
            <a:extLst>
              <a:ext uri="{FF2B5EF4-FFF2-40B4-BE49-F238E27FC236}">
                <a16:creationId xmlns:a16="http://schemas.microsoft.com/office/drawing/2014/main" id="{C20E88E6-084F-2CDB-F4D3-4239149E62C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526656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BFF3-88D5-BD36-DBF4-F64C5090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roup">
            <a:extLst>
              <a:ext uri="{FF2B5EF4-FFF2-40B4-BE49-F238E27FC236}">
                <a16:creationId xmlns:a16="http://schemas.microsoft.com/office/drawing/2014/main" id="{A846CE04-D239-F8DE-FB10-2ABDB7ED2E3E}"/>
              </a:ext>
            </a:extLst>
          </p:cNvPr>
          <p:cNvGrpSpPr/>
          <p:nvPr/>
        </p:nvGrpSpPr>
        <p:grpSpPr>
          <a:xfrm>
            <a:off x="1054963" y="610608"/>
            <a:ext cx="22090721" cy="12494784"/>
            <a:chOff x="0" y="25400"/>
            <a:chExt cx="22090719" cy="12494783"/>
          </a:xfrm>
        </p:grpSpPr>
        <p:sp>
          <p:nvSpPr>
            <p:cNvPr id="392" name="8">
              <a:extLst>
                <a:ext uri="{FF2B5EF4-FFF2-40B4-BE49-F238E27FC236}">
                  <a16:creationId xmlns:a16="http://schemas.microsoft.com/office/drawing/2014/main" id="{FD874EDB-869B-CEE5-6DEE-9D51480C47A7}"/>
                </a:ext>
              </a:extLst>
            </p:cNvPr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93" name="Shape">
              <a:extLst>
                <a:ext uri="{FF2B5EF4-FFF2-40B4-BE49-F238E27FC236}">
                  <a16:creationId xmlns:a16="http://schemas.microsoft.com/office/drawing/2014/main" id="{8335B726-BD55-D0C0-D4E4-716287D499B3}"/>
                </a:ext>
              </a:extLst>
            </p:cNvPr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95" name="S. Sharma, UJ">
            <a:extLst>
              <a:ext uri="{FF2B5EF4-FFF2-40B4-BE49-F238E27FC236}">
                <a16:creationId xmlns:a16="http://schemas.microsoft.com/office/drawing/2014/main" id="{BC24BEA6-D049-6927-3F65-C5D3D9EBE2C0}"/>
              </a:ext>
            </a:extLst>
          </p:cNvPr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96" name="Python for beginners">
            <a:extLst>
              <a:ext uri="{FF2B5EF4-FFF2-40B4-BE49-F238E27FC236}">
                <a16:creationId xmlns:a16="http://schemas.microsoft.com/office/drawing/2014/main" id="{1548FEA0-53E1-9813-51D6-DD25E3D3EC77}"/>
              </a:ext>
            </a:extLst>
          </p:cNvPr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97" name="Picture 3" descr="Picture 3">
            <a:extLst>
              <a:ext uri="{FF2B5EF4-FFF2-40B4-BE49-F238E27FC236}">
                <a16:creationId xmlns:a16="http://schemas.microsoft.com/office/drawing/2014/main" id="{62F32E77-4092-9204-A4B1-C88912DA7A3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11">
            <a:extLst>
              <a:ext uri="{FF2B5EF4-FFF2-40B4-BE49-F238E27FC236}">
                <a16:creationId xmlns:a16="http://schemas.microsoft.com/office/drawing/2014/main" id="{9FBCFBF3-C693-B363-1B68-A22B6CC755DD}"/>
              </a:ext>
            </a:extLst>
          </p:cNvPr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endParaRPr dirty="0"/>
          </a:p>
        </p:txBody>
      </p:sp>
      <p:sp>
        <p:nvSpPr>
          <p:cNvPr id="400" name="- Functions -">
            <a:extLst>
              <a:ext uri="{FF2B5EF4-FFF2-40B4-BE49-F238E27FC236}">
                <a16:creationId xmlns:a16="http://schemas.microsoft.com/office/drawing/2014/main" id="{F1222EA7-1B3A-E579-A115-7174A1D53289}"/>
              </a:ext>
            </a:extLst>
          </p:cNvPr>
          <p:cNvSpPr txBox="1"/>
          <p:nvPr/>
        </p:nvSpPr>
        <p:spPr>
          <a:xfrm>
            <a:off x="9026427" y="1261727"/>
            <a:ext cx="492923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sz="6000" dirty="0"/>
              <a:t>- Functions - </a:t>
            </a:r>
          </a:p>
        </p:txBody>
      </p:sp>
      <p:sp>
        <p:nvSpPr>
          <p:cNvPr id="401" name="Similar to loops, functions also allow to execute the Same Task Several Times…">
            <a:extLst>
              <a:ext uri="{FF2B5EF4-FFF2-40B4-BE49-F238E27FC236}">
                <a16:creationId xmlns:a16="http://schemas.microsoft.com/office/drawing/2014/main" id="{56CB431D-0224-A19B-0AF5-90AC98C0AF10}"/>
              </a:ext>
            </a:extLst>
          </p:cNvPr>
          <p:cNvSpPr txBox="1"/>
          <p:nvPr/>
        </p:nvSpPr>
        <p:spPr>
          <a:xfrm>
            <a:off x="2759179" y="2375503"/>
            <a:ext cx="18783988" cy="104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Similar to loops</a:t>
            </a:r>
            <a:r>
              <a:rPr dirty="0">
                <a:solidFill>
                  <a:schemeClr val="bg1"/>
                </a:solidFill>
              </a:rPr>
              <a:t>, functions also allow to execute the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ame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ask </a:t>
            </a:r>
            <a:r>
              <a:rPr sz="6000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everal </a:t>
            </a:r>
            <a:r>
              <a:rPr sz="60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imes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6000"/>
              </a:lnSpc>
              <a:defRPr sz="38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7000"/>
              </a:lnSpc>
              <a:defRPr sz="40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							                                                               </a:t>
            </a:r>
            <a:r>
              <a:rPr sz="5400" dirty="0">
                <a:solidFill>
                  <a:srgbClr val="FFFFFF"/>
                </a:solidFill>
              </a:rPr>
              <a:t>D</a:t>
            </a:r>
            <a:r>
              <a:rPr dirty="0">
                <a:solidFill>
                  <a:schemeClr val="bg1"/>
                </a:solidFill>
              </a:rPr>
              <a:t>on’t </a:t>
            </a:r>
            <a:r>
              <a:rPr sz="5400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epeat </a:t>
            </a:r>
            <a:r>
              <a:rPr sz="5400" dirty="0">
                <a:solidFill>
                  <a:schemeClr val="bg1"/>
                </a:solidFill>
              </a:rPr>
              <a:t>Y</a:t>
            </a:r>
            <a:r>
              <a:rPr dirty="0">
                <a:solidFill>
                  <a:schemeClr val="bg1"/>
                </a:solidFill>
              </a:rPr>
              <a:t>ourself</a:t>
            </a:r>
            <a:r>
              <a:rPr dirty="0"/>
              <a:t> </a:t>
            </a:r>
          </a:p>
          <a:p>
            <a:pPr algn="l" defTabSz="457200">
              <a:lnSpc>
                <a:spcPts val="6800"/>
              </a:lnSpc>
              <a:defRPr sz="38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algn="l" defTabSz="457200">
              <a:lnSpc>
                <a:spcPct val="150000"/>
              </a:lnSpc>
              <a:defRPr sz="406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A function is a</a:t>
            </a:r>
            <a:r>
              <a:rPr dirty="0"/>
              <a:t> </a:t>
            </a:r>
            <a:r>
              <a:rPr i="1" dirty="0">
                <a:solidFill>
                  <a:schemeClr val="accent4">
                    <a:hueOff val="-476017"/>
                    <a:lumOff val="-10042"/>
                  </a:schemeClr>
                </a:solidFill>
              </a:rPr>
              <a:t>block of statements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dirty="0"/>
              <a:t> </a:t>
            </a:r>
            <a:r>
              <a:rPr u="sng" dirty="0">
                <a:solidFill>
                  <a:srgbClr val="FFFFFF"/>
                </a:solidFill>
              </a:rPr>
              <a:t>performs a particular task</a:t>
            </a:r>
            <a:r>
              <a:rPr dirty="0"/>
              <a:t>. </a:t>
            </a:r>
          </a:p>
          <a:p>
            <a:pPr marL="1080654" lvl="1" indent="-623454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solidFill>
                  <a:schemeClr val="bg1"/>
                </a:solidFill>
              </a:rPr>
              <a:t>Functions provide better modularity and a high degree of code reusing (avoid duplicating).</a:t>
            </a:r>
          </a:p>
          <a:p>
            <a:pPr marL="457200" lvl="1" indent="0" algn="l" defTabSz="457200">
              <a:lnSpc>
                <a:spcPct val="150000"/>
              </a:lnSpc>
              <a:buSzPct val="80000"/>
              <a:buBlip>
                <a:blip r:embed="rId3"/>
              </a:buBlip>
              <a:defRPr sz="3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  </a:t>
            </a:r>
            <a:r>
              <a:rPr dirty="0">
                <a:solidFill>
                  <a:schemeClr val="bg1"/>
                </a:solidFill>
              </a:rPr>
              <a:t>Functions can be ‘abstracted’ for the other users</a:t>
            </a:r>
          </a:p>
          <a:p>
            <a:pPr algn="l" defTabSz="457200">
              <a:lnSpc>
                <a:spcPct val="150000"/>
              </a:lnSpc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  </a:t>
            </a:r>
            <a:r>
              <a:rPr dirty="0">
                <a:solidFill>
                  <a:schemeClr val="bg1"/>
                </a:solidFill>
              </a:rPr>
              <a:t>e.g. print()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Define and use the function</a:t>
            </a:r>
            <a:r>
              <a:rPr dirty="0">
                <a:solidFill>
                  <a:schemeClr val="bg1"/>
                </a:solidFill>
              </a:rPr>
              <a:t> - (difference between function - method (OOP))</a:t>
            </a:r>
            <a:endParaRPr dirty="0">
              <a:solidFill>
                <a:schemeClr val="bg1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1143000" lvl="2" indent="-228600" algn="l" defTabSz="457200">
              <a:lnSpc>
                <a:spcPts val="6700"/>
              </a:lnSpc>
              <a:buClr>
                <a:srgbClr val="000000"/>
              </a:buClr>
              <a:buSzPct val="57000"/>
              <a:buBlip>
                <a:blip r:embed="rId4"/>
              </a:buBlip>
              <a:defRPr sz="37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u="sng" dirty="0">
                <a:solidFill>
                  <a:schemeClr val="bg1"/>
                </a:solidFill>
              </a:rPr>
              <a:t>Interacting with functions</a:t>
            </a:r>
            <a:r>
              <a:rPr dirty="0">
                <a:solidFill>
                  <a:schemeClr val="bg1"/>
                </a:solidFill>
              </a:rPr>
              <a:t> (input / output / return)</a:t>
            </a:r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l" defTabSz="457200">
              <a:lnSpc>
                <a:spcPts val="2800"/>
              </a:lnSpc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pic>
        <p:nvPicPr>
          <p:cNvPr id="402" name="Rectangle Rectangle" descr="Rectangle Rectangle">
            <a:extLst>
              <a:ext uri="{FF2B5EF4-FFF2-40B4-BE49-F238E27FC236}">
                <a16:creationId xmlns:a16="http://schemas.microsoft.com/office/drawing/2014/main" id="{E6340FBE-A6C4-73D2-4E65-6D3F1151831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551592" y="2438076"/>
            <a:ext cx="7245879" cy="2763663"/>
          </a:xfrm>
          <a:prstGeom prst="rect">
            <a:avLst/>
          </a:prstGeom>
        </p:spPr>
      </p:pic>
      <p:sp>
        <p:nvSpPr>
          <p:cNvPr id="2" name="09/12/2022">
            <a:extLst>
              <a:ext uri="{FF2B5EF4-FFF2-40B4-BE49-F238E27FC236}">
                <a16:creationId xmlns:a16="http://schemas.microsoft.com/office/drawing/2014/main" id="{A7EB7940-A9C1-811A-F413-6A0D1F05DEE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312018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05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06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08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09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10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3" name="Syntax"/>
          <p:cNvSpPr txBox="1"/>
          <p:nvPr/>
        </p:nvSpPr>
        <p:spPr>
          <a:xfrm>
            <a:off x="2499868" y="2398252"/>
            <a:ext cx="1670204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 u="sng">
                <a:solidFill>
                  <a:srgbClr val="FFFFFF"/>
                </a:solidFill>
              </a:defRPr>
            </a:lvl1pPr>
          </a:lstStyle>
          <a:p>
            <a:r>
              <a:t>Syntax</a:t>
            </a:r>
          </a:p>
        </p:txBody>
      </p:sp>
      <p:sp>
        <p:nvSpPr>
          <p:cNvPr id="414" name="def functionName ( ):…"/>
          <p:cNvSpPr txBox="1"/>
          <p:nvPr/>
        </p:nvSpPr>
        <p:spPr>
          <a:xfrm>
            <a:off x="4057462" y="4783307"/>
            <a:ext cx="4894073" cy="253034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 b="1">
                <a:solidFill>
                  <a:schemeClr val="accent4">
                    <a:hueOff val="-476017"/>
                    <a:lumOff val="-10042"/>
                  </a:schemeClr>
                </a:solidFill>
              </a:rPr>
              <a:t>def</a:t>
            </a:r>
            <a:r>
              <a:t> functionName ( ):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t>   function body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return</a:t>
            </a:r>
            <a:r>
              <a:t> result</a:t>
            </a:r>
          </a:p>
        </p:txBody>
      </p:sp>
      <p:sp>
        <p:nvSpPr>
          <p:cNvPr id="415" name="- Define the function -"/>
          <p:cNvSpPr txBox="1"/>
          <p:nvPr/>
        </p:nvSpPr>
        <p:spPr>
          <a:xfrm>
            <a:off x="8878207" y="1400770"/>
            <a:ext cx="6189194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- Define the function -</a:t>
            </a:r>
          </a:p>
        </p:txBody>
      </p:sp>
      <p:sp>
        <p:nvSpPr>
          <p:cNvPr id="416" name="Parenthesis"/>
          <p:cNvSpPr/>
          <p:nvPr/>
        </p:nvSpPr>
        <p:spPr>
          <a:xfrm>
            <a:off x="8639545" y="3703537"/>
            <a:ext cx="3592184" cy="812801"/>
          </a:xfrm>
          <a:prstGeom prst="wedgeEllipseCallout">
            <a:avLst>
              <a:gd name="adj1" fmla="val -39794"/>
              <a:gd name="adj2" fmla="val 8175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Parenthesis</a:t>
            </a:r>
          </a:p>
        </p:txBody>
      </p:sp>
      <p:sp>
        <p:nvSpPr>
          <p:cNvPr id="417" name="Function name"/>
          <p:cNvSpPr/>
          <p:nvPr/>
        </p:nvSpPr>
        <p:spPr>
          <a:xfrm>
            <a:off x="4993271" y="3109733"/>
            <a:ext cx="3224509" cy="1325047"/>
          </a:xfrm>
          <a:prstGeom prst="wedgeEllipseCallout">
            <a:avLst>
              <a:gd name="adj1" fmla="val 35"/>
              <a:gd name="adj2" fmla="val 7172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Function name</a:t>
            </a:r>
          </a:p>
        </p:txBody>
      </p:sp>
      <p:sp>
        <p:nvSpPr>
          <p:cNvPr id="418" name="Keyword"/>
          <p:cNvSpPr/>
          <p:nvPr/>
        </p:nvSpPr>
        <p:spPr>
          <a:xfrm>
            <a:off x="2033418" y="3662658"/>
            <a:ext cx="2603043" cy="812801"/>
          </a:xfrm>
          <a:prstGeom prst="wedgeEllipseCallout">
            <a:avLst>
              <a:gd name="adj1" fmla="val 27435"/>
              <a:gd name="adj2" fmla="val 8529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Keyword</a:t>
            </a:r>
          </a:p>
        </p:txBody>
      </p:sp>
      <p:pic>
        <p:nvPicPr>
          <p:cNvPr id="419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74447" y="4750946"/>
            <a:ext cx="1150986" cy="776444"/>
          </a:xfrm>
          <a:prstGeom prst="rect">
            <a:avLst/>
          </a:prstGeom>
        </p:spPr>
      </p:pic>
      <p:pic>
        <p:nvPicPr>
          <p:cNvPr id="421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63761" y="4750946"/>
            <a:ext cx="3224458" cy="761342"/>
          </a:xfrm>
          <a:prstGeom prst="rect">
            <a:avLst/>
          </a:prstGeom>
        </p:spPr>
      </p:pic>
      <p:pic>
        <p:nvPicPr>
          <p:cNvPr id="423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326547" y="4758497"/>
            <a:ext cx="779081" cy="761342"/>
          </a:xfrm>
          <a:prstGeom prst="rect">
            <a:avLst/>
          </a:prstGeom>
        </p:spPr>
      </p:pic>
      <p:sp>
        <p:nvSpPr>
          <p:cNvPr id="2" name="09/12/2022">
            <a:extLst>
              <a:ext uri="{FF2B5EF4-FFF2-40B4-BE49-F238E27FC236}">
                <a16:creationId xmlns:a16="http://schemas.microsoft.com/office/drawing/2014/main" id="{8890305A-4669-45D5-DD57-1F4FB857F1D8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" grpId="1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2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2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3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3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3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5" name="Syntax"/>
          <p:cNvSpPr txBox="1"/>
          <p:nvPr/>
        </p:nvSpPr>
        <p:spPr>
          <a:xfrm>
            <a:off x="2499868" y="2398252"/>
            <a:ext cx="1670204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 u="sng">
                <a:solidFill>
                  <a:srgbClr val="FFFFFF"/>
                </a:solidFill>
              </a:defRPr>
            </a:lvl1pPr>
          </a:lstStyle>
          <a:p>
            <a:r>
              <a:t>Syntax</a:t>
            </a:r>
          </a:p>
        </p:txBody>
      </p:sp>
      <p:sp>
        <p:nvSpPr>
          <p:cNvPr id="436" name="- Define the function -"/>
          <p:cNvSpPr txBox="1"/>
          <p:nvPr/>
        </p:nvSpPr>
        <p:spPr>
          <a:xfrm>
            <a:off x="8878207" y="1400770"/>
            <a:ext cx="6189194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- Define the function -</a:t>
            </a:r>
          </a:p>
        </p:txBody>
      </p:sp>
      <p:sp>
        <p:nvSpPr>
          <p:cNvPr id="437" name="def sum( ):…"/>
          <p:cNvSpPr txBox="1"/>
          <p:nvPr/>
        </p:nvSpPr>
        <p:spPr>
          <a:xfrm>
            <a:off x="12390763" y="4339616"/>
            <a:ext cx="8818945" cy="678357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101600" dist="262857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endParaRPr dirty="0"/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def </a:t>
            </a:r>
            <a:r>
              <a:rPr dirty="0">
                <a:solidFill>
                  <a:srgbClr val="FFFFFF"/>
                </a:solidFill>
              </a:rPr>
              <a:t>sum( ):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 </a:t>
            </a:r>
            <a:r>
              <a:rPr dirty="0">
                <a:solidFill>
                  <a:srgbClr val="FFFFFF"/>
                </a:solidFill>
              </a:rPr>
              <a:t>result = 10 + 25</a:t>
            </a:r>
          </a:p>
          <a:p>
            <a:pPr algn="l">
              <a:lnSpc>
                <a:spcPct val="200000"/>
              </a:lnSpc>
              <a:defRPr sz="3500">
                <a:solidFill>
                  <a:srgbClr val="FFFFFF"/>
                </a:solidFill>
              </a:defRPr>
            </a:pPr>
            <a:r>
              <a:rPr dirty="0"/>
              <a:t>     print("Value which will return is = ",result)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 return </a:t>
            </a:r>
            <a:r>
              <a:rPr dirty="0">
                <a:solidFill>
                  <a:srgbClr val="FFFFFF"/>
                </a:solidFill>
              </a:rPr>
              <a:t>result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</a:t>
            </a:r>
            <a:r>
              <a:rPr dirty="0">
                <a:solidFill>
                  <a:srgbClr val="FFFFFF"/>
                </a:solidFill>
              </a:rPr>
              <a:t>sum( )</a:t>
            </a:r>
          </a:p>
        </p:txBody>
      </p:sp>
      <p:sp>
        <p:nvSpPr>
          <p:cNvPr id="439" name="def functionName ( ):…"/>
          <p:cNvSpPr txBox="1"/>
          <p:nvPr/>
        </p:nvSpPr>
        <p:spPr>
          <a:xfrm>
            <a:off x="4057462" y="4783307"/>
            <a:ext cx="4894073" cy="253034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 b="1">
                <a:solidFill>
                  <a:schemeClr val="accent4">
                    <a:hueOff val="-476017"/>
                    <a:lumOff val="-10042"/>
                  </a:schemeClr>
                </a:solidFill>
              </a:rPr>
              <a:t>def</a:t>
            </a:r>
            <a:r>
              <a:t> functionName ( ):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t>   function body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return</a:t>
            </a:r>
            <a:r>
              <a:t> result</a:t>
            </a:r>
          </a:p>
        </p:txBody>
      </p:sp>
      <p:sp>
        <p:nvSpPr>
          <p:cNvPr id="440" name="Parenthesis"/>
          <p:cNvSpPr/>
          <p:nvPr/>
        </p:nvSpPr>
        <p:spPr>
          <a:xfrm>
            <a:off x="8639545" y="3703537"/>
            <a:ext cx="3592184" cy="812801"/>
          </a:xfrm>
          <a:prstGeom prst="wedgeEllipseCallout">
            <a:avLst>
              <a:gd name="adj1" fmla="val -39794"/>
              <a:gd name="adj2" fmla="val 8175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Parenthesis</a:t>
            </a:r>
          </a:p>
        </p:txBody>
      </p:sp>
      <p:sp>
        <p:nvSpPr>
          <p:cNvPr id="441" name="Function name"/>
          <p:cNvSpPr/>
          <p:nvPr/>
        </p:nvSpPr>
        <p:spPr>
          <a:xfrm>
            <a:off x="4993271" y="3109733"/>
            <a:ext cx="3224509" cy="1325047"/>
          </a:xfrm>
          <a:prstGeom prst="wedgeEllipseCallout">
            <a:avLst>
              <a:gd name="adj1" fmla="val 35"/>
              <a:gd name="adj2" fmla="val 7172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Function name</a:t>
            </a:r>
          </a:p>
        </p:txBody>
      </p:sp>
      <p:sp>
        <p:nvSpPr>
          <p:cNvPr id="442" name="Keyword"/>
          <p:cNvSpPr/>
          <p:nvPr/>
        </p:nvSpPr>
        <p:spPr>
          <a:xfrm>
            <a:off x="2033418" y="3662658"/>
            <a:ext cx="2603043" cy="812801"/>
          </a:xfrm>
          <a:prstGeom prst="wedgeEllipseCallout">
            <a:avLst>
              <a:gd name="adj1" fmla="val 27435"/>
              <a:gd name="adj2" fmla="val 8529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Keyword</a:t>
            </a:r>
          </a:p>
        </p:txBody>
      </p:sp>
      <p:pic>
        <p:nvPicPr>
          <p:cNvPr id="443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74447" y="4750946"/>
            <a:ext cx="1150986" cy="776444"/>
          </a:xfrm>
          <a:prstGeom prst="rect">
            <a:avLst/>
          </a:prstGeom>
        </p:spPr>
      </p:pic>
      <p:pic>
        <p:nvPicPr>
          <p:cNvPr id="445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63761" y="4750946"/>
            <a:ext cx="3224458" cy="761342"/>
          </a:xfrm>
          <a:prstGeom prst="rect">
            <a:avLst/>
          </a:prstGeom>
        </p:spPr>
      </p:pic>
      <p:pic>
        <p:nvPicPr>
          <p:cNvPr id="447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326547" y="4758497"/>
            <a:ext cx="779081" cy="761342"/>
          </a:xfrm>
          <a:prstGeom prst="rect">
            <a:avLst/>
          </a:prstGeom>
        </p:spPr>
      </p:pic>
      <p:sp>
        <p:nvSpPr>
          <p:cNvPr id="2" name="09/12/2022">
            <a:extLst>
              <a:ext uri="{FF2B5EF4-FFF2-40B4-BE49-F238E27FC236}">
                <a16:creationId xmlns:a16="http://schemas.microsoft.com/office/drawing/2014/main" id="{7250328E-1686-A48B-B0D8-F29DEBBC6F1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07CB5D-BE1F-09F3-00E8-02B74B93C10D}"/>
              </a:ext>
            </a:extLst>
          </p:cNvPr>
          <p:cNvCxnSpPr/>
          <p:nvPr/>
        </p:nvCxnSpPr>
        <p:spPr>
          <a:xfrm>
            <a:off x="12390763" y="10058400"/>
            <a:ext cx="5360524" cy="0"/>
          </a:xfrm>
          <a:prstGeom prst="line">
            <a:avLst/>
          </a:prstGeom>
          <a:noFill/>
          <a:ln w="25400" cap="flat">
            <a:solidFill>
              <a:srgbClr val="FFFF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" grpId="1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50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51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53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54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55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8" name="Syntax"/>
          <p:cNvSpPr txBox="1"/>
          <p:nvPr/>
        </p:nvSpPr>
        <p:spPr>
          <a:xfrm>
            <a:off x="3893067" y="6522099"/>
            <a:ext cx="1670204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 u="sng">
                <a:solidFill>
                  <a:srgbClr val="FFFFFF"/>
                </a:solidFill>
              </a:defRPr>
            </a:lvl1pPr>
          </a:lstStyle>
          <a:p>
            <a:r>
              <a:t>Syntax</a:t>
            </a:r>
          </a:p>
        </p:txBody>
      </p:sp>
      <p:sp>
        <p:nvSpPr>
          <p:cNvPr id="459" name="- Passing parameters / arguments -"/>
          <p:cNvSpPr txBox="1"/>
          <p:nvPr/>
        </p:nvSpPr>
        <p:spPr>
          <a:xfrm>
            <a:off x="6985171" y="1400770"/>
            <a:ext cx="9975267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- Passing parameters / arguments -</a:t>
            </a:r>
          </a:p>
        </p:txBody>
      </p:sp>
      <p:sp>
        <p:nvSpPr>
          <p:cNvPr id="461" name="def functionName ( val1, val2):…"/>
          <p:cNvSpPr txBox="1"/>
          <p:nvPr/>
        </p:nvSpPr>
        <p:spPr>
          <a:xfrm>
            <a:off x="8218715" y="8823584"/>
            <a:ext cx="7020561" cy="253034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 b="1">
                <a:solidFill>
                  <a:schemeClr val="accent4">
                    <a:hueOff val="-476017"/>
                    <a:lumOff val="-10042"/>
                  </a:schemeClr>
                </a:solidFill>
              </a:rPr>
              <a:t>def</a:t>
            </a:r>
            <a:r>
              <a:t> functionName ( val1, val2):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t>   function body</a:t>
            </a:r>
          </a:p>
          <a:p>
            <a:pPr>
              <a:lnSpc>
                <a:spcPct val="150000"/>
              </a:lnSpc>
              <a:defRPr sz="4000">
                <a:solidFill>
                  <a:srgbClr val="FFFFFF"/>
                </a:solidFill>
              </a:defRPr>
            </a:pP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return</a:t>
            </a:r>
            <a:r>
              <a:t> result</a:t>
            </a:r>
          </a:p>
        </p:txBody>
      </p:sp>
      <p:sp>
        <p:nvSpPr>
          <p:cNvPr id="462" name="Parenthesis"/>
          <p:cNvSpPr/>
          <p:nvPr/>
        </p:nvSpPr>
        <p:spPr>
          <a:xfrm>
            <a:off x="13985946" y="7769666"/>
            <a:ext cx="3592184" cy="812801"/>
          </a:xfrm>
          <a:prstGeom prst="wedgeEllipseCallout">
            <a:avLst>
              <a:gd name="adj1" fmla="val -39794"/>
              <a:gd name="adj2" fmla="val 8175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Parenthesis</a:t>
            </a:r>
          </a:p>
        </p:txBody>
      </p:sp>
      <p:sp>
        <p:nvSpPr>
          <p:cNvPr id="463" name="Function name"/>
          <p:cNvSpPr/>
          <p:nvPr/>
        </p:nvSpPr>
        <p:spPr>
          <a:xfrm>
            <a:off x="9329604" y="7150010"/>
            <a:ext cx="3224508" cy="1325047"/>
          </a:xfrm>
          <a:prstGeom prst="wedgeEllipseCallout">
            <a:avLst>
              <a:gd name="adj1" fmla="val 35"/>
              <a:gd name="adj2" fmla="val 7172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Function name</a:t>
            </a:r>
          </a:p>
        </p:txBody>
      </p:sp>
      <p:sp>
        <p:nvSpPr>
          <p:cNvPr id="464" name="Keyword"/>
          <p:cNvSpPr/>
          <p:nvPr/>
        </p:nvSpPr>
        <p:spPr>
          <a:xfrm>
            <a:off x="6148101" y="7755180"/>
            <a:ext cx="2603043" cy="812801"/>
          </a:xfrm>
          <a:prstGeom prst="wedgeEllipseCallout">
            <a:avLst>
              <a:gd name="adj1" fmla="val 27435"/>
              <a:gd name="adj2" fmla="val 85299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Keyword</a:t>
            </a:r>
          </a:p>
        </p:txBody>
      </p:sp>
      <p:pic>
        <p:nvPicPr>
          <p:cNvPr id="465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83973" y="8791223"/>
            <a:ext cx="1150986" cy="776444"/>
          </a:xfrm>
          <a:prstGeom prst="rect">
            <a:avLst/>
          </a:prstGeom>
        </p:spPr>
      </p:pic>
      <p:pic>
        <p:nvPicPr>
          <p:cNvPr id="467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83" y="8798774"/>
            <a:ext cx="3224611" cy="761343"/>
          </a:xfrm>
          <a:prstGeom prst="rect">
            <a:avLst/>
          </a:prstGeom>
        </p:spPr>
      </p:pic>
      <p:pic>
        <p:nvPicPr>
          <p:cNvPr id="469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414917" y="8798774"/>
            <a:ext cx="2802670" cy="761343"/>
          </a:xfrm>
          <a:prstGeom prst="rect">
            <a:avLst/>
          </a:prstGeom>
        </p:spPr>
      </p:pic>
      <p:sp>
        <p:nvSpPr>
          <p:cNvPr id="471" name="Parameters : work as placeholders for the values pass to the function. So, they…"/>
          <p:cNvSpPr txBox="1"/>
          <p:nvPr/>
        </p:nvSpPr>
        <p:spPr>
          <a:xfrm>
            <a:off x="2101088" y="3116388"/>
            <a:ext cx="20040601" cy="1953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Parameters</a:t>
            </a:r>
            <a:r>
              <a:t> : work as </a:t>
            </a:r>
            <a:r>
              <a:rPr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placeholders</a:t>
            </a:r>
            <a:r>
              <a:t> for the </a:t>
            </a:r>
            <a:r>
              <a:rPr>
                <a:solidFill>
                  <a:schemeClr val="accent4">
                    <a:hueOff val="-476017"/>
                    <a:lumOff val="-10042"/>
                  </a:schemeClr>
                </a:solidFill>
              </a:rPr>
              <a:t>values</a:t>
            </a:r>
            <a:r>
              <a:t> </a:t>
            </a:r>
            <a:r>
              <a:rPr i="1" u="sng"/>
              <a:t>pass to the function</a:t>
            </a:r>
            <a:r>
              <a:t>. So, they </a:t>
            </a:r>
          </a:p>
          <a:p>
            <a:pPr algn="l">
              <a:defRPr sz="4000" b="1">
                <a:solidFill>
                  <a:srgbClr val="FFFFFF"/>
                </a:solidFill>
              </a:defRPr>
            </a:pPr>
            <a:r>
              <a:t>                       are like variables which are used to pass the value when one call the </a:t>
            </a:r>
          </a:p>
          <a:p>
            <a:pPr algn="l">
              <a:defRPr sz="4000" b="1">
                <a:solidFill>
                  <a:srgbClr val="FFFFFF"/>
                </a:solidFill>
              </a:defRPr>
            </a:pPr>
            <a:r>
              <a:t>                       function. 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C976FB49-CB24-7B3A-7E8F-B9A8FBB0B62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" grpId="1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7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7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7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7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7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1" name="- Using the functions -"/>
          <p:cNvSpPr txBox="1"/>
          <p:nvPr/>
        </p:nvSpPr>
        <p:spPr>
          <a:xfrm>
            <a:off x="8809132" y="1400770"/>
            <a:ext cx="6327344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- Using the functions -</a:t>
            </a:r>
          </a:p>
        </p:txBody>
      </p:sp>
      <p:sp>
        <p:nvSpPr>
          <p:cNvPr id="482" name="def sum(val1,val2 ):…"/>
          <p:cNvSpPr txBox="1"/>
          <p:nvPr/>
        </p:nvSpPr>
        <p:spPr>
          <a:xfrm>
            <a:off x="2429390" y="3466210"/>
            <a:ext cx="8818945" cy="678358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101600" dist="262857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endParaRPr/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def </a:t>
            </a:r>
            <a:r>
              <a:rPr>
                <a:solidFill>
                  <a:srgbClr val="FFFFFF"/>
                </a:solidFill>
              </a:rPr>
              <a:t>sum(val1,val2 ):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</a:t>
            </a:r>
            <a:r>
              <a:rPr>
                <a:solidFill>
                  <a:srgbClr val="FFFFFF"/>
                </a:solidFill>
              </a:rPr>
              <a:t>result = val1 + val2</a:t>
            </a:r>
          </a:p>
          <a:p>
            <a:pPr algn="l">
              <a:lnSpc>
                <a:spcPct val="200000"/>
              </a:lnSpc>
              <a:defRPr sz="3500">
                <a:solidFill>
                  <a:srgbClr val="FFFFFF"/>
                </a:solidFill>
              </a:defRPr>
            </a:pPr>
            <a:r>
              <a:t>     print("Value which will return is = ",result)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return </a:t>
            </a:r>
            <a:r>
              <a:rPr>
                <a:solidFill>
                  <a:srgbClr val="FFFFFF"/>
                </a:solidFill>
              </a:rPr>
              <a:t>result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</a:t>
            </a:r>
            <a:r>
              <a:rPr>
                <a:solidFill>
                  <a:srgbClr val="FFFFFF"/>
                </a:solidFill>
              </a:rPr>
              <a:t>sum( 20, 15)</a:t>
            </a:r>
          </a:p>
        </p:txBody>
      </p:sp>
      <p:sp>
        <p:nvSpPr>
          <p:cNvPr id="484" name="def sum(val1, val2, val3, val4, val5 ):…"/>
          <p:cNvSpPr txBox="1"/>
          <p:nvPr/>
        </p:nvSpPr>
        <p:spPr>
          <a:xfrm>
            <a:off x="12326198" y="2599086"/>
            <a:ext cx="8818945" cy="884148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101600" dist="262857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endParaRPr/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def </a:t>
            </a:r>
            <a:r>
              <a:rPr>
                <a:solidFill>
                  <a:srgbClr val="FFFFFF"/>
                </a:solidFill>
              </a:rPr>
              <a:t>sum(val1, val2, val3, val4, val5 ):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</a:t>
            </a:r>
            <a:r>
              <a:rPr>
                <a:solidFill>
                  <a:srgbClr val="FFFFFF"/>
                </a:solidFill>
              </a:rPr>
              <a:t>add = val1 + val2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     mul  = val3 * val4 * val4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     result = add + mul</a:t>
            </a:r>
          </a:p>
          <a:p>
            <a:pPr algn="l">
              <a:lnSpc>
                <a:spcPct val="200000"/>
              </a:lnSpc>
              <a:defRPr sz="3500">
                <a:solidFill>
                  <a:srgbClr val="FFFFFF"/>
                </a:solidFill>
              </a:defRPr>
            </a:pPr>
            <a:r>
              <a:t>     print("Value which will return is = ",result)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return </a:t>
            </a:r>
            <a:r>
              <a:rPr>
                <a:solidFill>
                  <a:srgbClr val="FFFFFF"/>
                </a:solidFill>
              </a:rPr>
              <a:t>result</a:t>
            </a:r>
          </a:p>
          <a:p>
            <a:pPr algn="l">
              <a:lnSpc>
                <a:spcPct val="200000"/>
              </a:lnSpc>
              <a:defRPr sz="35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</a:t>
            </a:r>
            <a:r>
              <a:rPr>
                <a:solidFill>
                  <a:srgbClr val="FFFFFF"/>
                </a:solidFill>
              </a:rPr>
              <a:t>sum( 2,  3, 7, 10.5, 2.5)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3109AA3B-6733-5B73-FA8D-D013B0F5EA9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EA8B0E-FBF5-DBDC-A105-00BAB3E36A6E}"/>
              </a:ext>
            </a:extLst>
          </p:cNvPr>
          <p:cNvCxnSpPr/>
          <p:nvPr/>
        </p:nvCxnSpPr>
        <p:spPr>
          <a:xfrm>
            <a:off x="12390763" y="10455961"/>
            <a:ext cx="5360524" cy="0"/>
          </a:xfrm>
          <a:prstGeom prst="line">
            <a:avLst/>
          </a:prstGeom>
          <a:noFill/>
          <a:ln w="25400" cap="flat">
            <a:solidFill>
              <a:srgbClr val="FFFF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8AE1EF-532A-95C7-96B0-9379FF9B761E}"/>
              </a:ext>
            </a:extLst>
          </p:cNvPr>
          <p:cNvCxnSpPr/>
          <p:nvPr/>
        </p:nvCxnSpPr>
        <p:spPr>
          <a:xfrm>
            <a:off x="2429390" y="9216883"/>
            <a:ext cx="5360524" cy="0"/>
          </a:xfrm>
          <a:prstGeom prst="line">
            <a:avLst/>
          </a:prstGeom>
          <a:noFill/>
          <a:ln w="25400" cap="flat">
            <a:solidFill>
              <a:srgbClr val="FFFF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1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8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8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8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9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9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4" name="Using function, print the sum of even numbers between 1 - 100"/>
          <p:cNvSpPr txBox="1"/>
          <p:nvPr/>
        </p:nvSpPr>
        <p:spPr>
          <a:xfrm>
            <a:off x="2464328" y="1416780"/>
            <a:ext cx="17683075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Using function, print the sum of even numbers between 1 - 100</a:t>
            </a:r>
          </a:p>
        </p:txBody>
      </p:sp>
      <p:sp>
        <p:nvSpPr>
          <p:cNvPr id="496" name="Sum_EvenNumbers=0…"/>
          <p:cNvSpPr txBox="1"/>
          <p:nvPr/>
        </p:nvSpPr>
        <p:spPr>
          <a:xfrm>
            <a:off x="6541075" y="2391377"/>
            <a:ext cx="11716602" cy="998508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101600" dist="262857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Sum_EvenNumbers=0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null=0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def Num_type(val):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check_num = val % 2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if check_num == 0: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   return val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else: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    return null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for num in range(1,100):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result = Num_type(num)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  SumOfEvenNumbers = SumOfEvenNumbers + result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print("Sum of even numbers = ",SumOfEvenNumbers)</a:t>
            </a:r>
          </a:p>
        </p:txBody>
      </p:sp>
      <p:sp>
        <p:nvSpPr>
          <p:cNvPr id="497" name="Rectangle"/>
          <p:cNvSpPr/>
          <p:nvPr/>
        </p:nvSpPr>
        <p:spPr>
          <a:xfrm>
            <a:off x="6550238" y="2436374"/>
            <a:ext cx="9511254" cy="561862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FD9A758C-AADE-F500-29C2-D8D35CD3889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1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9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0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0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0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0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SumOfEvenNumbers=0…"/>
          <p:cNvSpPr txBox="1"/>
          <p:nvPr/>
        </p:nvSpPr>
        <p:spPr>
          <a:xfrm>
            <a:off x="6541075" y="2391377"/>
            <a:ext cx="11716602" cy="998508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101600" dist="262857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 err="1"/>
              <a:t>SumOfEvenNumbers</a:t>
            </a:r>
            <a:r>
              <a:rPr dirty="0"/>
              <a:t>=0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null=0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def </a:t>
            </a:r>
            <a:r>
              <a:rPr dirty="0" err="1"/>
              <a:t>Num_type</a:t>
            </a:r>
            <a:r>
              <a:rPr dirty="0"/>
              <a:t>(</a:t>
            </a:r>
            <a:r>
              <a:rPr dirty="0" err="1"/>
              <a:t>val</a:t>
            </a:r>
            <a:r>
              <a:rPr dirty="0"/>
              <a:t>):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</a:t>
            </a:r>
            <a:r>
              <a:rPr dirty="0" err="1"/>
              <a:t>check_num</a:t>
            </a:r>
            <a:r>
              <a:rPr dirty="0"/>
              <a:t> = </a:t>
            </a:r>
            <a:r>
              <a:rPr dirty="0" err="1"/>
              <a:t>val</a:t>
            </a:r>
            <a:r>
              <a:rPr dirty="0"/>
              <a:t> % 2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if </a:t>
            </a:r>
            <a:r>
              <a:rPr dirty="0" err="1"/>
              <a:t>check_num</a:t>
            </a:r>
            <a:r>
              <a:rPr dirty="0"/>
              <a:t> == 0: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    return </a:t>
            </a:r>
            <a:r>
              <a:rPr dirty="0" err="1"/>
              <a:t>val</a:t>
            </a:r>
            <a:endParaRPr dirty="0"/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else: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    return null</a:t>
            </a:r>
          </a:p>
          <a:p>
            <a:pPr algn="l">
              <a:lnSpc>
                <a:spcPct val="12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for num in range(1,100):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result = </a:t>
            </a:r>
            <a:r>
              <a:rPr dirty="0" err="1"/>
              <a:t>Num_type</a:t>
            </a:r>
            <a:r>
              <a:rPr dirty="0"/>
              <a:t>(num)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    </a:t>
            </a:r>
            <a:r>
              <a:rPr dirty="0" err="1"/>
              <a:t>SumOfEvenNumbers</a:t>
            </a:r>
            <a:r>
              <a:rPr dirty="0"/>
              <a:t> = </a:t>
            </a:r>
            <a:r>
              <a:rPr dirty="0" err="1"/>
              <a:t>SumOfEvenNumbers</a:t>
            </a:r>
            <a:r>
              <a:rPr dirty="0"/>
              <a:t> + result</a:t>
            </a:r>
          </a:p>
          <a:p>
            <a:pPr algn="l">
              <a:lnSpc>
                <a:spcPct val="150000"/>
              </a:lnSpc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 dirty="0"/>
              <a:t>print("Sum of even numbers = ",</a:t>
            </a:r>
            <a:r>
              <a:rPr dirty="0" err="1"/>
              <a:t>SumOfEvenNumbers</a:t>
            </a:r>
            <a:r>
              <a:rPr dirty="0"/>
              <a:t>)</a:t>
            </a:r>
          </a:p>
        </p:txBody>
      </p:sp>
      <p:sp>
        <p:nvSpPr>
          <p:cNvPr id="509" name="Using function, print the sum of even numbers between 1 - 100"/>
          <p:cNvSpPr txBox="1"/>
          <p:nvPr/>
        </p:nvSpPr>
        <p:spPr>
          <a:xfrm>
            <a:off x="2464328" y="1248486"/>
            <a:ext cx="17683075" cy="82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t>Using function, print the sum of even numbers between 1 - 100</a:t>
            </a:r>
          </a:p>
        </p:txBody>
      </p:sp>
      <p:sp>
        <p:nvSpPr>
          <p:cNvPr id="2" name="09/12/2022">
            <a:extLst>
              <a:ext uri="{FF2B5EF4-FFF2-40B4-BE49-F238E27FC236}">
                <a16:creationId xmlns:a16="http://schemas.microsoft.com/office/drawing/2014/main" id="{CAB229CC-F772-1163-9D9B-E7883E34B16E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28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" grpId="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1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1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1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1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1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8" name="16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05</a:t>
            </a:r>
            <a:r>
              <a:rPr dirty="0"/>
              <a:t>/1</a:t>
            </a:r>
            <a:r>
              <a:rPr lang="en-US" dirty="0"/>
              <a:t>2</a:t>
            </a:r>
            <a:r>
              <a:rPr dirty="0"/>
              <a:t>/2022</a:t>
            </a:r>
          </a:p>
        </p:txBody>
      </p:sp>
      <p:sp>
        <p:nvSpPr>
          <p:cNvPr id="519" name="Functions - to be continued"/>
          <p:cNvSpPr txBox="1"/>
          <p:nvPr/>
        </p:nvSpPr>
        <p:spPr>
          <a:xfrm>
            <a:off x="8029520" y="6447610"/>
            <a:ext cx="7803440" cy="8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rPr dirty="0"/>
              <a:t>Functions - to be continued</a:t>
            </a:r>
          </a:p>
        </p:txBody>
      </p:sp>
      <p:sp>
        <p:nvSpPr>
          <p:cNvPr id="520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" grpId="1" animBg="1" advAuto="0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2481</Words>
  <Application>Microsoft Office PowerPoint</Application>
  <PresentationFormat>Custom</PresentationFormat>
  <Paragraphs>544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Courier</vt:lpstr>
      <vt:lpstr>Helvetica Neue</vt:lpstr>
      <vt:lpstr>Helvetica Neue Medium</vt:lpstr>
      <vt:lpstr>Times Roman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Sushil Sharma</dc:creator>
  <cp:lastModifiedBy>Sushil Sharma</cp:lastModifiedBy>
  <cp:revision>32</cp:revision>
  <dcterms:modified xsi:type="dcterms:W3CDTF">2025-11-28T10:08:25Z</dcterms:modified>
</cp:coreProperties>
</file>