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6" r:id="rId2"/>
    <p:sldId id="284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285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257" r:id="rId22"/>
    <p:sldId id="319" r:id="rId23"/>
    <p:sldId id="320" r:id="rId24"/>
    <p:sldId id="321" r:id="rId25"/>
    <p:sldId id="291" r:id="rId26"/>
    <p:sldId id="323" r:id="rId27"/>
    <p:sldId id="261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294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262" r:id="rId44"/>
    <p:sldId id="341" r:id="rId45"/>
    <p:sldId id="342" r:id="rId46"/>
    <p:sldId id="343" r:id="rId47"/>
    <p:sldId id="344" r:id="rId48"/>
    <p:sldId id="345" r:id="rId49"/>
    <p:sldId id="295" r:id="rId50"/>
    <p:sldId id="347" r:id="rId51"/>
    <p:sldId id="348" r:id="rId52"/>
    <p:sldId id="296" r:id="rId53"/>
    <p:sldId id="350" r:id="rId54"/>
    <p:sldId id="351" r:id="rId55"/>
    <p:sldId id="298" r:id="rId56"/>
    <p:sldId id="353" r:id="rId57"/>
    <p:sldId id="354" r:id="rId58"/>
    <p:sldId id="355" r:id="rId59"/>
    <p:sldId id="356" r:id="rId60"/>
    <p:sldId id="357" r:id="rId61"/>
    <p:sldId id="287" r:id="rId62"/>
    <p:sldId id="264" r:id="rId63"/>
    <p:sldId id="362" r:id="rId64"/>
    <p:sldId id="364" r:id="rId65"/>
    <p:sldId id="365" r:id="rId66"/>
    <p:sldId id="366" r:id="rId67"/>
    <p:sldId id="370" r:id="rId68"/>
    <p:sldId id="367" r:id="rId69"/>
    <p:sldId id="368" r:id="rId70"/>
    <p:sldId id="371" r:id="rId71"/>
    <p:sldId id="372" r:id="rId72"/>
    <p:sldId id="363" r:id="rId7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0"/>
    <p:restoredTop sz="91060"/>
  </p:normalViewPr>
  <p:slideViewPr>
    <p:cSldViewPr snapToGrid="0" snapToObjects="1">
      <p:cViewPr varScale="1">
        <p:scale>
          <a:sx n="140" d="100"/>
          <a:sy n="140" d="100"/>
        </p:scale>
        <p:origin x="135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il Sharma" userId="9dc1f0bb-fd39-4dad-93b4-6671d50e9029" providerId="ADAL" clId="{7DBF0326-F927-40BB-8280-1C83DBC8C6BC}"/>
    <pc:docChg chg="modSld">
      <pc:chgData name="Sushil Sharma" userId="9dc1f0bb-fd39-4dad-93b4-6671d50e9029" providerId="ADAL" clId="{7DBF0326-F927-40BB-8280-1C83DBC8C6BC}" dt="2024-10-09T13:21:15.055" v="13" actId="1076"/>
      <pc:docMkLst>
        <pc:docMk/>
      </pc:docMkLst>
      <pc:sldChg chg="modSp mod">
        <pc:chgData name="Sushil Sharma" userId="9dc1f0bb-fd39-4dad-93b4-6671d50e9029" providerId="ADAL" clId="{7DBF0326-F927-40BB-8280-1C83DBC8C6BC}" dt="2024-10-09T13:21:15.055" v="13" actId="1076"/>
        <pc:sldMkLst>
          <pc:docMk/>
          <pc:sldMk cId="1485411727" sldId="368"/>
        </pc:sldMkLst>
        <pc:spChg chg="mod">
          <ac:chgData name="Sushil Sharma" userId="9dc1f0bb-fd39-4dad-93b4-6671d50e9029" providerId="ADAL" clId="{7DBF0326-F927-40BB-8280-1C83DBC8C6BC}" dt="2024-10-09T13:21:15.055" v="13" actId="1076"/>
          <ac:spMkLst>
            <pc:docMk/>
            <pc:sldMk cId="1485411727" sldId="368"/>
            <ac:spMk id="4" creationId="{DC81F43A-B2A6-8E68-90D4-701B0A2AB98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B10131-92D2-174E-9938-088FB1CEB8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C8932-7BB6-5E4B-ACA4-3CE813EB68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64802-59F6-7445-B6EB-5FE28F39B6C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45C85-8ED1-8842-8B8D-55E261E336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BF078-F3BB-AA46-B091-3B89DAF0D9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A500A-2877-D340-8C17-2C3A85258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05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222EF-4613-6C4A-B3CC-8DD1F772D57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1C7C4-B515-BF46-B1E5-1CF183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9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54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98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4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8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14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40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1836-0A62-9FAC-6CF7-32BB37D4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D56A1-D7F7-262E-3A86-B73C0DB4F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4D133-1EA4-55A6-1BBD-1904FAFCB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file from computer: After running this code, a file upload dialog box will appear. You can select a file from your computer to upload. Once uploaded, you can access the file by its filename (as a string key) in the uploaded dictionary.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6FC73-736D-3CA9-AB46-FC61EB6A8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52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0DB6-8E5D-1F8C-29C6-62FACE9E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34B5C-8C90-52A9-1C51-8FAB23C39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98D55-58AA-068D-11F2-C7B2E261B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file from computer: After running this code, a file upload dialog box will appear. You can select a file from your computer to upload. Once uploaded, you can access the file by its filename (as a string key) in the uploaded dictionary.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482F3-7BD8-6B6A-0E01-2D25A4BB9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1C7C4-B515-BF46-B1E5-1CF1832A64B4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3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35BF9-7596-E04D-812A-D99539CF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6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85000">
              <a:schemeClr val="tx1"/>
            </a:gs>
            <a:gs pos="79000">
              <a:schemeClr val="bg1"/>
            </a:gs>
            <a:gs pos="98000">
              <a:schemeClr val="bg2">
                <a:lumMod val="25000"/>
                <a:lumOff val="7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764B0D-4FFE-8C4E-B3EB-A42B4E196062}"/>
              </a:ext>
            </a:extLst>
          </p:cNvPr>
          <p:cNvCxnSpPr>
            <a:cxnSpLocks/>
          </p:cNvCxnSpPr>
          <p:nvPr userDrawn="1"/>
        </p:nvCxnSpPr>
        <p:spPr>
          <a:xfrm>
            <a:off x="711045" y="4721386"/>
            <a:ext cx="7686397" cy="78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BB84B9B-E48E-2E40-9B69-AD35BD8CEC0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19923" y="422930"/>
            <a:ext cx="1" cy="4307503"/>
          </a:xfrm>
          <a:prstGeom prst="line">
            <a:avLst/>
          </a:prstGeom>
          <a:ln>
            <a:solidFill>
              <a:schemeClr val="bg1"/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CA58A2-4AB6-6F44-A7A1-7DCFDA70CDC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379686" y="422930"/>
            <a:ext cx="1" cy="42944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D6FBE2-E0DC-4C40-8254-23BDF58AE88B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574" y="32549"/>
            <a:ext cx="746558" cy="396540"/>
          </a:xfrm>
          <a:prstGeom prst="line">
            <a:avLst/>
          </a:prstGeom>
          <a:ln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F6429B6-FCDC-514A-8D8C-14954E105DE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370311" y="4721387"/>
            <a:ext cx="773689" cy="43082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B6CB357-82D6-6E4F-9815-D0114C33DBD4}"/>
              </a:ext>
            </a:extLst>
          </p:cNvPr>
          <p:cNvCxnSpPr>
            <a:cxnSpLocks/>
          </p:cNvCxnSpPr>
          <p:nvPr userDrawn="1"/>
        </p:nvCxnSpPr>
        <p:spPr>
          <a:xfrm flipH="1">
            <a:off x="-4395" y="4721386"/>
            <a:ext cx="724319" cy="430823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8E723CD-2A49-E34A-8E06-0667200FCACF}"/>
              </a:ext>
            </a:extLst>
          </p:cNvPr>
          <p:cNvCxnSpPr>
            <a:cxnSpLocks/>
          </p:cNvCxnSpPr>
          <p:nvPr userDrawn="1"/>
        </p:nvCxnSpPr>
        <p:spPr>
          <a:xfrm flipV="1">
            <a:off x="702167" y="418491"/>
            <a:ext cx="7695275" cy="887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09E5F12-49C0-F74D-8400-51C54B5F852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4391" y="-4621"/>
            <a:ext cx="764314" cy="43199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Date Placeholder 3">
            <a:extLst>
              <a:ext uri="{FF2B5EF4-FFF2-40B4-BE49-F238E27FC236}">
                <a16:creationId xmlns:a16="http://schemas.microsoft.com/office/drawing/2014/main" id="{E1886ADF-5FD5-5F44-A725-063FB750A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9923" y="4799875"/>
            <a:ext cx="1483112" cy="273844"/>
          </a:xfrm>
          <a:prstGeom prst="rect">
            <a:avLst/>
          </a:prstGeom>
          <a:ln>
            <a:solidFill>
              <a:schemeClr val="bg1"/>
            </a:solidFill>
            <a:prstDash val="sysDot"/>
          </a:ln>
        </p:spPr>
        <p:txBody>
          <a:bodyPr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S. Sharma, UJ</a:t>
            </a:r>
          </a:p>
        </p:txBody>
      </p:sp>
      <p:sp>
        <p:nvSpPr>
          <p:cNvPr id="84" name="Date Placeholder 3">
            <a:extLst>
              <a:ext uri="{FF2B5EF4-FFF2-40B4-BE49-F238E27FC236}">
                <a16:creationId xmlns:a16="http://schemas.microsoft.com/office/drawing/2014/main" id="{5E460536-DDFC-9549-9716-1DC8F8079C46}"/>
              </a:ext>
            </a:extLst>
          </p:cNvPr>
          <p:cNvSpPr txBox="1">
            <a:spLocks/>
          </p:cNvSpPr>
          <p:nvPr userDrawn="1"/>
        </p:nvSpPr>
        <p:spPr>
          <a:xfrm>
            <a:off x="6887200" y="4817293"/>
            <a:ext cx="1483112" cy="273844"/>
          </a:xfrm>
          <a:prstGeom prst="rect">
            <a:avLst/>
          </a:prstGeom>
          <a:ln>
            <a:solidFill>
              <a:schemeClr val="bg1"/>
            </a:solidFill>
            <a:prstDash val="sysDot"/>
          </a:ln>
          <a:effectLst/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bg1"/>
                </a:solidFill>
              </a:rPr>
              <a:t>    11/10/2024    </a:t>
            </a:r>
          </a:p>
        </p:txBody>
      </p:sp>
      <p:sp>
        <p:nvSpPr>
          <p:cNvPr id="85" name="Date Placeholder 3">
            <a:extLst>
              <a:ext uri="{FF2B5EF4-FFF2-40B4-BE49-F238E27FC236}">
                <a16:creationId xmlns:a16="http://schemas.microsoft.com/office/drawing/2014/main" id="{6C30376B-177B-0647-83E7-5A6A60287B6C}"/>
              </a:ext>
            </a:extLst>
          </p:cNvPr>
          <p:cNvSpPr txBox="1">
            <a:spLocks/>
          </p:cNvSpPr>
          <p:nvPr userDrawn="1"/>
        </p:nvSpPr>
        <p:spPr>
          <a:xfrm>
            <a:off x="2718537" y="4773748"/>
            <a:ext cx="3732011" cy="334916"/>
          </a:xfrm>
          <a:prstGeom prst="rect">
            <a:avLst/>
          </a:prstGeom>
          <a:ln>
            <a:solidFill>
              <a:schemeClr val="bg1"/>
            </a:solidFill>
            <a:prstDash val="sysDot"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Python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80281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koza.if.uj.edu.pl/staff/sshar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S. Sharma, UJ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344F8-B5CE-DB4F-978B-3C0834154FE7}"/>
              </a:ext>
            </a:extLst>
          </p:cNvPr>
          <p:cNvSpPr txBox="1"/>
          <p:nvPr/>
        </p:nvSpPr>
        <p:spPr>
          <a:xfrm>
            <a:off x="4684370" y="635901"/>
            <a:ext cx="31912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+mj-lt"/>
              </a:rPr>
              <a:t>Python </a:t>
            </a:r>
          </a:p>
          <a:p>
            <a:pPr algn="ctr"/>
            <a:r>
              <a:rPr lang="en-US" sz="4400" b="1" dirty="0">
                <a:latin typeface="+mj-lt"/>
              </a:rPr>
              <a:t>for</a:t>
            </a:r>
          </a:p>
          <a:p>
            <a:pPr algn="ctr"/>
            <a:r>
              <a:rPr lang="en-US" sz="4400" b="1" dirty="0">
                <a:latin typeface="+mj-lt"/>
              </a:rPr>
              <a:t>Beginners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330CD4-DB8B-2144-BED4-7D5DE8879FC0}"/>
              </a:ext>
            </a:extLst>
          </p:cNvPr>
          <p:cNvSpPr txBox="1"/>
          <p:nvPr/>
        </p:nvSpPr>
        <p:spPr>
          <a:xfrm>
            <a:off x="4829545" y="3307270"/>
            <a:ext cx="327178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S. Sharma</a:t>
            </a:r>
          </a:p>
          <a:p>
            <a:endParaRPr lang="en-US" sz="1200" dirty="0"/>
          </a:p>
          <a:p>
            <a:r>
              <a:rPr lang="en-US" sz="1200" dirty="0"/>
              <a:t>Assistant Professor,</a:t>
            </a:r>
          </a:p>
          <a:p>
            <a:r>
              <a:rPr lang="en-US" sz="1200" dirty="0"/>
              <a:t>Department of Theory of Nuclear system</a:t>
            </a:r>
          </a:p>
          <a:p>
            <a:endParaRPr lang="en-US" sz="1200" dirty="0"/>
          </a:p>
          <a:p>
            <a:r>
              <a:rPr lang="en-US" sz="1200" dirty="0">
                <a:hlinkClick r:id="rId3"/>
              </a:rPr>
              <a:t>http://</a:t>
            </a:r>
            <a:r>
              <a:rPr lang="en-US" sz="1200" dirty="0" err="1">
                <a:hlinkClick r:id="rId3"/>
              </a:rPr>
              <a:t>koza.if.uj.edu.pl</a:t>
            </a:r>
            <a:r>
              <a:rPr lang="en-US" sz="1200" dirty="0">
                <a:hlinkClick r:id="rId3"/>
              </a:rPr>
              <a:t>/staff/</a:t>
            </a:r>
            <a:r>
              <a:rPr lang="en-US" sz="1200" dirty="0" err="1">
                <a:hlinkClick r:id="rId3"/>
              </a:rPr>
              <a:t>ssharma</a:t>
            </a:r>
            <a:endParaRPr lang="en-US" sz="1200" dirty="0"/>
          </a:p>
        </p:txBody>
      </p:sp>
      <p:sp>
        <p:nvSpPr>
          <p:cNvPr id="2" name="Bevel 1">
            <a:extLst>
              <a:ext uri="{FF2B5EF4-FFF2-40B4-BE49-F238E27FC236}">
                <a16:creationId xmlns:a16="http://schemas.microsoft.com/office/drawing/2014/main" id="{5F32A6F6-D94F-ED47-8874-C3D7AB197721}"/>
              </a:ext>
            </a:extLst>
          </p:cNvPr>
          <p:cNvSpPr/>
          <p:nvPr/>
        </p:nvSpPr>
        <p:spPr>
          <a:xfrm>
            <a:off x="1204916" y="866242"/>
            <a:ext cx="3375399" cy="3373251"/>
          </a:xfrm>
          <a:prstGeom prst="bevel">
            <a:avLst>
              <a:gd name="adj" fmla="val 9573"/>
            </a:avLst>
          </a:prstGeom>
          <a:gradFill flip="none" rotWithShape="1">
            <a:gsLst>
              <a:gs pos="65000">
                <a:schemeClr val="bg1"/>
              </a:gs>
              <a:gs pos="100000">
                <a:schemeClr val="bg2">
                  <a:lumMod val="50000"/>
                  <a:lumOff val="5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6B5F3D-719A-F04E-B43A-B10E8C999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374" y="857929"/>
            <a:ext cx="3227615" cy="33732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3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6"/>
            <a:ext cx="37545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 "/>
            </a:pPr>
            <a:r>
              <a:rPr lang="en-US" sz="1400" b="1" u="sng"/>
              <a:t>    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            </a:t>
            </a:r>
            <a:br>
              <a:rPr lang="en-US" sz="1400"/>
            </a:br>
            <a:r>
              <a:rPr lang="en-US" sz="1400"/>
              <a:t>              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Char char=" "/>
            </a:pPr>
            <a:r>
              <a:rPr lang="en-US" sz="1400" b="1" u="sng"/>
              <a:t>                      </a:t>
            </a:r>
            <a:r>
              <a:rPr lang="en-US" sz="1400"/>
              <a:t>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</a:t>
            </a:r>
            <a:r>
              <a:rPr lang="en-US" sz="1400" u="sng"/>
              <a:t>                              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                                              </a:t>
            </a:r>
            <a:br>
              <a:rPr lang="en-US" sz="1400"/>
            </a:br>
            <a:r>
              <a:rPr lang="en-US" sz="1400"/>
              <a:t>                                           </a:t>
            </a:r>
            <a:br>
              <a:rPr lang="en-US" sz="1400"/>
            </a:br>
            <a:r>
              <a:rPr lang="en-US" sz="1400" i="1">
                <a:solidFill>
                  <a:srgbClr val="FF0000"/>
                </a:solidFill>
              </a:rPr>
              <a:t>           </a:t>
            </a:r>
            <a:endParaRPr lang="en-US" sz="1400" i="1" dirty="0">
              <a:solidFill>
                <a:srgbClr val="FF0000"/>
              </a:solidFill>
            </a:endParaRPr>
          </a:p>
          <a:p>
            <a:pPr marL="285750" indent="-285750">
              <a:buChar char=" "/>
            </a:pPr>
            <a:r>
              <a:rPr lang="en-US" sz="1400" i="1">
                <a:solidFill>
                  <a:srgbClr val="FF0000"/>
                </a:solidFill>
              </a:rPr>
              <a:t>                                                   </a:t>
            </a:r>
            <a:br>
              <a:rPr lang="en-US" sz="1400" i="1">
                <a:solidFill>
                  <a:srgbClr val="FF0000"/>
                </a:solidFill>
              </a:rPr>
            </a:br>
            <a:r>
              <a:rPr lang="en-US" sz="1400" i="1">
                <a:solidFill>
                  <a:srgbClr val="FF0000"/>
                </a:solidFill>
              </a:rPr>
              <a:t>                      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har char=" "/>
            </a:pPr>
            <a:r>
              <a:rPr lang="en-US" sz="1400"/>
              <a:t>                                </a:t>
            </a:r>
            <a:br>
              <a:rPr lang="en-US" sz="1400"/>
            </a:br>
            <a:r>
              <a:rPr lang="en-US" sz="1400"/>
              <a:t>                                   </a:t>
            </a:r>
            <a:br>
              <a:rPr lang="en-US" sz="1400"/>
            </a:b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                 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6161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6"/>
            <a:ext cx="37545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 "/>
            </a:pPr>
            <a:r>
              <a:rPr lang="en-US" sz="1400" b="1" u="sng"/>
              <a:t>    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            </a:t>
            </a:r>
            <a:br>
              <a:rPr lang="en-US" sz="1400"/>
            </a:br>
            <a:r>
              <a:rPr lang="en-US" sz="1400"/>
              <a:t>              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Char char=" "/>
            </a:pPr>
            <a:r>
              <a:rPr lang="en-US" sz="1400" b="1" u="sng"/>
              <a:t>                      </a:t>
            </a:r>
            <a:r>
              <a:rPr lang="en-US" sz="1400"/>
              <a:t>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</a:t>
            </a:r>
            <a:r>
              <a:rPr lang="en-US" sz="1400" u="sng"/>
              <a:t>                              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                                              </a:t>
            </a:r>
            <a:br>
              <a:rPr lang="en-US" sz="1400"/>
            </a:br>
            <a:r>
              <a:rPr lang="en-US" sz="1400"/>
              <a:t>                                           </a:t>
            </a:r>
            <a:br>
              <a:rPr lang="en-US" sz="1400"/>
            </a:br>
            <a:r>
              <a:rPr lang="en-US" sz="1400" i="1">
                <a:solidFill>
                  <a:srgbClr val="FF0000"/>
                </a:solidFill>
              </a:rPr>
              <a:t>           </a:t>
            </a:r>
            <a:endParaRPr lang="en-US" sz="1400" i="1" dirty="0">
              <a:solidFill>
                <a:srgbClr val="FF0000"/>
              </a:solidFill>
            </a:endParaRPr>
          </a:p>
          <a:p>
            <a:pPr marL="285750" indent="-285750">
              <a:buChar char=" "/>
            </a:pPr>
            <a:r>
              <a:rPr lang="en-US" sz="1400" i="1">
                <a:solidFill>
                  <a:srgbClr val="FF0000"/>
                </a:solidFill>
              </a:rPr>
              <a:t>                                                   </a:t>
            </a:r>
            <a:br>
              <a:rPr lang="en-US" sz="1400" i="1">
                <a:solidFill>
                  <a:srgbClr val="FF0000"/>
                </a:solidFill>
              </a:rPr>
            </a:br>
            <a:r>
              <a:rPr lang="en-US" sz="1400" i="1">
                <a:solidFill>
                  <a:srgbClr val="FF0000"/>
                </a:solidFill>
              </a:rPr>
              <a:t>                      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har char=" "/>
            </a:pPr>
            <a:r>
              <a:rPr lang="en-US" sz="1400"/>
              <a:t>                                </a:t>
            </a:r>
            <a:br>
              <a:rPr lang="en-US" sz="1400"/>
            </a:br>
            <a:r>
              <a:rPr lang="en-US" sz="1400"/>
              <a:t>                                   </a:t>
            </a:r>
            <a:br>
              <a:rPr lang="en-US" sz="1400"/>
            </a:b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                   </a:t>
            </a:r>
            <a:endParaRPr lang="en-US" sz="1400" dirty="0"/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384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6"/>
            <a:ext cx="37545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Machine language(M.L)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written in binary numbers or bits, that computer can understood</a:t>
            </a:r>
          </a:p>
          <a:p>
            <a:endParaRPr lang="en-US" sz="1400" dirty="0"/>
          </a:p>
          <a:p>
            <a:pPr>
              <a:buChar char=" "/>
            </a:pPr>
            <a:r>
              <a:rPr lang="en-US" sz="1400" b="1" u="sng"/>
              <a:t>                      </a:t>
            </a:r>
            <a:r>
              <a:rPr lang="en-US" sz="1400"/>
              <a:t> </a:t>
            </a:r>
            <a:endParaRPr lang="en-US" sz="1400" dirty="0"/>
          </a:p>
          <a:p>
            <a:pPr>
              <a:buChar char=" "/>
            </a:pPr>
            <a:r>
              <a:rPr lang="en-US" sz="1400"/>
              <a:t>             </a:t>
            </a:r>
            <a:r>
              <a:rPr lang="en-US" sz="1400" u="sng"/>
              <a:t>                              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                                              </a:t>
            </a:r>
            <a:br>
              <a:rPr lang="en-US" sz="1400"/>
            </a:br>
            <a:r>
              <a:rPr lang="en-US" sz="1400"/>
              <a:t>                                           </a:t>
            </a:r>
            <a:br>
              <a:rPr lang="en-US" sz="1400"/>
            </a:br>
            <a:r>
              <a:rPr lang="en-US" sz="1400" i="1">
                <a:solidFill>
                  <a:srgbClr val="FF0000"/>
                </a:solidFill>
              </a:rPr>
              <a:t>           </a:t>
            </a:r>
            <a:endParaRPr lang="en-US" sz="1400" i="1" dirty="0">
              <a:solidFill>
                <a:srgbClr val="FF0000"/>
              </a:solidFill>
            </a:endParaRPr>
          </a:p>
          <a:p>
            <a:pPr>
              <a:buChar char=" "/>
            </a:pPr>
            <a:r>
              <a:rPr lang="en-US" sz="1400" i="1">
                <a:solidFill>
                  <a:srgbClr val="FF0000"/>
                </a:solidFill>
              </a:rPr>
              <a:t>                                                   </a:t>
            </a:r>
            <a:br>
              <a:rPr lang="en-US" sz="1400" i="1">
                <a:solidFill>
                  <a:srgbClr val="FF0000"/>
                </a:solidFill>
              </a:rPr>
            </a:br>
            <a:r>
              <a:rPr lang="en-US" sz="1400" i="1">
                <a:solidFill>
                  <a:srgbClr val="FF0000"/>
                </a:solidFill>
              </a:rPr>
              <a:t>                      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har char=" "/>
            </a:pPr>
            <a:r>
              <a:rPr lang="en-US" sz="1400"/>
              <a:t>                                </a:t>
            </a:r>
            <a:br>
              <a:rPr lang="en-US" sz="1400"/>
            </a:br>
            <a:r>
              <a:rPr lang="en-US" sz="1400"/>
              <a:t>                                   </a:t>
            </a:r>
            <a:br>
              <a:rPr lang="en-US" sz="1400"/>
            </a:b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                   </a:t>
            </a:r>
            <a:endParaRPr lang="en-US" sz="1400" dirty="0"/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183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5"/>
            <a:ext cx="37545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Machine language(M.L)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written in binary numbers or bits, that computer can understood</a:t>
            </a:r>
          </a:p>
          <a:p>
            <a:endParaRPr lang="en-US" sz="1400" dirty="0"/>
          </a:p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Assembly language(A.L)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the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human-readable mnemonics codes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for instructions, which can be converted into machine learning language (0,1), using the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assemblers.</a:t>
            </a:r>
          </a:p>
          <a:p>
            <a:pPr>
              <a:defRPr/>
            </a:pP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“like M.L, A.L also requires knowledge of internal computer architecture”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har char=" "/>
            </a:pPr>
            <a:r>
              <a:rPr lang="en-US" sz="1400"/>
              <a:t>                                </a:t>
            </a:r>
            <a:br>
              <a:rPr lang="en-US" sz="1400"/>
            </a:br>
            <a:r>
              <a:rPr lang="en-US" sz="1400"/>
              <a:t>                                   </a:t>
            </a:r>
            <a:br>
              <a:rPr lang="en-US" sz="1400"/>
            </a:b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                   </a:t>
            </a:r>
            <a:endParaRPr lang="en-US" sz="1400" dirty="0"/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35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5"/>
            <a:ext cx="37545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Machine language(M.L)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written in binary numbers or bits, that computer can understood</a:t>
            </a:r>
          </a:p>
          <a:p>
            <a:endParaRPr lang="en-US" sz="1400" dirty="0"/>
          </a:p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Assembly language(A.L)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the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human-readable mnemonics codes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for instructions, which can be converted into machine learning language (0,1), using the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assemblers.</a:t>
            </a:r>
          </a:p>
          <a:p>
            <a:pPr>
              <a:defRPr/>
            </a:pP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“like M.L, A.L also requires knowledge of internal computer architecture”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HLL, programs can be written independent to the details of the  computer. They are called high level as they are close to human languages.</a:t>
            </a:r>
            <a:endParaRPr lang="en-US" sz="1400" dirty="0"/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6013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5"/>
            <a:ext cx="37545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Machine language(M.L)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written in binary numbers or bits, that computer can understood</a:t>
            </a:r>
          </a:p>
          <a:p>
            <a:endParaRPr lang="en-US" sz="1400" dirty="0"/>
          </a:p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Assembly language(A.L)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the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human-readable mnemonics codes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for instructions, which can be converted into machine learning language (0,1), using the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assemblers.</a:t>
            </a:r>
          </a:p>
          <a:p>
            <a:pPr>
              <a:defRPr/>
            </a:pP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“like M.L, A.L also requires knowledge of internal computer architecture”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HLL, programs can be written independent to the details of the  computer. They are called high level as they are close to human languages.</a:t>
            </a:r>
            <a:endParaRPr lang="en-US" sz="1400" dirty="0"/>
          </a:p>
        </p:txBody>
      </p:sp>
      <p:sp>
        <p:nvSpPr>
          <p:cNvPr id="15" name="TextBox 14" descr=" 15">
            <a:extLst>
              <a:ext uri="{FF2B5EF4-FFF2-40B4-BE49-F238E27FC236}">
                <a16:creationId xmlns:a16="http://schemas.microsoft.com/office/drawing/2014/main" id="{550D2F7C-69AD-F849-A192-60A818801B4B}"/>
              </a:ext>
            </a:extLst>
          </p:cNvPr>
          <p:cNvSpPr txBox="1"/>
          <p:nvPr/>
        </p:nvSpPr>
        <p:spPr>
          <a:xfrm>
            <a:off x="5001492" y="2909804"/>
            <a:ext cx="274320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FORTRAN (formula translation)</a:t>
            </a: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F5330DC0-62BE-4746-8A59-C5CA10FE9FE5}"/>
              </a:ext>
            </a:extLst>
          </p:cNvPr>
          <p:cNvSpPr txBox="1"/>
          <p:nvPr/>
        </p:nvSpPr>
        <p:spPr>
          <a:xfrm>
            <a:off x="5001492" y="3182400"/>
            <a:ext cx="362296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COBOL (common business oriented language)</a:t>
            </a:r>
          </a:p>
        </p:txBody>
      </p:sp>
      <p:sp>
        <p:nvSpPr>
          <p:cNvPr id="17" name="TextBox 16" descr=" 19">
            <a:extLst>
              <a:ext uri="{FF2B5EF4-FFF2-40B4-BE49-F238E27FC236}">
                <a16:creationId xmlns:a16="http://schemas.microsoft.com/office/drawing/2014/main" id="{B0C73BFF-D92C-D449-BB8A-15E96358D3FD}"/>
              </a:ext>
            </a:extLst>
          </p:cNvPr>
          <p:cNvSpPr txBox="1"/>
          <p:nvPr/>
        </p:nvSpPr>
        <p:spPr>
          <a:xfrm>
            <a:off x="5001492" y="3474788"/>
            <a:ext cx="29233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SQL (</a:t>
            </a:r>
            <a:r>
              <a:rPr lang="en-US" sz="1300" b="1" dirty="0"/>
              <a:t>S</a:t>
            </a:r>
            <a:r>
              <a:rPr lang="en-US" sz="1300" dirty="0"/>
              <a:t>tructured </a:t>
            </a:r>
            <a:r>
              <a:rPr lang="en-US" sz="1300" b="1" dirty="0"/>
              <a:t>Q</a:t>
            </a:r>
            <a:r>
              <a:rPr lang="en-US" sz="1300" dirty="0"/>
              <a:t>uery </a:t>
            </a:r>
            <a:r>
              <a:rPr lang="en-US" sz="1300" b="1" dirty="0"/>
              <a:t>L</a:t>
            </a:r>
            <a:r>
              <a:rPr lang="en-US" sz="1300" dirty="0"/>
              <a:t>anguage)</a:t>
            </a:r>
          </a:p>
          <a:p>
            <a:r>
              <a:rPr lang="en-US" sz="1300" dirty="0"/>
              <a:t> ……..</a:t>
            </a:r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390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5"/>
            <a:ext cx="37545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Machine language(M.L)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written in binary numbers or bits, that computer can understood</a:t>
            </a:r>
          </a:p>
          <a:p>
            <a:endParaRPr lang="en-US" sz="1400" dirty="0"/>
          </a:p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Assembly language(A.L)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the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human-readable mnemonics codes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for instructions, which can be converted into machine learning language (0,1), using the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assemblers.</a:t>
            </a:r>
          </a:p>
          <a:p>
            <a:pPr>
              <a:defRPr/>
            </a:pP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“like M.L, A.L also requires knowledge of internal computer architecture”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HLL, programs can be written independent to the details of the  computer. They are called high level as they are close to human languages.</a:t>
            </a:r>
            <a:endParaRPr lang="en-US" sz="1400" dirty="0"/>
          </a:p>
        </p:txBody>
      </p:sp>
      <p:sp>
        <p:nvSpPr>
          <p:cNvPr id="15" name="TextBox 14" descr=" 15">
            <a:extLst>
              <a:ext uri="{FF2B5EF4-FFF2-40B4-BE49-F238E27FC236}">
                <a16:creationId xmlns:a16="http://schemas.microsoft.com/office/drawing/2014/main" id="{550D2F7C-69AD-F849-A192-60A818801B4B}"/>
              </a:ext>
            </a:extLst>
          </p:cNvPr>
          <p:cNvSpPr txBox="1"/>
          <p:nvPr/>
        </p:nvSpPr>
        <p:spPr>
          <a:xfrm>
            <a:off x="5001492" y="2909804"/>
            <a:ext cx="274320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FORTRAN (formula translation)</a:t>
            </a: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F5330DC0-62BE-4746-8A59-C5CA10FE9FE5}"/>
              </a:ext>
            </a:extLst>
          </p:cNvPr>
          <p:cNvSpPr txBox="1"/>
          <p:nvPr/>
        </p:nvSpPr>
        <p:spPr>
          <a:xfrm>
            <a:off x="5001492" y="3182400"/>
            <a:ext cx="362296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COBOL (common business oriented language)</a:t>
            </a:r>
          </a:p>
        </p:txBody>
      </p:sp>
      <p:sp>
        <p:nvSpPr>
          <p:cNvPr id="17" name="TextBox 16" descr=" 19">
            <a:extLst>
              <a:ext uri="{FF2B5EF4-FFF2-40B4-BE49-F238E27FC236}">
                <a16:creationId xmlns:a16="http://schemas.microsoft.com/office/drawing/2014/main" id="{B0C73BFF-D92C-D449-BB8A-15E96358D3FD}"/>
              </a:ext>
            </a:extLst>
          </p:cNvPr>
          <p:cNvSpPr txBox="1"/>
          <p:nvPr/>
        </p:nvSpPr>
        <p:spPr>
          <a:xfrm>
            <a:off x="5001492" y="3474788"/>
            <a:ext cx="29233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SQL (</a:t>
            </a:r>
            <a:r>
              <a:rPr lang="en-US" sz="1300" b="1" dirty="0"/>
              <a:t>S</a:t>
            </a:r>
            <a:r>
              <a:rPr lang="en-US" sz="1300" dirty="0"/>
              <a:t>tructured </a:t>
            </a:r>
            <a:r>
              <a:rPr lang="en-US" sz="1300" b="1" dirty="0"/>
              <a:t>Q</a:t>
            </a:r>
            <a:r>
              <a:rPr lang="en-US" sz="1300" dirty="0"/>
              <a:t>uery </a:t>
            </a:r>
            <a:r>
              <a:rPr lang="en-US" sz="1300" b="1" dirty="0"/>
              <a:t>L</a:t>
            </a:r>
            <a:r>
              <a:rPr lang="en-US" sz="1300" dirty="0"/>
              <a:t>anguage)</a:t>
            </a:r>
          </a:p>
          <a:p>
            <a:r>
              <a:rPr lang="en-US" sz="1300" dirty="0"/>
              <a:t> ……..</a:t>
            </a:r>
          </a:p>
        </p:txBody>
      </p:sp>
      <p:sp>
        <p:nvSpPr>
          <p:cNvPr id="18" name="TextBox 17" descr=" 21">
            <a:extLst>
              <a:ext uri="{FF2B5EF4-FFF2-40B4-BE49-F238E27FC236}">
                <a16:creationId xmlns:a16="http://schemas.microsoft.com/office/drawing/2014/main" id="{A03EADB6-E871-B64A-8286-17E448ED7792}"/>
              </a:ext>
            </a:extLst>
          </p:cNvPr>
          <p:cNvSpPr txBox="1"/>
          <p:nvPr/>
        </p:nvSpPr>
        <p:spPr>
          <a:xfrm>
            <a:off x="5233552" y="3967231"/>
            <a:ext cx="2743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</a:t>
            </a:r>
            <a:r>
              <a:rPr lang="en-US" sz="1600" dirty="0"/>
              <a:t>bject-</a:t>
            </a:r>
            <a:r>
              <a:rPr lang="en-US" sz="1600" b="1" dirty="0"/>
              <a:t>O</a:t>
            </a:r>
            <a:r>
              <a:rPr lang="en-US" sz="1600" dirty="0"/>
              <a:t>riented </a:t>
            </a:r>
            <a:r>
              <a:rPr lang="en-US" sz="1600" b="1" dirty="0"/>
              <a:t>L</a:t>
            </a:r>
            <a:r>
              <a:rPr lang="en-US" sz="1600" dirty="0"/>
              <a:t>anguage</a:t>
            </a:r>
          </a:p>
          <a:p>
            <a:pPr algn="ctr"/>
            <a:r>
              <a:rPr lang="en-US" sz="1600" dirty="0"/>
              <a:t>C++, C#, Java, Python</a:t>
            </a:r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 descr=" 12">
            <a:extLst>
              <a:ext uri="{FF2B5EF4-FFF2-40B4-BE49-F238E27FC236}">
                <a16:creationId xmlns:a16="http://schemas.microsoft.com/office/drawing/2014/main" id="{F036D948-740C-4F46-A780-E44601A9D2DF}"/>
              </a:ext>
            </a:extLst>
          </p:cNvPr>
          <p:cNvSpPr/>
          <p:nvPr/>
        </p:nvSpPr>
        <p:spPr>
          <a:xfrm>
            <a:off x="6854534" y="4259618"/>
            <a:ext cx="675411" cy="292388"/>
          </a:xfrm>
          <a:prstGeom prst="rect">
            <a:avLst/>
          </a:prstGeom>
          <a:noFill/>
          <a:ln w="28575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3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2806092" y="493821"/>
            <a:ext cx="4205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Programming languages</a:t>
            </a:r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4F4CD10B-14A9-E048-BFE6-B8D469C17F2B}"/>
              </a:ext>
            </a:extLst>
          </p:cNvPr>
          <p:cNvSpPr txBox="1"/>
          <p:nvPr/>
        </p:nvSpPr>
        <p:spPr>
          <a:xfrm>
            <a:off x="1762548" y="1005160"/>
            <a:ext cx="588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instruct the computers to perform some sort of actions </a:t>
            </a:r>
          </a:p>
        </p:txBody>
      </p:sp>
      <p:sp>
        <p:nvSpPr>
          <p:cNvPr id="7" name="TextBox 6" descr=" 5">
            <a:extLst>
              <a:ext uri="{FF2B5EF4-FFF2-40B4-BE49-F238E27FC236}">
                <a16:creationId xmlns:a16="http://schemas.microsoft.com/office/drawing/2014/main" id="{09AA25DF-B162-9A47-8CD5-712BA818038E}"/>
              </a:ext>
            </a:extLst>
          </p:cNvPr>
          <p:cNvSpPr txBox="1"/>
          <p:nvPr/>
        </p:nvSpPr>
        <p:spPr>
          <a:xfrm>
            <a:off x="1769475" y="1571039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Low-level </a:t>
            </a:r>
          </a:p>
        </p:txBody>
      </p:sp>
      <p:sp>
        <p:nvSpPr>
          <p:cNvPr id="13" name="TextBox 12" descr=" 6">
            <a:extLst>
              <a:ext uri="{FF2B5EF4-FFF2-40B4-BE49-F238E27FC236}">
                <a16:creationId xmlns:a16="http://schemas.microsoft.com/office/drawing/2014/main" id="{F4B1FF9C-671B-DC4B-BC92-0A96EC522C04}"/>
              </a:ext>
            </a:extLst>
          </p:cNvPr>
          <p:cNvSpPr txBox="1"/>
          <p:nvPr/>
        </p:nvSpPr>
        <p:spPr>
          <a:xfrm>
            <a:off x="6216786" y="1572830"/>
            <a:ext cx="1157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high-level </a:t>
            </a:r>
          </a:p>
        </p:txBody>
      </p:sp>
      <p:sp>
        <p:nvSpPr>
          <p:cNvPr id="11" name="TextBox 10" descr=" 11">
            <a:extLst>
              <a:ext uri="{FF2B5EF4-FFF2-40B4-BE49-F238E27FC236}">
                <a16:creationId xmlns:a16="http://schemas.microsoft.com/office/drawing/2014/main" id="{DC7E5C36-E46B-0E4F-A2CA-A939FFFE6785}"/>
              </a:ext>
            </a:extLst>
          </p:cNvPr>
          <p:cNvSpPr txBox="1"/>
          <p:nvPr/>
        </p:nvSpPr>
        <p:spPr>
          <a:xfrm>
            <a:off x="1046018" y="1932695"/>
            <a:ext cx="37545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Machine language(M.L)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written in binary numbers or bits, that computer can understood</a:t>
            </a:r>
          </a:p>
          <a:p>
            <a:endParaRPr lang="en-US" sz="1400" dirty="0"/>
          </a:p>
          <a:p>
            <a:pPr>
              <a:defRPr/>
            </a:pPr>
            <a:r>
              <a:rPr kumimoji="0" lang="en-US" sz="1400" b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Assembly language(A.L)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the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human-readable mnemonics codes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for instructions, which can be converted into machine learning language (0,1), using the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assemblers.</a:t>
            </a:r>
          </a:p>
          <a:p>
            <a:pPr>
              <a:defRPr/>
            </a:pP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“like M.L, A.L also requires knowledge of internal computer architecture”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4" name="TextBox 13" descr=" 14">
            <a:extLst>
              <a:ext uri="{FF2B5EF4-FFF2-40B4-BE49-F238E27FC236}">
                <a16:creationId xmlns:a16="http://schemas.microsoft.com/office/drawing/2014/main" id="{2D47C493-F726-FE41-9A01-4EEC27CC0885}"/>
              </a:ext>
            </a:extLst>
          </p:cNvPr>
          <p:cNvSpPr txBox="1"/>
          <p:nvPr/>
        </p:nvSpPr>
        <p:spPr>
          <a:xfrm>
            <a:off x="5001492" y="1961100"/>
            <a:ext cx="3041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HLL, programs can be written independent to the details of the  computer. They are called high level as they are close to human languages.</a:t>
            </a:r>
            <a:endParaRPr lang="en-US" sz="1400" dirty="0"/>
          </a:p>
        </p:txBody>
      </p:sp>
      <p:sp>
        <p:nvSpPr>
          <p:cNvPr id="15" name="TextBox 14" descr=" 15">
            <a:extLst>
              <a:ext uri="{FF2B5EF4-FFF2-40B4-BE49-F238E27FC236}">
                <a16:creationId xmlns:a16="http://schemas.microsoft.com/office/drawing/2014/main" id="{550D2F7C-69AD-F849-A192-60A818801B4B}"/>
              </a:ext>
            </a:extLst>
          </p:cNvPr>
          <p:cNvSpPr txBox="1"/>
          <p:nvPr/>
        </p:nvSpPr>
        <p:spPr>
          <a:xfrm>
            <a:off x="5001492" y="2909804"/>
            <a:ext cx="274320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FORTRAN (formula translation)</a:t>
            </a: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F5330DC0-62BE-4746-8A59-C5CA10FE9FE5}"/>
              </a:ext>
            </a:extLst>
          </p:cNvPr>
          <p:cNvSpPr txBox="1"/>
          <p:nvPr/>
        </p:nvSpPr>
        <p:spPr>
          <a:xfrm>
            <a:off x="5001492" y="3182400"/>
            <a:ext cx="362296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COBOL (common business oriented language)</a:t>
            </a:r>
          </a:p>
        </p:txBody>
      </p:sp>
      <p:sp>
        <p:nvSpPr>
          <p:cNvPr id="17" name="TextBox 16" descr=" 19">
            <a:extLst>
              <a:ext uri="{FF2B5EF4-FFF2-40B4-BE49-F238E27FC236}">
                <a16:creationId xmlns:a16="http://schemas.microsoft.com/office/drawing/2014/main" id="{B0C73BFF-D92C-D449-BB8A-15E96358D3FD}"/>
              </a:ext>
            </a:extLst>
          </p:cNvPr>
          <p:cNvSpPr txBox="1"/>
          <p:nvPr/>
        </p:nvSpPr>
        <p:spPr>
          <a:xfrm>
            <a:off x="5001492" y="3474788"/>
            <a:ext cx="29233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SQL (</a:t>
            </a:r>
            <a:r>
              <a:rPr lang="en-US" sz="1300" b="1" dirty="0"/>
              <a:t>S</a:t>
            </a:r>
            <a:r>
              <a:rPr lang="en-US" sz="1300" dirty="0"/>
              <a:t>tructured </a:t>
            </a:r>
            <a:r>
              <a:rPr lang="en-US" sz="1300" b="1" dirty="0"/>
              <a:t>Q</a:t>
            </a:r>
            <a:r>
              <a:rPr lang="en-US" sz="1300" dirty="0"/>
              <a:t>uery </a:t>
            </a:r>
            <a:r>
              <a:rPr lang="en-US" sz="1300" b="1" dirty="0"/>
              <a:t>L</a:t>
            </a:r>
            <a:r>
              <a:rPr lang="en-US" sz="1300" dirty="0"/>
              <a:t>anguage)</a:t>
            </a:r>
          </a:p>
          <a:p>
            <a:r>
              <a:rPr lang="en-US" sz="1300" dirty="0"/>
              <a:t> ……..</a:t>
            </a:r>
          </a:p>
        </p:txBody>
      </p:sp>
      <p:sp>
        <p:nvSpPr>
          <p:cNvPr id="18" name="TextBox 17" descr=" 21">
            <a:extLst>
              <a:ext uri="{FF2B5EF4-FFF2-40B4-BE49-F238E27FC236}">
                <a16:creationId xmlns:a16="http://schemas.microsoft.com/office/drawing/2014/main" id="{A03EADB6-E871-B64A-8286-17E448ED7792}"/>
              </a:ext>
            </a:extLst>
          </p:cNvPr>
          <p:cNvSpPr txBox="1"/>
          <p:nvPr/>
        </p:nvSpPr>
        <p:spPr>
          <a:xfrm>
            <a:off x="5233552" y="3967231"/>
            <a:ext cx="2743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</a:t>
            </a:r>
            <a:r>
              <a:rPr lang="en-US" sz="1600" dirty="0"/>
              <a:t>bject-</a:t>
            </a:r>
            <a:r>
              <a:rPr lang="en-US" sz="1600" b="1" dirty="0"/>
              <a:t>O</a:t>
            </a:r>
            <a:r>
              <a:rPr lang="en-US" sz="1600" dirty="0"/>
              <a:t>riented </a:t>
            </a:r>
            <a:r>
              <a:rPr lang="en-US" sz="1600" b="1" dirty="0"/>
              <a:t>L</a:t>
            </a:r>
            <a:r>
              <a:rPr lang="en-US" sz="1600" dirty="0"/>
              <a:t>anguage</a:t>
            </a:r>
          </a:p>
          <a:p>
            <a:pPr algn="ctr"/>
            <a:r>
              <a:rPr lang="en-US" sz="1600" dirty="0"/>
              <a:t>C++, C#, Java, Python</a:t>
            </a:r>
          </a:p>
        </p:txBody>
      </p:sp>
      <p:grpSp>
        <p:nvGrpSpPr>
          <p:cNvPr id="8" name="Group 7" descr=" 10">
            <a:extLst>
              <a:ext uri="{FF2B5EF4-FFF2-40B4-BE49-F238E27FC236}">
                <a16:creationId xmlns:a16="http://schemas.microsoft.com/office/drawing/2014/main" id="{102F3AD7-5C81-4B4D-A2F3-9C612D6839C5}"/>
              </a:ext>
            </a:extLst>
          </p:cNvPr>
          <p:cNvGrpSpPr/>
          <p:nvPr/>
        </p:nvGrpSpPr>
        <p:grpSpPr>
          <a:xfrm>
            <a:off x="2331027" y="1380719"/>
            <a:ext cx="4481946" cy="201242"/>
            <a:chOff x="2331027" y="1512332"/>
            <a:chExt cx="4481946" cy="20124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C238C3-8263-3E41-B67D-F42127EC0C08}"/>
                </a:ext>
              </a:extLst>
            </p:cNvPr>
            <p:cNvCxnSpPr>
              <a:cxnSpLocks/>
            </p:cNvCxnSpPr>
            <p:nvPr/>
          </p:nvCxnSpPr>
          <p:spPr>
            <a:xfrm>
              <a:off x="2331027" y="1522325"/>
              <a:ext cx="44819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ACD715-728C-A940-A6BC-EC08CCB1F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1418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12A29B-283E-5346-AEAC-AC5030233411}"/>
                </a:ext>
              </a:extLst>
            </p:cNvPr>
            <p:cNvCxnSpPr/>
            <p:nvPr/>
          </p:nvCxnSpPr>
          <p:spPr>
            <a:xfrm flipH="1">
              <a:off x="6795657" y="1512332"/>
              <a:ext cx="6927" cy="201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 descr=" 12">
            <a:extLst>
              <a:ext uri="{FF2B5EF4-FFF2-40B4-BE49-F238E27FC236}">
                <a16:creationId xmlns:a16="http://schemas.microsoft.com/office/drawing/2014/main" id="{F036D948-740C-4F46-A780-E44601A9D2DF}"/>
              </a:ext>
            </a:extLst>
          </p:cNvPr>
          <p:cNvSpPr/>
          <p:nvPr/>
        </p:nvSpPr>
        <p:spPr>
          <a:xfrm>
            <a:off x="6854534" y="4259618"/>
            <a:ext cx="675411" cy="292388"/>
          </a:xfrm>
          <a:prstGeom prst="rect">
            <a:avLst/>
          </a:prstGeom>
          <a:noFill/>
          <a:ln w="28575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27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 "/>
            </a:pPr>
            <a:r>
              <a:rPr lang="en-US" sz="1400"/>
              <a:t>      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0008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 "/>
            </a:pPr>
            <a:r>
              <a:rPr lang="en-US" sz="1400"/>
              <a:t>      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9760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 "/>
            </a:pPr>
            <a:r>
              <a:rPr lang="en-US" sz="1400"/>
              <a:t>      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50061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29953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Char char=" "/>
            </a:pPr>
            <a:r>
              <a:rPr lang="en-US" sz="1400"/>
              <a:t>            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59202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Easily integrated with other languages: C, C++, Java,..</a:t>
            </a:r>
          </a:p>
          <a:p>
            <a:pPr marL="285750" indent="-285750">
              <a:buChar char=" "/>
            </a:pPr>
            <a:r>
              <a:rPr lang="en-US" sz="1400"/>
              <a:t>                 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39737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Easily integrated with other languages: C, C++, Java,..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Easy to learn, read and maintain</a:t>
            </a:r>
          </a:p>
          <a:p>
            <a:pPr marL="285750" indent="-285750">
              <a:buChar char=" "/>
            </a:pPr>
            <a:r>
              <a:rPr lang="en-US" sz="1400"/>
              <a:t>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           </a:t>
            </a:r>
            <a:br>
              <a:rPr lang="en-US" sz="1400"/>
            </a:br>
            <a:r>
              <a:rPr lang="en-US" sz="1400"/>
              <a:t>                            </a:t>
            </a:r>
            <a:br>
              <a:rPr lang="en-US" sz="1400"/>
            </a:br>
            <a:r>
              <a:rPr lang="en-US" sz="1400"/>
              <a:t>      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55452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Easily integrated with other languages: C, C++, Java,..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Easy to learn, read and maintain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Code writing faster and shorter, supported by tons of dedicated  Python libraries (data visualization, machine learning, data science, web development,..)</a:t>
            </a:r>
          </a:p>
          <a:p>
            <a:pPr marL="285750" indent="-285750">
              <a:buChar char=" "/>
            </a:pPr>
            <a:r>
              <a:rPr lang="en-US" sz="1400"/>
              <a:t>                                     </a:t>
            </a:r>
            <a:br>
              <a:rPr lang="en-US" sz="1400"/>
            </a:b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3701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Easily integrated with other languages: C, C++, Java,..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Easy to learn, read and maintain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Code writing faster and shorter, supported by tons of dedicated  Python libraries (data visualization, machine learning, data science, web development,..)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Portable (same interface for various platform)</a:t>
            </a:r>
          </a:p>
          <a:p>
            <a:pPr marL="285750" indent="-285750">
              <a:buChar char=" "/>
            </a:pPr>
            <a:r>
              <a:rPr lang="en-US" sz="1400"/>
              <a:t>                 </a:t>
            </a:r>
            <a:endParaRPr lang="en-US" sz="1400" dirty="0"/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47649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Easily integrated with other languages: C, C++, Java,..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Easy to learn, read and maintain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Code writing faster and shorter, supported by tons of dedicated  Python libraries (data visualization, machine learning, data science, web development,..)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Portable (same interface for various platform)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GUI Programming ,</a:t>
            </a:r>
          </a:p>
          <a:p>
            <a:endParaRPr lang="en-US" sz="1300" dirty="0"/>
          </a:p>
          <a:p>
            <a:pPr marL="285750" indent="-285750">
              <a:buChar char=" "/>
            </a:pPr>
            <a:r>
              <a:rPr lang="en-US" sz="1300"/>
              <a:t>                    </a:t>
            </a:r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73915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1EAA3E5-6BEE-E143-8155-B01DB95EF7E3}"/>
              </a:ext>
            </a:extLst>
          </p:cNvPr>
          <p:cNvSpPr txBox="1"/>
          <p:nvPr/>
        </p:nvSpPr>
        <p:spPr>
          <a:xfrm>
            <a:off x="1040785" y="508036"/>
            <a:ext cx="2974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</a:rPr>
              <a:t>Why Python(3) ? </a:t>
            </a:r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7C3DA6DD-52EF-CB4A-8000-426E7B7A171F}"/>
              </a:ext>
            </a:extLst>
          </p:cNvPr>
          <p:cNvSpPr txBox="1"/>
          <p:nvPr/>
        </p:nvSpPr>
        <p:spPr>
          <a:xfrm>
            <a:off x="1040785" y="1193445"/>
            <a:ext cx="240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features:</a:t>
            </a:r>
          </a:p>
        </p:txBody>
      </p:sp>
      <p:sp>
        <p:nvSpPr>
          <p:cNvPr id="5" name="TextBox 4" descr=" 6">
            <a:extLst>
              <a:ext uri="{FF2B5EF4-FFF2-40B4-BE49-F238E27FC236}">
                <a16:creationId xmlns:a16="http://schemas.microsoft.com/office/drawing/2014/main" id="{4EA55DDD-8316-C94D-9B2E-45BF759D4FC5}"/>
              </a:ext>
            </a:extLst>
          </p:cNvPr>
          <p:cNvSpPr txBox="1"/>
          <p:nvPr/>
        </p:nvSpPr>
        <p:spPr>
          <a:xfrm>
            <a:off x="916920" y="1803415"/>
            <a:ext cx="383918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Interpreted language</a:t>
            </a:r>
          </a:p>
          <a:p>
            <a:r>
              <a:rPr lang="en-US" dirty="0"/>
              <a:t>  </a:t>
            </a:r>
            <a:r>
              <a:rPr lang="en-US" sz="1400" dirty="0"/>
              <a:t>(no compilation required before execution)</a:t>
            </a:r>
          </a:p>
          <a:p>
            <a:endParaRPr lang="en-US" sz="1400" dirty="0"/>
          </a:p>
          <a:p>
            <a:r>
              <a:rPr lang="en-US" sz="1700" u="sng" dirty="0"/>
              <a:t>Interactive</a:t>
            </a:r>
            <a:r>
              <a:rPr lang="en-US" sz="1700" dirty="0"/>
              <a:t> </a:t>
            </a:r>
          </a:p>
          <a:p>
            <a:r>
              <a:rPr lang="en-US" dirty="0"/>
              <a:t>    </a:t>
            </a:r>
            <a:r>
              <a:rPr lang="en-US" sz="1400" dirty="0"/>
              <a:t>(direct interaction with python prompt)</a:t>
            </a:r>
          </a:p>
          <a:p>
            <a:endParaRPr lang="en-US" sz="1400" dirty="0"/>
          </a:p>
          <a:p>
            <a:r>
              <a:rPr lang="en-US" sz="1700" u="sng" dirty="0"/>
              <a:t>Object Oriented Programming supported</a:t>
            </a:r>
          </a:p>
          <a:p>
            <a:r>
              <a:rPr lang="en-US" sz="1400" dirty="0"/>
              <a:t> (apart from structured and functional approach)</a:t>
            </a:r>
          </a:p>
          <a:p>
            <a:endParaRPr lang="en-US" sz="1400" dirty="0"/>
          </a:p>
        </p:txBody>
      </p:sp>
      <p:sp>
        <p:nvSpPr>
          <p:cNvPr id="7" name="TextBox 6" descr=" 7">
            <a:extLst>
              <a:ext uri="{FF2B5EF4-FFF2-40B4-BE49-F238E27FC236}">
                <a16:creationId xmlns:a16="http://schemas.microsoft.com/office/drawing/2014/main" id="{7BDF3424-839F-B743-AD83-90A5F8F3E2A7}"/>
              </a:ext>
            </a:extLst>
          </p:cNvPr>
          <p:cNvSpPr txBox="1"/>
          <p:nvPr/>
        </p:nvSpPr>
        <p:spPr>
          <a:xfrm>
            <a:off x="4519912" y="523638"/>
            <a:ext cx="456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Characteristics and </a:t>
            </a:r>
          </a:p>
          <a:p>
            <a:r>
              <a:rPr lang="en-US" sz="2400" b="1" dirty="0"/>
              <a:t>                            applications</a:t>
            </a:r>
          </a:p>
        </p:txBody>
      </p:sp>
      <p:sp>
        <p:nvSpPr>
          <p:cNvPr id="8" name="TextBox 7" descr=" 8">
            <a:extLst>
              <a:ext uri="{FF2B5EF4-FFF2-40B4-BE49-F238E27FC236}">
                <a16:creationId xmlns:a16="http://schemas.microsoft.com/office/drawing/2014/main" id="{352665BB-F056-5143-A2FD-82F847C8BF34}"/>
              </a:ext>
            </a:extLst>
          </p:cNvPr>
          <p:cNvSpPr txBox="1"/>
          <p:nvPr/>
        </p:nvSpPr>
        <p:spPr>
          <a:xfrm>
            <a:off x="4694997" y="1306611"/>
            <a:ext cx="34082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structured, functional and OOP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Scripted language (eg., PERL, …)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Easily integrated with other languages: C, C++, Java,..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Easy to learn, read and maintain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Code writing faster and shorter, supported by tons of dedicated  Python libraries (data visualization, machine learning, data science, web development,..)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Portable (same interface for various platform)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GUI Programming ,</a:t>
            </a:r>
          </a:p>
          <a:p>
            <a:endParaRPr lang="en-US" sz="1300" dirty="0"/>
          </a:p>
          <a:p>
            <a:pPr>
              <a:defRPr/>
            </a:pPr>
            <a:r>
              <a:rPr kumimoji="0" lang="en-US" sz="13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and many more.......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10783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B0BFB698-3DEF-BA4C-B3C4-D9CBAA796DC1}"/>
              </a:ext>
            </a:extLst>
          </p:cNvPr>
          <p:cNvSpPr txBox="1"/>
          <p:nvPr/>
        </p:nvSpPr>
        <p:spPr>
          <a:xfrm>
            <a:off x="2106626" y="438053"/>
            <a:ext cx="552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What we will cover in this course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200534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B0BFB698-3DEF-BA4C-B3C4-D9CBAA796DC1}"/>
              </a:ext>
            </a:extLst>
          </p:cNvPr>
          <p:cNvSpPr txBox="1"/>
          <p:nvPr/>
        </p:nvSpPr>
        <p:spPr>
          <a:xfrm>
            <a:off x="2106626" y="438053"/>
            <a:ext cx="552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What we will cover in this course</a:t>
            </a:r>
            <a:endParaRPr lang="en-US" sz="3000" b="1" dirty="0"/>
          </a:p>
        </p:txBody>
      </p:sp>
      <p:pic>
        <p:nvPicPr>
          <p:cNvPr id="4" name="Picture 3" descr=" 14">
            <a:extLst>
              <a:ext uri="{FF2B5EF4-FFF2-40B4-BE49-F238E27FC236}">
                <a16:creationId xmlns:a16="http://schemas.microsoft.com/office/drawing/2014/main" id="{BA57055F-3A8D-DF40-9FD5-1CE7FE49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3" y="969002"/>
            <a:ext cx="2190486" cy="361619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814065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B0BFB698-3DEF-BA4C-B3C4-D9CBAA796DC1}"/>
              </a:ext>
            </a:extLst>
          </p:cNvPr>
          <p:cNvSpPr txBox="1"/>
          <p:nvPr/>
        </p:nvSpPr>
        <p:spPr>
          <a:xfrm>
            <a:off x="2106626" y="438053"/>
            <a:ext cx="552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What we will cover in this course</a:t>
            </a:r>
            <a:endParaRPr lang="en-US" sz="3000" b="1" dirty="0"/>
          </a:p>
        </p:txBody>
      </p:sp>
      <p:pic>
        <p:nvPicPr>
          <p:cNvPr id="4" name="Picture 3" descr=" 14">
            <a:extLst>
              <a:ext uri="{FF2B5EF4-FFF2-40B4-BE49-F238E27FC236}">
                <a16:creationId xmlns:a16="http://schemas.microsoft.com/office/drawing/2014/main" id="{BA57055F-3A8D-DF40-9FD5-1CE7FE49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3" y="969002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grpSp>
        <p:nvGrpSpPr>
          <p:cNvPr id="5" name="Group 4" descr=" 18">
            <a:extLst>
              <a:ext uri="{FF2B5EF4-FFF2-40B4-BE49-F238E27FC236}">
                <a16:creationId xmlns:a16="http://schemas.microsoft.com/office/drawing/2014/main" id="{A5B1DE69-5695-404E-8DD8-160D0586F707}"/>
              </a:ext>
            </a:extLst>
          </p:cNvPr>
          <p:cNvGrpSpPr/>
          <p:nvPr/>
        </p:nvGrpSpPr>
        <p:grpSpPr>
          <a:xfrm>
            <a:off x="3254269" y="1253097"/>
            <a:ext cx="2322366" cy="3221257"/>
            <a:chOff x="3446913" y="1026389"/>
            <a:chExt cx="2250173" cy="31689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98814A-24A0-3149-A01A-6C789BC9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A3FD6D-EF40-764A-B91A-EB3DC6B305FA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311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B0BFB698-3DEF-BA4C-B3C4-D9CBAA796DC1}"/>
              </a:ext>
            </a:extLst>
          </p:cNvPr>
          <p:cNvSpPr txBox="1"/>
          <p:nvPr/>
        </p:nvSpPr>
        <p:spPr>
          <a:xfrm>
            <a:off x="2106626" y="438053"/>
            <a:ext cx="552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What we will cover in this course</a:t>
            </a:r>
            <a:endParaRPr lang="en-US" sz="3000" b="1" dirty="0"/>
          </a:p>
        </p:txBody>
      </p:sp>
      <p:pic>
        <p:nvPicPr>
          <p:cNvPr id="4" name="Picture 3" descr=" 14">
            <a:extLst>
              <a:ext uri="{FF2B5EF4-FFF2-40B4-BE49-F238E27FC236}">
                <a16:creationId xmlns:a16="http://schemas.microsoft.com/office/drawing/2014/main" id="{BA57055F-3A8D-DF40-9FD5-1CE7FE49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3" y="969002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grpSp>
        <p:nvGrpSpPr>
          <p:cNvPr id="5" name="Group 4" descr=" 18">
            <a:extLst>
              <a:ext uri="{FF2B5EF4-FFF2-40B4-BE49-F238E27FC236}">
                <a16:creationId xmlns:a16="http://schemas.microsoft.com/office/drawing/2014/main" id="{A5B1DE69-5695-404E-8DD8-160D0586F707}"/>
              </a:ext>
            </a:extLst>
          </p:cNvPr>
          <p:cNvGrpSpPr/>
          <p:nvPr/>
        </p:nvGrpSpPr>
        <p:grpSpPr>
          <a:xfrm>
            <a:off x="3254269" y="1253097"/>
            <a:ext cx="2322366" cy="3221257"/>
            <a:chOff x="3446913" y="1026389"/>
            <a:chExt cx="2250173" cy="31689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98814A-24A0-3149-A01A-6C789BC9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A3FD6D-EF40-764A-B91A-EB3DC6B305FA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pic>
        <p:nvPicPr>
          <p:cNvPr id="8" name="Picture 7" descr=" 20">
            <a:extLst>
              <a:ext uri="{FF2B5EF4-FFF2-40B4-BE49-F238E27FC236}">
                <a16:creationId xmlns:a16="http://schemas.microsoft.com/office/drawing/2014/main" id="{98A3B21F-3309-2B43-A724-21A05E637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036" y="1791122"/>
            <a:ext cx="2435180" cy="138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11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pic>
        <p:nvPicPr>
          <p:cNvPr id="14" name="Picture 13" descr=" 14">
            <a:extLst>
              <a:ext uri="{FF2B5EF4-FFF2-40B4-BE49-F238E27FC236}">
                <a16:creationId xmlns:a16="http://schemas.microsoft.com/office/drawing/2014/main" id="{CA1FF2CD-0901-474E-A405-62FAFE1D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2" y="962953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Rectangle 3" descr=" 4">
            <a:extLst>
              <a:ext uri="{FF2B5EF4-FFF2-40B4-BE49-F238E27FC236}">
                <a16:creationId xmlns:a16="http://schemas.microsoft.com/office/drawing/2014/main" id="{4146DEA0-EE1F-0345-93FE-496DCC00603E}"/>
              </a:ext>
            </a:extLst>
          </p:cNvPr>
          <p:cNvSpPr/>
          <p:nvPr/>
        </p:nvSpPr>
        <p:spPr>
          <a:xfrm>
            <a:off x="1607127" y="1226127"/>
            <a:ext cx="1281546" cy="138546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 descr=" 2">
            <a:extLst>
              <a:ext uri="{FF2B5EF4-FFF2-40B4-BE49-F238E27FC236}">
                <a16:creationId xmlns:a16="http://schemas.microsoft.com/office/drawing/2014/main" id="{E7ECBFE3-6DBF-9E6D-3D1E-8BF64A7328AD}"/>
              </a:ext>
            </a:extLst>
          </p:cNvPr>
          <p:cNvSpPr txBox="1"/>
          <p:nvPr/>
        </p:nvSpPr>
        <p:spPr>
          <a:xfrm>
            <a:off x="2106626" y="438053"/>
            <a:ext cx="552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What we will cover in this course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3116228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pic>
        <p:nvPicPr>
          <p:cNvPr id="14" name="Picture 13" descr=" 14">
            <a:extLst>
              <a:ext uri="{FF2B5EF4-FFF2-40B4-BE49-F238E27FC236}">
                <a16:creationId xmlns:a16="http://schemas.microsoft.com/office/drawing/2014/main" id="{CA1FF2CD-0901-474E-A405-62FAFE1D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2" y="962953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Rectangle 3" descr=" 4">
            <a:extLst>
              <a:ext uri="{FF2B5EF4-FFF2-40B4-BE49-F238E27FC236}">
                <a16:creationId xmlns:a16="http://schemas.microsoft.com/office/drawing/2014/main" id="{4146DEA0-EE1F-0345-93FE-496DCC00603E}"/>
              </a:ext>
            </a:extLst>
          </p:cNvPr>
          <p:cNvSpPr/>
          <p:nvPr/>
        </p:nvSpPr>
        <p:spPr>
          <a:xfrm>
            <a:off x="1607127" y="1226127"/>
            <a:ext cx="1281546" cy="138546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 descr=" 5">
            <a:extLst>
              <a:ext uri="{FF2B5EF4-FFF2-40B4-BE49-F238E27FC236}">
                <a16:creationId xmlns:a16="http://schemas.microsoft.com/office/drawing/2014/main" id="{681BBC2A-118F-5D40-A070-8CB8F0842904}"/>
              </a:ext>
            </a:extLst>
          </p:cNvPr>
          <p:cNvSpPr txBox="1"/>
          <p:nvPr/>
        </p:nvSpPr>
        <p:spPr>
          <a:xfrm>
            <a:off x="3194149" y="1156012"/>
            <a:ext cx="513952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Identifiers:</a:t>
            </a:r>
            <a:r>
              <a:rPr lang="en-US" dirty="0"/>
              <a:t>  </a:t>
            </a:r>
            <a:r>
              <a:rPr lang="en-US" sz="1600" dirty="0"/>
              <a:t>is a name, to identify </a:t>
            </a:r>
            <a:r>
              <a:rPr lang="en-US" sz="1600" i="1" dirty="0"/>
              <a:t>variable</a:t>
            </a:r>
            <a:r>
              <a:rPr lang="en-US" sz="1600" dirty="0"/>
              <a:t>, </a:t>
            </a:r>
            <a:r>
              <a:rPr lang="en-US" sz="1600" i="1" dirty="0"/>
              <a:t>function</a:t>
            </a:r>
            <a:r>
              <a:rPr lang="en-US" sz="1600" dirty="0"/>
              <a:t>, </a:t>
            </a:r>
          </a:p>
          <a:p>
            <a:r>
              <a:rPr lang="en-US" sz="1600" i="1" dirty="0"/>
              <a:t>                                module</a:t>
            </a:r>
            <a:r>
              <a:rPr lang="en-US" sz="1600" dirty="0"/>
              <a:t>….</a:t>
            </a:r>
          </a:p>
          <a:p>
            <a:endParaRPr lang="en-US" dirty="0"/>
          </a:p>
          <a:p>
            <a:r>
              <a:rPr lang="en-US" sz="2400" b="1" dirty="0"/>
              <a:t>Keywords:</a:t>
            </a:r>
            <a:r>
              <a:rPr lang="en-US" dirty="0"/>
              <a:t> predefined words, that has specific </a:t>
            </a:r>
          </a:p>
          <a:p>
            <a:r>
              <a:rPr lang="en-US" dirty="0"/>
              <a:t>                          meaning and can’t be use as </a:t>
            </a:r>
          </a:p>
          <a:p>
            <a:r>
              <a:rPr lang="en-US" dirty="0"/>
              <a:t>                          constants, variables or other identifier </a:t>
            </a:r>
          </a:p>
          <a:p>
            <a:r>
              <a:rPr lang="en-US" dirty="0"/>
              <a:t>                          names.</a:t>
            </a:r>
          </a:p>
          <a:p>
            <a:endParaRPr lang="en-US" dirty="0"/>
          </a:p>
          <a:p>
            <a:r>
              <a:rPr lang="en-US" sz="2400" b="1" dirty="0"/>
              <a:t>Variables: </a:t>
            </a:r>
          </a:p>
        </p:txBody>
      </p:sp>
      <p:sp>
        <p:nvSpPr>
          <p:cNvPr id="5" name="TextBox 4" descr=" 2">
            <a:extLst>
              <a:ext uri="{FF2B5EF4-FFF2-40B4-BE49-F238E27FC236}">
                <a16:creationId xmlns:a16="http://schemas.microsoft.com/office/drawing/2014/main" id="{4CEC8B05-5C00-300B-0C0A-3BEDDF9E75B0}"/>
              </a:ext>
            </a:extLst>
          </p:cNvPr>
          <p:cNvSpPr txBox="1"/>
          <p:nvPr/>
        </p:nvSpPr>
        <p:spPr>
          <a:xfrm>
            <a:off x="2106626" y="438053"/>
            <a:ext cx="552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What we will cover in this course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129655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4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63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 7" descr=" 41">
            <a:extLst>
              <a:ext uri="{FF2B5EF4-FFF2-40B4-BE49-F238E27FC236}">
                <a16:creationId xmlns:a16="http://schemas.microsoft.com/office/drawing/2014/main" id="{8B28608C-306C-674F-9B90-8ABA4E5DA066}"/>
              </a:ext>
            </a:extLst>
          </p:cNvPr>
          <p:cNvSpPr/>
          <p:nvPr/>
        </p:nvSpPr>
        <p:spPr>
          <a:xfrm>
            <a:off x="6062603" y="874212"/>
            <a:ext cx="1886910" cy="407913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NUMBERS</a:t>
            </a:r>
          </a:p>
        </p:txBody>
      </p:sp>
      <p:sp>
        <p:nvSpPr>
          <p:cNvPr id="9" name="Oval 8" descr=" 42">
            <a:extLst>
              <a:ext uri="{FF2B5EF4-FFF2-40B4-BE49-F238E27FC236}">
                <a16:creationId xmlns:a16="http://schemas.microsoft.com/office/drawing/2014/main" id="{E91FE6B3-A937-6344-91A7-96AC229B5299}"/>
              </a:ext>
            </a:extLst>
          </p:cNvPr>
          <p:cNvSpPr/>
          <p:nvPr/>
        </p:nvSpPr>
        <p:spPr>
          <a:xfrm>
            <a:off x="5591098" y="841510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cxnSp>
        <p:nvCxnSpPr>
          <p:cNvPr id="11" name="Straight Connector 10" descr=" 13">
            <a:extLst>
              <a:ext uri="{FF2B5EF4-FFF2-40B4-BE49-F238E27FC236}">
                <a16:creationId xmlns:a16="http://schemas.microsoft.com/office/drawing/2014/main" id="{B568D899-CDCC-434B-83AD-92FD5036BC06}"/>
              </a:ext>
            </a:extLst>
          </p:cNvPr>
          <p:cNvCxnSpPr/>
          <p:nvPr/>
        </p:nvCxnSpPr>
        <p:spPr>
          <a:xfrm flipV="1">
            <a:off x="3813221" y="916191"/>
            <a:ext cx="1854486" cy="1232899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 33">
            <a:extLst>
              <a:ext uri="{FF2B5EF4-FFF2-40B4-BE49-F238E27FC236}">
                <a16:creationId xmlns:a16="http://schemas.microsoft.com/office/drawing/2014/main" id="{936468B2-53D3-054C-89D4-42321524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05" y="872224"/>
            <a:ext cx="464553" cy="464553"/>
          </a:xfrm>
          <a:prstGeom prst="rect">
            <a:avLst/>
          </a:prstGeom>
        </p:spPr>
      </p:pic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2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 7" descr=" 41">
            <a:extLst>
              <a:ext uri="{FF2B5EF4-FFF2-40B4-BE49-F238E27FC236}">
                <a16:creationId xmlns:a16="http://schemas.microsoft.com/office/drawing/2014/main" id="{8B28608C-306C-674F-9B90-8ABA4E5DA066}"/>
              </a:ext>
            </a:extLst>
          </p:cNvPr>
          <p:cNvSpPr/>
          <p:nvPr/>
        </p:nvSpPr>
        <p:spPr>
          <a:xfrm>
            <a:off x="6062603" y="874212"/>
            <a:ext cx="1886910" cy="407913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NUMBERS</a:t>
            </a:r>
          </a:p>
        </p:txBody>
      </p:sp>
      <p:sp>
        <p:nvSpPr>
          <p:cNvPr id="9" name="Oval 8" descr=" 42">
            <a:extLst>
              <a:ext uri="{FF2B5EF4-FFF2-40B4-BE49-F238E27FC236}">
                <a16:creationId xmlns:a16="http://schemas.microsoft.com/office/drawing/2014/main" id="{E91FE6B3-A937-6344-91A7-96AC229B5299}"/>
              </a:ext>
            </a:extLst>
          </p:cNvPr>
          <p:cNvSpPr/>
          <p:nvPr/>
        </p:nvSpPr>
        <p:spPr>
          <a:xfrm>
            <a:off x="5591098" y="841510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1" descr=" 43">
            <a:extLst>
              <a:ext uri="{FF2B5EF4-FFF2-40B4-BE49-F238E27FC236}">
                <a16:creationId xmlns:a16="http://schemas.microsoft.com/office/drawing/2014/main" id="{C08650DB-1163-1B46-A0FB-4BD07704CD66}"/>
              </a:ext>
            </a:extLst>
          </p:cNvPr>
          <p:cNvSpPr/>
          <p:nvPr/>
        </p:nvSpPr>
        <p:spPr>
          <a:xfrm>
            <a:off x="6397743" y="1495146"/>
            <a:ext cx="1430069" cy="407913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STRING</a:t>
            </a:r>
          </a:p>
        </p:txBody>
      </p:sp>
      <p:sp>
        <p:nvSpPr>
          <p:cNvPr id="13" name="Oval 12" descr=" 44">
            <a:extLst>
              <a:ext uri="{FF2B5EF4-FFF2-40B4-BE49-F238E27FC236}">
                <a16:creationId xmlns:a16="http://schemas.microsoft.com/office/drawing/2014/main" id="{C1B22549-3E46-A242-AA37-6602635553C5}"/>
              </a:ext>
            </a:extLst>
          </p:cNvPr>
          <p:cNvSpPr/>
          <p:nvPr/>
        </p:nvSpPr>
        <p:spPr>
          <a:xfrm>
            <a:off x="5926635" y="1453303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cxnSp>
        <p:nvCxnSpPr>
          <p:cNvPr id="11" name="Straight Connector 10" descr=" 13">
            <a:extLst>
              <a:ext uri="{FF2B5EF4-FFF2-40B4-BE49-F238E27FC236}">
                <a16:creationId xmlns:a16="http://schemas.microsoft.com/office/drawing/2014/main" id="{B568D899-CDCC-434B-83AD-92FD5036BC06}"/>
              </a:ext>
            </a:extLst>
          </p:cNvPr>
          <p:cNvCxnSpPr/>
          <p:nvPr/>
        </p:nvCxnSpPr>
        <p:spPr>
          <a:xfrm flipV="1">
            <a:off x="3813221" y="916191"/>
            <a:ext cx="1854486" cy="1232899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14">
            <a:extLst>
              <a:ext uri="{FF2B5EF4-FFF2-40B4-BE49-F238E27FC236}">
                <a16:creationId xmlns:a16="http://schemas.microsoft.com/office/drawing/2014/main" id="{00E1C4FB-BC12-784A-9501-EF728106A896}"/>
              </a:ext>
            </a:extLst>
          </p:cNvPr>
          <p:cNvCxnSpPr>
            <a:cxnSpLocks/>
          </p:cNvCxnSpPr>
          <p:nvPr/>
        </p:nvCxnSpPr>
        <p:spPr>
          <a:xfrm flipV="1">
            <a:off x="4473335" y="1465859"/>
            <a:ext cx="1631023" cy="523912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 32">
            <a:extLst>
              <a:ext uri="{FF2B5EF4-FFF2-40B4-BE49-F238E27FC236}">
                <a16:creationId xmlns:a16="http://schemas.microsoft.com/office/drawing/2014/main" id="{12A8DB7C-B66A-3B44-9623-0E020246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2" y="1497684"/>
            <a:ext cx="464553" cy="464553"/>
          </a:xfrm>
          <a:prstGeom prst="rect">
            <a:avLst/>
          </a:prstGeom>
        </p:spPr>
      </p:pic>
      <p:pic>
        <p:nvPicPr>
          <p:cNvPr id="10" name="Picture 9" descr=" 33">
            <a:extLst>
              <a:ext uri="{FF2B5EF4-FFF2-40B4-BE49-F238E27FC236}">
                <a16:creationId xmlns:a16="http://schemas.microsoft.com/office/drawing/2014/main" id="{936468B2-53D3-054C-89D4-42321524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05" y="872224"/>
            <a:ext cx="464553" cy="464553"/>
          </a:xfrm>
          <a:prstGeom prst="rect">
            <a:avLst/>
          </a:prstGeom>
        </p:spPr>
      </p:pic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76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 7" descr=" 41">
            <a:extLst>
              <a:ext uri="{FF2B5EF4-FFF2-40B4-BE49-F238E27FC236}">
                <a16:creationId xmlns:a16="http://schemas.microsoft.com/office/drawing/2014/main" id="{8B28608C-306C-674F-9B90-8ABA4E5DA066}"/>
              </a:ext>
            </a:extLst>
          </p:cNvPr>
          <p:cNvSpPr/>
          <p:nvPr/>
        </p:nvSpPr>
        <p:spPr>
          <a:xfrm>
            <a:off x="6062603" y="874212"/>
            <a:ext cx="1886910" cy="407913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NUMBERS</a:t>
            </a:r>
          </a:p>
        </p:txBody>
      </p:sp>
      <p:sp>
        <p:nvSpPr>
          <p:cNvPr id="9" name="Oval 8" descr=" 42">
            <a:extLst>
              <a:ext uri="{FF2B5EF4-FFF2-40B4-BE49-F238E27FC236}">
                <a16:creationId xmlns:a16="http://schemas.microsoft.com/office/drawing/2014/main" id="{E91FE6B3-A937-6344-91A7-96AC229B5299}"/>
              </a:ext>
            </a:extLst>
          </p:cNvPr>
          <p:cNvSpPr/>
          <p:nvPr/>
        </p:nvSpPr>
        <p:spPr>
          <a:xfrm>
            <a:off x="5591098" y="841510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1" descr=" 43">
            <a:extLst>
              <a:ext uri="{FF2B5EF4-FFF2-40B4-BE49-F238E27FC236}">
                <a16:creationId xmlns:a16="http://schemas.microsoft.com/office/drawing/2014/main" id="{C08650DB-1163-1B46-A0FB-4BD07704CD66}"/>
              </a:ext>
            </a:extLst>
          </p:cNvPr>
          <p:cNvSpPr/>
          <p:nvPr/>
        </p:nvSpPr>
        <p:spPr>
          <a:xfrm>
            <a:off x="6397743" y="1495146"/>
            <a:ext cx="1430069" cy="407913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STRING</a:t>
            </a:r>
          </a:p>
        </p:txBody>
      </p:sp>
      <p:sp>
        <p:nvSpPr>
          <p:cNvPr id="13" name="Oval 12" descr=" 44">
            <a:extLst>
              <a:ext uri="{FF2B5EF4-FFF2-40B4-BE49-F238E27FC236}">
                <a16:creationId xmlns:a16="http://schemas.microsoft.com/office/drawing/2014/main" id="{C1B22549-3E46-A242-AA37-6602635553C5}"/>
              </a:ext>
            </a:extLst>
          </p:cNvPr>
          <p:cNvSpPr/>
          <p:nvPr/>
        </p:nvSpPr>
        <p:spPr>
          <a:xfrm>
            <a:off x="5926635" y="1453303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5" descr=" 45">
            <a:extLst>
              <a:ext uri="{FF2B5EF4-FFF2-40B4-BE49-F238E27FC236}">
                <a16:creationId xmlns:a16="http://schemas.microsoft.com/office/drawing/2014/main" id="{93131061-7E9B-824D-B625-99890CB92A71}"/>
              </a:ext>
            </a:extLst>
          </p:cNvPr>
          <p:cNvSpPr/>
          <p:nvPr/>
        </p:nvSpPr>
        <p:spPr>
          <a:xfrm>
            <a:off x="6533291" y="2097798"/>
            <a:ext cx="1430069" cy="407913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7" name="Oval 16" descr=" 46">
            <a:extLst>
              <a:ext uri="{FF2B5EF4-FFF2-40B4-BE49-F238E27FC236}">
                <a16:creationId xmlns:a16="http://schemas.microsoft.com/office/drawing/2014/main" id="{1AA3CBF5-8FDB-5B48-BA61-CFA77DE8E4A9}"/>
              </a:ext>
            </a:extLst>
          </p:cNvPr>
          <p:cNvSpPr/>
          <p:nvPr/>
        </p:nvSpPr>
        <p:spPr>
          <a:xfrm>
            <a:off x="6080067" y="2065096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cxnSp>
        <p:nvCxnSpPr>
          <p:cNvPr id="11" name="Straight Connector 10" descr=" 13">
            <a:extLst>
              <a:ext uri="{FF2B5EF4-FFF2-40B4-BE49-F238E27FC236}">
                <a16:creationId xmlns:a16="http://schemas.microsoft.com/office/drawing/2014/main" id="{B568D899-CDCC-434B-83AD-92FD5036BC06}"/>
              </a:ext>
            </a:extLst>
          </p:cNvPr>
          <p:cNvCxnSpPr/>
          <p:nvPr/>
        </p:nvCxnSpPr>
        <p:spPr>
          <a:xfrm flipV="1">
            <a:off x="3813221" y="916191"/>
            <a:ext cx="1854486" cy="1232899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14">
            <a:extLst>
              <a:ext uri="{FF2B5EF4-FFF2-40B4-BE49-F238E27FC236}">
                <a16:creationId xmlns:a16="http://schemas.microsoft.com/office/drawing/2014/main" id="{00E1C4FB-BC12-784A-9501-EF728106A896}"/>
              </a:ext>
            </a:extLst>
          </p:cNvPr>
          <p:cNvCxnSpPr>
            <a:cxnSpLocks/>
          </p:cNvCxnSpPr>
          <p:nvPr/>
        </p:nvCxnSpPr>
        <p:spPr>
          <a:xfrm flipV="1">
            <a:off x="4473335" y="1465859"/>
            <a:ext cx="1631023" cy="523912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22">
            <a:extLst>
              <a:ext uri="{FF2B5EF4-FFF2-40B4-BE49-F238E27FC236}">
                <a16:creationId xmlns:a16="http://schemas.microsoft.com/office/drawing/2014/main" id="{3D1C6005-3CCD-CC4B-B0D5-A96DBA19B3D7}"/>
              </a:ext>
            </a:extLst>
          </p:cNvPr>
          <p:cNvCxnSpPr>
            <a:cxnSpLocks/>
          </p:cNvCxnSpPr>
          <p:nvPr/>
        </p:nvCxnSpPr>
        <p:spPr>
          <a:xfrm flipV="1">
            <a:off x="5040421" y="2061909"/>
            <a:ext cx="1282263" cy="325134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 31">
            <a:extLst>
              <a:ext uri="{FF2B5EF4-FFF2-40B4-BE49-F238E27FC236}">
                <a16:creationId xmlns:a16="http://schemas.microsoft.com/office/drawing/2014/main" id="{A0EBF5FE-8C39-334C-A454-528917CE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286" y="2102895"/>
            <a:ext cx="464553" cy="464553"/>
          </a:xfrm>
          <a:prstGeom prst="rect">
            <a:avLst/>
          </a:prstGeom>
        </p:spPr>
      </p:pic>
      <p:pic>
        <p:nvPicPr>
          <p:cNvPr id="14" name="Picture 13" descr=" 32">
            <a:extLst>
              <a:ext uri="{FF2B5EF4-FFF2-40B4-BE49-F238E27FC236}">
                <a16:creationId xmlns:a16="http://schemas.microsoft.com/office/drawing/2014/main" id="{12A8DB7C-B66A-3B44-9623-0E020246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2" y="1497684"/>
            <a:ext cx="464553" cy="464553"/>
          </a:xfrm>
          <a:prstGeom prst="rect">
            <a:avLst/>
          </a:prstGeom>
        </p:spPr>
      </p:pic>
      <p:pic>
        <p:nvPicPr>
          <p:cNvPr id="10" name="Picture 9" descr=" 33">
            <a:extLst>
              <a:ext uri="{FF2B5EF4-FFF2-40B4-BE49-F238E27FC236}">
                <a16:creationId xmlns:a16="http://schemas.microsoft.com/office/drawing/2014/main" id="{936468B2-53D3-054C-89D4-42321524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05" y="872224"/>
            <a:ext cx="464553" cy="464553"/>
          </a:xfrm>
          <a:prstGeom prst="rect">
            <a:avLst/>
          </a:prstGeom>
        </p:spPr>
      </p:pic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05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 7" descr=" 41">
            <a:extLst>
              <a:ext uri="{FF2B5EF4-FFF2-40B4-BE49-F238E27FC236}">
                <a16:creationId xmlns:a16="http://schemas.microsoft.com/office/drawing/2014/main" id="{8B28608C-306C-674F-9B90-8ABA4E5DA066}"/>
              </a:ext>
            </a:extLst>
          </p:cNvPr>
          <p:cNvSpPr/>
          <p:nvPr/>
        </p:nvSpPr>
        <p:spPr>
          <a:xfrm>
            <a:off x="6062603" y="874212"/>
            <a:ext cx="1886910" cy="407913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NUMBERS</a:t>
            </a:r>
          </a:p>
        </p:txBody>
      </p:sp>
      <p:sp>
        <p:nvSpPr>
          <p:cNvPr id="9" name="Oval 8" descr=" 42">
            <a:extLst>
              <a:ext uri="{FF2B5EF4-FFF2-40B4-BE49-F238E27FC236}">
                <a16:creationId xmlns:a16="http://schemas.microsoft.com/office/drawing/2014/main" id="{E91FE6B3-A937-6344-91A7-96AC229B5299}"/>
              </a:ext>
            </a:extLst>
          </p:cNvPr>
          <p:cNvSpPr/>
          <p:nvPr/>
        </p:nvSpPr>
        <p:spPr>
          <a:xfrm>
            <a:off x="5591098" y="841510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1" descr=" 43">
            <a:extLst>
              <a:ext uri="{FF2B5EF4-FFF2-40B4-BE49-F238E27FC236}">
                <a16:creationId xmlns:a16="http://schemas.microsoft.com/office/drawing/2014/main" id="{C08650DB-1163-1B46-A0FB-4BD07704CD66}"/>
              </a:ext>
            </a:extLst>
          </p:cNvPr>
          <p:cNvSpPr/>
          <p:nvPr/>
        </p:nvSpPr>
        <p:spPr>
          <a:xfrm>
            <a:off x="6397743" y="1495146"/>
            <a:ext cx="1430069" cy="407913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STRING</a:t>
            </a:r>
          </a:p>
        </p:txBody>
      </p:sp>
      <p:sp>
        <p:nvSpPr>
          <p:cNvPr id="13" name="Oval 12" descr=" 44">
            <a:extLst>
              <a:ext uri="{FF2B5EF4-FFF2-40B4-BE49-F238E27FC236}">
                <a16:creationId xmlns:a16="http://schemas.microsoft.com/office/drawing/2014/main" id="{C1B22549-3E46-A242-AA37-6602635553C5}"/>
              </a:ext>
            </a:extLst>
          </p:cNvPr>
          <p:cNvSpPr/>
          <p:nvPr/>
        </p:nvSpPr>
        <p:spPr>
          <a:xfrm>
            <a:off x="5926635" y="1453303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5" descr=" 45">
            <a:extLst>
              <a:ext uri="{FF2B5EF4-FFF2-40B4-BE49-F238E27FC236}">
                <a16:creationId xmlns:a16="http://schemas.microsoft.com/office/drawing/2014/main" id="{93131061-7E9B-824D-B625-99890CB92A71}"/>
              </a:ext>
            </a:extLst>
          </p:cNvPr>
          <p:cNvSpPr/>
          <p:nvPr/>
        </p:nvSpPr>
        <p:spPr>
          <a:xfrm>
            <a:off x="6533291" y="2097798"/>
            <a:ext cx="1430069" cy="407913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7" name="Oval 16" descr=" 46">
            <a:extLst>
              <a:ext uri="{FF2B5EF4-FFF2-40B4-BE49-F238E27FC236}">
                <a16:creationId xmlns:a16="http://schemas.microsoft.com/office/drawing/2014/main" id="{1AA3CBF5-8FDB-5B48-BA61-CFA77DE8E4A9}"/>
              </a:ext>
            </a:extLst>
          </p:cNvPr>
          <p:cNvSpPr/>
          <p:nvPr/>
        </p:nvSpPr>
        <p:spPr>
          <a:xfrm>
            <a:off x="6080067" y="2065096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19" descr=" 47">
            <a:extLst>
              <a:ext uri="{FF2B5EF4-FFF2-40B4-BE49-F238E27FC236}">
                <a16:creationId xmlns:a16="http://schemas.microsoft.com/office/drawing/2014/main" id="{1A00940B-A59C-9C43-9A2E-B60EE83123F9}"/>
              </a:ext>
            </a:extLst>
          </p:cNvPr>
          <p:cNvSpPr/>
          <p:nvPr/>
        </p:nvSpPr>
        <p:spPr>
          <a:xfrm>
            <a:off x="6533291" y="2701288"/>
            <a:ext cx="1717593" cy="423744"/>
          </a:xfrm>
          <a:custGeom>
            <a:avLst/>
            <a:gdLst>
              <a:gd name="connsiteX0" fmla="*/ 0 w 2952438"/>
              <a:gd name="connsiteY0" fmla="*/ 0 h 423744"/>
              <a:gd name="connsiteX1" fmla="*/ 2952438 w 2952438"/>
              <a:gd name="connsiteY1" fmla="*/ 0 h 423744"/>
              <a:gd name="connsiteX2" fmla="*/ 2952438 w 2952438"/>
              <a:gd name="connsiteY2" fmla="*/ 423744 h 423744"/>
              <a:gd name="connsiteX3" fmla="*/ 0 w 2952438"/>
              <a:gd name="connsiteY3" fmla="*/ 423744 h 423744"/>
              <a:gd name="connsiteX4" fmla="*/ 0 w 2952438"/>
              <a:gd name="connsiteY4" fmla="*/ 0 h 4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438" h="423744">
                <a:moveTo>
                  <a:pt x="0" y="0"/>
                </a:moveTo>
                <a:lnTo>
                  <a:pt x="2952438" y="0"/>
                </a:lnTo>
                <a:lnTo>
                  <a:pt x="2952438" y="423744"/>
                </a:lnTo>
                <a:lnTo>
                  <a:pt x="0" y="4237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DICTIONARY</a:t>
            </a:r>
          </a:p>
        </p:txBody>
      </p:sp>
      <p:sp>
        <p:nvSpPr>
          <p:cNvPr id="21" name="Oval 20" descr=" 48">
            <a:extLst>
              <a:ext uri="{FF2B5EF4-FFF2-40B4-BE49-F238E27FC236}">
                <a16:creationId xmlns:a16="http://schemas.microsoft.com/office/drawing/2014/main" id="{EAC0AD6D-036F-E84C-B9BD-98335C07E516}"/>
              </a:ext>
            </a:extLst>
          </p:cNvPr>
          <p:cNvSpPr/>
          <p:nvPr/>
        </p:nvSpPr>
        <p:spPr>
          <a:xfrm>
            <a:off x="6080067" y="2676501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cxnSp>
        <p:nvCxnSpPr>
          <p:cNvPr id="11" name="Straight Connector 10" descr=" 13">
            <a:extLst>
              <a:ext uri="{FF2B5EF4-FFF2-40B4-BE49-F238E27FC236}">
                <a16:creationId xmlns:a16="http://schemas.microsoft.com/office/drawing/2014/main" id="{B568D899-CDCC-434B-83AD-92FD5036BC06}"/>
              </a:ext>
            </a:extLst>
          </p:cNvPr>
          <p:cNvCxnSpPr/>
          <p:nvPr/>
        </p:nvCxnSpPr>
        <p:spPr>
          <a:xfrm flipV="1">
            <a:off x="3813221" y="916191"/>
            <a:ext cx="1854486" cy="1232899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14">
            <a:extLst>
              <a:ext uri="{FF2B5EF4-FFF2-40B4-BE49-F238E27FC236}">
                <a16:creationId xmlns:a16="http://schemas.microsoft.com/office/drawing/2014/main" id="{00E1C4FB-BC12-784A-9501-EF728106A896}"/>
              </a:ext>
            </a:extLst>
          </p:cNvPr>
          <p:cNvCxnSpPr>
            <a:cxnSpLocks/>
          </p:cNvCxnSpPr>
          <p:nvPr/>
        </p:nvCxnSpPr>
        <p:spPr>
          <a:xfrm flipV="1">
            <a:off x="4473335" y="1465859"/>
            <a:ext cx="1631023" cy="523912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22">
            <a:extLst>
              <a:ext uri="{FF2B5EF4-FFF2-40B4-BE49-F238E27FC236}">
                <a16:creationId xmlns:a16="http://schemas.microsoft.com/office/drawing/2014/main" id="{3D1C6005-3CCD-CC4B-B0D5-A96DBA19B3D7}"/>
              </a:ext>
            </a:extLst>
          </p:cNvPr>
          <p:cNvCxnSpPr>
            <a:cxnSpLocks/>
          </p:cNvCxnSpPr>
          <p:nvPr/>
        </p:nvCxnSpPr>
        <p:spPr>
          <a:xfrm flipV="1">
            <a:off x="5040421" y="2061909"/>
            <a:ext cx="1282263" cy="325134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 26">
            <a:extLst>
              <a:ext uri="{FF2B5EF4-FFF2-40B4-BE49-F238E27FC236}">
                <a16:creationId xmlns:a16="http://schemas.microsoft.com/office/drawing/2014/main" id="{68819740-47A4-0D40-8DD9-03C01805E280}"/>
              </a:ext>
            </a:extLst>
          </p:cNvPr>
          <p:cNvCxnSpPr>
            <a:cxnSpLocks/>
          </p:cNvCxnSpPr>
          <p:nvPr/>
        </p:nvCxnSpPr>
        <p:spPr>
          <a:xfrm>
            <a:off x="5049964" y="3010997"/>
            <a:ext cx="1272720" cy="176928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 31">
            <a:extLst>
              <a:ext uri="{FF2B5EF4-FFF2-40B4-BE49-F238E27FC236}">
                <a16:creationId xmlns:a16="http://schemas.microsoft.com/office/drawing/2014/main" id="{A0EBF5FE-8C39-334C-A454-528917CE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286" y="2102895"/>
            <a:ext cx="464553" cy="464553"/>
          </a:xfrm>
          <a:prstGeom prst="rect">
            <a:avLst/>
          </a:prstGeom>
        </p:spPr>
      </p:pic>
      <p:pic>
        <p:nvPicPr>
          <p:cNvPr id="14" name="Picture 13" descr=" 32">
            <a:extLst>
              <a:ext uri="{FF2B5EF4-FFF2-40B4-BE49-F238E27FC236}">
                <a16:creationId xmlns:a16="http://schemas.microsoft.com/office/drawing/2014/main" id="{12A8DB7C-B66A-3B44-9623-0E020246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2" y="1497684"/>
            <a:ext cx="464553" cy="464553"/>
          </a:xfrm>
          <a:prstGeom prst="rect">
            <a:avLst/>
          </a:prstGeom>
        </p:spPr>
      </p:pic>
      <p:pic>
        <p:nvPicPr>
          <p:cNvPr id="10" name="Picture 9" descr=" 33">
            <a:extLst>
              <a:ext uri="{FF2B5EF4-FFF2-40B4-BE49-F238E27FC236}">
                <a16:creationId xmlns:a16="http://schemas.microsoft.com/office/drawing/2014/main" id="{936468B2-53D3-054C-89D4-42321524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05" y="872224"/>
            <a:ext cx="464553" cy="464553"/>
          </a:xfrm>
          <a:prstGeom prst="rect">
            <a:avLst/>
          </a:prstGeom>
        </p:spPr>
      </p:pic>
      <p:pic>
        <p:nvPicPr>
          <p:cNvPr id="23" name="Picture 22" descr=" 34">
            <a:extLst>
              <a:ext uri="{FF2B5EF4-FFF2-40B4-BE49-F238E27FC236}">
                <a16:creationId xmlns:a16="http://schemas.microsoft.com/office/drawing/2014/main" id="{1AF58CBB-72F5-FE4D-8E95-17531BE9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213" y="2720206"/>
            <a:ext cx="464553" cy="464553"/>
          </a:xfrm>
          <a:prstGeom prst="rect">
            <a:avLst/>
          </a:prstGeom>
        </p:spPr>
      </p:pic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05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 7" descr=" 41">
            <a:extLst>
              <a:ext uri="{FF2B5EF4-FFF2-40B4-BE49-F238E27FC236}">
                <a16:creationId xmlns:a16="http://schemas.microsoft.com/office/drawing/2014/main" id="{8B28608C-306C-674F-9B90-8ABA4E5DA066}"/>
              </a:ext>
            </a:extLst>
          </p:cNvPr>
          <p:cNvSpPr/>
          <p:nvPr/>
        </p:nvSpPr>
        <p:spPr>
          <a:xfrm>
            <a:off x="6062603" y="874212"/>
            <a:ext cx="1886910" cy="407913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NUMBERS</a:t>
            </a:r>
          </a:p>
        </p:txBody>
      </p:sp>
      <p:sp>
        <p:nvSpPr>
          <p:cNvPr id="9" name="Oval 8" descr=" 42">
            <a:extLst>
              <a:ext uri="{FF2B5EF4-FFF2-40B4-BE49-F238E27FC236}">
                <a16:creationId xmlns:a16="http://schemas.microsoft.com/office/drawing/2014/main" id="{E91FE6B3-A937-6344-91A7-96AC229B5299}"/>
              </a:ext>
            </a:extLst>
          </p:cNvPr>
          <p:cNvSpPr/>
          <p:nvPr/>
        </p:nvSpPr>
        <p:spPr>
          <a:xfrm>
            <a:off x="5591098" y="841510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1" descr=" 43">
            <a:extLst>
              <a:ext uri="{FF2B5EF4-FFF2-40B4-BE49-F238E27FC236}">
                <a16:creationId xmlns:a16="http://schemas.microsoft.com/office/drawing/2014/main" id="{C08650DB-1163-1B46-A0FB-4BD07704CD66}"/>
              </a:ext>
            </a:extLst>
          </p:cNvPr>
          <p:cNvSpPr/>
          <p:nvPr/>
        </p:nvSpPr>
        <p:spPr>
          <a:xfrm>
            <a:off x="6397743" y="1495146"/>
            <a:ext cx="1430069" cy="407913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STRING</a:t>
            </a:r>
          </a:p>
        </p:txBody>
      </p:sp>
      <p:sp>
        <p:nvSpPr>
          <p:cNvPr id="13" name="Oval 12" descr=" 44">
            <a:extLst>
              <a:ext uri="{FF2B5EF4-FFF2-40B4-BE49-F238E27FC236}">
                <a16:creationId xmlns:a16="http://schemas.microsoft.com/office/drawing/2014/main" id="{C1B22549-3E46-A242-AA37-6602635553C5}"/>
              </a:ext>
            </a:extLst>
          </p:cNvPr>
          <p:cNvSpPr/>
          <p:nvPr/>
        </p:nvSpPr>
        <p:spPr>
          <a:xfrm>
            <a:off x="5926635" y="1453303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5" descr=" 45">
            <a:extLst>
              <a:ext uri="{FF2B5EF4-FFF2-40B4-BE49-F238E27FC236}">
                <a16:creationId xmlns:a16="http://schemas.microsoft.com/office/drawing/2014/main" id="{93131061-7E9B-824D-B625-99890CB92A71}"/>
              </a:ext>
            </a:extLst>
          </p:cNvPr>
          <p:cNvSpPr/>
          <p:nvPr/>
        </p:nvSpPr>
        <p:spPr>
          <a:xfrm>
            <a:off x="6533291" y="2097798"/>
            <a:ext cx="1430069" cy="407913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7" name="Oval 16" descr=" 46">
            <a:extLst>
              <a:ext uri="{FF2B5EF4-FFF2-40B4-BE49-F238E27FC236}">
                <a16:creationId xmlns:a16="http://schemas.microsoft.com/office/drawing/2014/main" id="{1AA3CBF5-8FDB-5B48-BA61-CFA77DE8E4A9}"/>
              </a:ext>
            </a:extLst>
          </p:cNvPr>
          <p:cNvSpPr/>
          <p:nvPr/>
        </p:nvSpPr>
        <p:spPr>
          <a:xfrm>
            <a:off x="6080067" y="2065096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19" descr=" 47">
            <a:extLst>
              <a:ext uri="{FF2B5EF4-FFF2-40B4-BE49-F238E27FC236}">
                <a16:creationId xmlns:a16="http://schemas.microsoft.com/office/drawing/2014/main" id="{1A00940B-A59C-9C43-9A2E-B60EE83123F9}"/>
              </a:ext>
            </a:extLst>
          </p:cNvPr>
          <p:cNvSpPr/>
          <p:nvPr/>
        </p:nvSpPr>
        <p:spPr>
          <a:xfrm>
            <a:off x="6533291" y="2701288"/>
            <a:ext cx="1717593" cy="423744"/>
          </a:xfrm>
          <a:custGeom>
            <a:avLst/>
            <a:gdLst>
              <a:gd name="connsiteX0" fmla="*/ 0 w 2952438"/>
              <a:gd name="connsiteY0" fmla="*/ 0 h 423744"/>
              <a:gd name="connsiteX1" fmla="*/ 2952438 w 2952438"/>
              <a:gd name="connsiteY1" fmla="*/ 0 h 423744"/>
              <a:gd name="connsiteX2" fmla="*/ 2952438 w 2952438"/>
              <a:gd name="connsiteY2" fmla="*/ 423744 h 423744"/>
              <a:gd name="connsiteX3" fmla="*/ 0 w 2952438"/>
              <a:gd name="connsiteY3" fmla="*/ 423744 h 423744"/>
              <a:gd name="connsiteX4" fmla="*/ 0 w 2952438"/>
              <a:gd name="connsiteY4" fmla="*/ 0 h 4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438" h="423744">
                <a:moveTo>
                  <a:pt x="0" y="0"/>
                </a:moveTo>
                <a:lnTo>
                  <a:pt x="2952438" y="0"/>
                </a:lnTo>
                <a:lnTo>
                  <a:pt x="2952438" y="423744"/>
                </a:lnTo>
                <a:lnTo>
                  <a:pt x="0" y="4237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DICTIONARY</a:t>
            </a:r>
          </a:p>
        </p:txBody>
      </p:sp>
      <p:sp>
        <p:nvSpPr>
          <p:cNvPr id="21" name="Oval 20" descr=" 48">
            <a:extLst>
              <a:ext uri="{FF2B5EF4-FFF2-40B4-BE49-F238E27FC236}">
                <a16:creationId xmlns:a16="http://schemas.microsoft.com/office/drawing/2014/main" id="{EAC0AD6D-036F-E84C-B9BD-98335C07E516}"/>
              </a:ext>
            </a:extLst>
          </p:cNvPr>
          <p:cNvSpPr/>
          <p:nvPr/>
        </p:nvSpPr>
        <p:spPr>
          <a:xfrm>
            <a:off x="6080067" y="2676501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 23" descr=" 49">
            <a:extLst>
              <a:ext uri="{FF2B5EF4-FFF2-40B4-BE49-F238E27FC236}">
                <a16:creationId xmlns:a16="http://schemas.microsoft.com/office/drawing/2014/main" id="{33E25F3E-CF7D-384F-8A32-77A23992B5B0}"/>
              </a:ext>
            </a:extLst>
          </p:cNvPr>
          <p:cNvSpPr/>
          <p:nvPr/>
        </p:nvSpPr>
        <p:spPr>
          <a:xfrm>
            <a:off x="6389013" y="3339022"/>
            <a:ext cx="1574347" cy="399355"/>
          </a:xfrm>
          <a:custGeom>
            <a:avLst/>
            <a:gdLst>
              <a:gd name="connsiteX0" fmla="*/ 0 w 2868105"/>
              <a:gd name="connsiteY0" fmla="*/ 0 h 399355"/>
              <a:gd name="connsiteX1" fmla="*/ 2868105 w 2868105"/>
              <a:gd name="connsiteY1" fmla="*/ 0 h 399355"/>
              <a:gd name="connsiteX2" fmla="*/ 2868105 w 2868105"/>
              <a:gd name="connsiteY2" fmla="*/ 399355 h 399355"/>
              <a:gd name="connsiteX3" fmla="*/ 0 w 2868105"/>
              <a:gd name="connsiteY3" fmla="*/ 399355 h 399355"/>
              <a:gd name="connsiteX4" fmla="*/ 0 w 2868105"/>
              <a:gd name="connsiteY4" fmla="*/ 0 h 3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8105" h="399355">
                <a:moveTo>
                  <a:pt x="0" y="0"/>
                </a:moveTo>
                <a:lnTo>
                  <a:pt x="2868105" y="0"/>
                </a:lnTo>
                <a:lnTo>
                  <a:pt x="2868105" y="399355"/>
                </a:lnTo>
                <a:lnTo>
                  <a:pt x="0" y="3993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TUPLE</a:t>
            </a:r>
          </a:p>
        </p:txBody>
      </p:sp>
      <p:sp>
        <p:nvSpPr>
          <p:cNvPr id="25" name="Oval 24" descr=" 50">
            <a:extLst>
              <a:ext uri="{FF2B5EF4-FFF2-40B4-BE49-F238E27FC236}">
                <a16:creationId xmlns:a16="http://schemas.microsoft.com/office/drawing/2014/main" id="{A7694F50-25E3-2648-97EF-B3ED3E573055}"/>
              </a:ext>
            </a:extLst>
          </p:cNvPr>
          <p:cNvSpPr/>
          <p:nvPr/>
        </p:nvSpPr>
        <p:spPr>
          <a:xfrm>
            <a:off x="5926635" y="3288294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cxnSp>
        <p:nvCxnSpPr>
          <p:cNvPr id="11" name="Straight Connector 10" descr=" 13">
            <a:extLst>
              <a:ext uri="{FF2B5EF4-FFF2-40B4-BE49-F238E27FC236}">
                <a16:creationId xmlns:a16="http://schemas.microsoft.com/office/drawing/2014/main" id="{B568D899-CDCC-434B-83AD-92FD5036BC06}"/>
              </a:ext>
            </a:extLst>
          </p:cNvPr>
          <p:cNvCxnSpPr/>
          <p:nvPr/>
        </p:nvCxnSpPr>
        <p:spPr>
          <a:xfrm flipV="1">
            <a:off x="3813221" y="916191"/>
            <a:ext cx="1854486" cy="1232899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14">
            <a:extLst>
              <a:ext uri="{FF2B5EF4-FFF2-40B4-BE49-F238E27FC236}">
                <a16:creationId xmlns:a16="http://schemas.microsoft.com/office/drawing/2014/main" id="{00E1C4FB-BC12-784A-9501-EF728106A896}"/>
              </a:ext>
            </a:extLst>
          </p:cNvPr>
          <p:cNvCxnSpPr>
            <a:cxnSpLocks/>
          </p:cNvCxnSpPr>
          <p:nvPr/>
        </p:nvCxnSpPr>
        <p:spPr>
          <a:xfrm flipV="1">
            <a:off x="4473335" y="1465859"/>
            <a:ext cx="1631023" cy="523912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 19">
            <a:extLst>
              <a:ext uri="{FF2B5EF4-FFF2-40B4-BE49-F238E27FC236}">
                <a16:creationId xmlns:a16="http://schemas.microsoft.com/office/drawing/2014/main" id="{C790C323-3072-1343-B8F8-C6CBF73964CE}"/>
              </a:ext>
            </a:extLst>
          </p:cNvPr>
          <p:cNvCxnSpPr>
            <a:cxnSpLocks/>
          </p:cNvCxnSpPr>
          <p:nvPr/>
        </p:nvCxnSpPr>
        <p:spPr>
          <a:xfrm>
            <a:off x="4473335" y="3509738"/>
            <a:ext cx="1682394" cy="283217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22">
            <a:extLst>
              <a:ext uri="{FF2B5EF4-FFF2-40B4-BE49-F238E27FC236}">
                <a16:creationId xmlns:a16="http://schemas.microsoft.com/office/drawing/2014/main" id="{3D1C6005-3CCD-CC4B-B0D5-A96DBA19B3D7}"/>
              </a:ext>
            </a:extLst>
          </p:cNvPr>
          <p:cNvCxnSpPr>
            <a:cxnSpLocks/>
          </p:cNvCxnSpPr>
          <p:nvPr/>
        </p:nvCxnSpPr>
        <p:spPr>
          <a:xfrm flipV="1">
            <a:off x="5040421" y="2061909"/>
            <a:ext cx="1282263" cy="325134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 26">
            <a:extLst>
              <a:ext uri="{FF2B5EF4-FFF2-40B4-BE49-F238E27FC236}">
                <a16:creationId xmlns:a16="http://schemas.microsoft.com/office/drawing/2014/main" id="{68819740-47A4-0D40-8DD9-03C01805E280}"/>
              </a:ext>
            </a:extLst>
          </p:cNvPr>
          <p:cNvCxnSpPr>
            <a:cxnSpLocks/>
          </p:cNvCxnSpPr>
          <p:nvPr/>
        </p:nvCxnSpPr>
        <p:spPr>
          <a:xfrm>
            <a:off x="5049964" y="3010997"/>
            <a:ext cx="1272720" cy="176928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 31">
            <a:extLst>
              <a:ext uri="{FF2B5EF4-FFF2-40B4-BE49-F238E27FC236}">
                <a16:creationId xmlns:a16="http://schemas.microsoft.com/office/drawing/2014/main" id="{A0EBF5FE-8C39-334C-A454-528917CE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286" y="2102895"/>
            <a:ext cx="464553" cy="464553"/>
          </a:xfrm>
          <a:prstGeom prst="rect">
            <a:avLst/>
          </a:prstGeom>
        </p:spPr>
      </p:pic>
      <p:pic>
        <p:nvPicPr>
          <p:cNvPr id="14" name="Picture 13" descr=" 32">
            <a:extLst>
              <a:ext uri="{FF2B5EF4-FFF2-40B4-BE49-F238E27FC236}">
                <a16:creationId xmlns:a16="http://schemas.microsoft.com/office/drawing/2014/main" id="{12A8DB7C-B66A-3B44-9623-0E020246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2" y="1497684"/>
            <a:ext cx="464553" cy="464553"/>
          </a:xfrm>
          <a:prstGeom prst="rect">
            <a:avLst/>
          </a:prstGeom>
        </p:spPr>
      </p:pic>
      <p:pic>
        <p:nvPicPr>
          <p:cNvPr id="10" name="Picture 9" descr=" 33">
            <a:extLst>
              <a:ext uri="{FF2B5EF4-FFF2-40B4-BE49-F238E27FC236}">
                <a16:creationId xmlns:a16="http://schemas.microsoft.com/office/drawing/2014/main" id="{936468B2-53D3-054C-89D4-42321524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05" y="872224"/>
            <a:ext cx="464553" cy="464553"/>
          </a:xfrm>
          <a:prstGeom prst="rect">
            <a:avLst/>
          </a:prstGeom>
        </p:spPr>
      </p:pic>
      <p:pic>
        <p:nvPicPr>
          <p:cNvPr id="23" name="Picture 22" descr=" 34">
            <a:extLst>
              <a:ext uri="{FF2B5EF4-FFF2-40B4-BE49-F238E27FC236}">
                <a16:creationId xmlns:a16="http://schemas.microsoft.com/office/drawing/2014/main" id="{1AF58CBB-72F5-FE4D-8E95-17531BE9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213" y="2720206"/>
            <a:ext cx="464553" cy="464553"/>
          </a:xfrm>
          <a:prstGeom prst="rect">
            <a:avLst/>
          </a:prstGeom>
        </p:spPr>
      </p:pic>
      <p:pic>
        <p:nvPicPr>
          <p:cNvPr id="27" name="Picture 26" descr=" 35">
            <a:extLst>
              <a:ext uri="{FF2B5EF4-FFF2-40B4-BE49-F238E27FC236}">
                <a16:creationId xmlns:a16="http://schemas.microsoft.com/office/drawing/2014/main" id="{826329E5-7ADD-E34D-ACB1-9B49022B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646" y="3328402"/>
            <a:ext cx="464553" cy="464553"/>
          </a:xfrm>
          <a:prstGeom prst="rect">
            <a:avLst/>
          </a:prstGeom>
        </p:spPr>
      </p:pic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36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0" name="Block Arc 39" descr=" 40">
            <a:extLst>
              <a:ext uri="{FF2B5EF4-FFF2-40B4-BE49-F238E27FC236}">
                <a16:creationId xmlns:a16="http://schemas.microsoft.com/office/drawing/2014/main" id="{A924550A-96EA-F341-A684-5D85A0793A2D}"/>
              </a:ext>
            </a:extLst>
          </p:cNvPr>
          <p:cNvSpPr/>
          <p:nvPr/>
        </p:nvSpPr>
        <p:spPr>
          <a:xfrm>
            <a:off x="3214367" y="1185154"/>
            <a:ext cx="1095197" cy="860900"/>
          </a:xfrm>
          <a:prstGeom prst="blockArc">
            <a:avLst>
              <a:gd name="adj1" fmla="val 18900000"/>
              <a:gd name="adj2" fmla="val 2700000"/>
              <a:gd name="adj3" fmla="val 4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 7" descr=" 41">
            <a:extLst>
              <a:ext uri="{FF2B5EF4-FFF2-40B4-BE49-F238E27FC236}">
                <a16:creationId xmlns:a16="http://schemas.microsoft.com/office/drawing/2014/main" id="{8B28608C-306C-674F-9B90-8ABA4E5DA066}"/>
              </a:ext>
            </a:extLst>
          </p:cNvPr>
          <p:cNvSpPr/>
          <p:nvPr/>
        </p:nvSpPr>
        <p:spPr>
          <a:xfrm>
            <a:off x="6062603" y="874212"/>
            <a:ext cx="1886910" cy="407913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NUMBERS</a:t>
            </a:r>
          </a:p>
        </p:txBody>
      </p:sp>
      <p:sp>
        <p:nvSpPr>
          <p:cNvPr id="9" name="Oval 8" descr=" 42">
            <a:extLst>
              <a:ext uri="{FF2B5EF4-FFF2-40B4-BE49-F238E27FC236}">
                <a16:creationId xmlns:a16="http://schemas.microsoft.com/office/drawing/2014/main" id="{E91FE6B3-A937-6344-91A7-96AC229B5299}"/>
              </a:ext>
            </a:extLst>
          </p:cNvPr>
          <p:cNvSpPr/>
          <p:nvPr/>
        </p:nvSpPr>
        <p:spPr>
          <a:xfrm>
            <a:off x="5591098" y="841510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1" descr=" 43">
            <a:extLst>
              <a:ext uri="{FF2B5EF4-FFF2-40B4-BE49-F238E27FC236}">
                <a16:creationId xmlns:a16="http://schemas.microsoft.com/office/drawing/2014/main" id="{C08650DB-1163-1B46-A0FB-4BD07704CD66}"/>
              </a:ext>
            </a:extLst>
          </p:cNvPr>
          <p:cNvSpPr/>
          <p:nvPr/>
        </p:nvSpPr>
        <p:spPr>
          <a:xfrm>
            <a:off x="6397743" y="1495146"/>
            <a:ext cx="1430069" cy="407913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/>
              <a:t>STRING</a:t>
            </a:r>
          </a:p>
        </p:txBody>
      </p:sp>
      <p:sp>
        <p:nvSpPr>
          <p:cNvPr id="13" name="Oval 12" descr=" 44">
            <a:extLst>
              <a:ext uri="{FF2B5EF4-FFF2-40B4-BE49-F238E27FC236}">
                <a16:creationId xmlns:a16="http://schemas.microsoft.com/office/drawing/2014/main" id="{C1B22549-3E46-A242-AA37-6602635553C5}"/>
              </a:ext>
            </a:extLst>
          </p:cNvPr>
          <p:cNvSpPr/>
          <p:nvPr/>
        </p:nvSpPr>
        <p:spPr>
          <a:xfrm>
            <a:off x="5926635" y="1453303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5" descr=" 45">
            <a:extLst>
              <a:ext uri="{FF2B5EF4-FFF2-40B4-BE49-F238E27FC236}">
                <a16:creationId xmlns:a16="http://schemas.microsoft.com/office/drawing/2014/main" id="{93131061-7E9B-824D-B625-99890CB92A71}"/>
              </a:ext>
            </a:extLst>
          </p:cNvPr>
          <p:cNvSpPr/>
          <p:nvPr/>
        </p:nvSpPr>
        <p:spPr>
          <a:xfrm>
            <a:off x="6533291" y="2097798"/>
            <a:ext cx="1430069" cy="407913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7" name="Oval 16" descr=" 46">
            <a:extLst>
              <a:ext uri="{FF2B5EF4-FFF2-40B4-BE49-F238E27FC236}">
                <a16:creationId xmlns:a16="http://schemas.microsoft.com/office/drawing/2014/main" id="{1AA3CBF5-8FDB-5B48-BA61-CFA77DE8E4A9}"/>
              </a:ext>
            </a:extLst>
          </p:cNvPr>
          <p:cNvSpPr/>
          <p:nvPr/>
        </p:nvSpPr>
        <p:spPr>
          <a:xfrm>
            <a:off x="6080067" y="2065096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19" descr=" 47">
            <a:extLst>
              <a:ext uri="{FF2B5EF4-FFF2-40B4-BE49-F238E27FC236}">
                <a16:creationId xmlns:a16="http://schemas.microsoft.com/office/drawing/2014/main" id="{1A00940B-A59C-9C43-9A2E-B60EE83123F9}"/>
              </a:ext>
            </a:extLst>
          </p:cNvPr>
          <p:cNvSpPr/>
          <p:nvPr/>
        </p:nvSpPr>
        <p:spPr>
          <a:xfrm>
            <a:off x="6533291" y="2701288"/>
            <a:ext cx="1717593" cy="423744"/>
          </a:xfrm>
          <a:custGeom>
            <a:avLst/>
            <a:gdLst>
              <a:gd name="connsiteX0" fmla="*/ 0 w 2952438"/>
              <a:gd name="connsiteY0" fmla="*/ 0 h 423744"/>
              <a:gd name="connsiteX1" fmla="*/ 2952438 w 2952438"/>
              <a:gd name="connsiteY1" fmla="*/ 0 h 423744"/>
              <a:gd name="connsiteX2" fmla="*/ 2952438 w 2952438"/>
              <a:gd name="connsiteY2" fmla="*/ 423744 h 423744"/>
              <a:gd name="connsiteX3" fmla="*/ 0 w 2952438"/>
              <a:gd name="connsiteY3" fmla="*/ 423744 h 423744"/>
              <a:gd name="connsiteX4" fmla="*/ 0 w 2952438"/>
              <a:gd name="connsiteY4" fmla="*/ 0 h 4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438" h="423744">
                <a:moveTo>
                  <a:pt x="0" y="0"/>
                </a:moveTo>
                <a:lnTo>
                  <a:pt x="2952438" y="0"/>
                </a:lnTo>
                <a:lnTo>
                  <a:pt x="2952438" y="423744"/>
                </a:lnTo>
                <a:lnTo>
                  <a:pt x="0" y="4237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DICTIONARY</a:t>
            </a:r>
          </a:p>
        </p:txBody>
      </p:sp>
      <p:sp>
        <p:nvSpPr>
          <p:cNvPr id="21" name="Oval 20" descr=" 48">
            <a:extLst>
              <a:ext uri="{FF2B5EF4-FFF2-40B4-BE49-F238E27FC236}">
                <a16:creationId xmlns:a16="http://schemas.microsoft.com/office/drawing/2014/main" id="{EAC0AD6D-036F-E84C-B9BD-98335C07E516}"/>
              </a:ext>
            </a:extLst>
          </p:cNvPr>
          <p:cNvSpPr/>
          <p:nvPr/>
        </p:nvSpPr>
        <p:spPr>
          <a:xfrm>
            <a:off x="6080067" y="2676501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 23" descr=" 49">
            <a:extLst>
              <a:ext uri="{FF2B5EF4-FFF2-40B4-BE49-F238E27FC236}">
                <a16:creationId xmlns:a16="http://schemas.microsoft.com/office/drawing/2014/main" id="{33E25F3E-CF7D-384F-8A32-77A23992B5B0}"/>
              </a:ext>
            </a:extLst>
          </p:cNvPr>
          <p:cNvSpPr/>
          <p:nvPr/>
        </p:nvSpPr>
        <p:spPr>
          <a:xfrm>
            <a:off x="6389013" y="3339022"/>
            <a:ext cx="1574347" cy="399355"/>
          </a:xfrm>
          <a:custGeom>
            <a:avLst/>
            <a:gdLst>
              <a:gd name="connsiteX0" fmla="*/ 0 w 2868105"/>
              <a:gd name="connsiteY0" fmla="*/ 0 h 399355"/>
              <a:gd name="connsiteX1" fmla="*/ 2868105 w 2868105"/>
              <a:gd name="connsiteY1" fmla="*/ 0 h 399355"/>
              <a:gd name="connsiteX2" fmla="*/ 2868105 w 2868105"/>
              <a:gd name="connsiteY2" fmla="*/ 399355 h 399355"/>
              <a:gd name="connsiteX3" fmla="*/ 0 w 2868105"/>
              <a:gd name="connsiteY3" fmla="*/ 399355 h 399355"/>
              <a:gd name="connsiteX4" fmla="*/ 0 w 2868105"/>
              <a:gd name="connsiteY4" fmla="*/ 0 h 3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8105" h="399355">
                <a:moveTo>
                  <a:pt x="0" y="0"/>
                </a:moveTo>
                <a:lnTo>
                  <a:pt x="2868105" y="0"/>
                </a:lnTo>
                <a:lnTo>
                  <a:pt x="2868105" y="399355"/>
                </a:lnTo>
                <a:lnTo>
                  <a:pt x="0" y="3993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TUPLE</a:t>
            </a:r>
          </a:p>
        </p:txBody>
      </p:sp>
      <p:sp>
        <p:nvSpPr>
          <p:cNvPr id="25" name="Oval 24" descr=" 50">
            <a:extLst>
              <a:ext uri="{FF2B5EF4-FFF2-40B4-BE49-F238E27FC236}">
                <a16:creationId xmlns:a16="http://schemas.microsoft.com/office/drawing/2014/main" id="{A7694F50-25E3-2648-97EF-B3ED3E573055}"/>
              </a:ext>
            </a:extLst>
          </p:cNvPr>
          <p:cNvSpPr/>
          <p:nvPr/>
        </p:nvSpPr>
        <p:spPr>
          <a:xfrm>
            <a:off x="5926635" y="3288294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 27" descr=" 51">
            <a:extLst>
              <a:ext uri="{FF2B5EF4-FFF2-40B4-BE49-F238E27FC236}">
                <a16:creationId xmlns:a16="http://schemas.microsoft.com/office/drawing/2014/main" id="{35AC1545-29A6-9046-8600-FFA31E1509E4}"/>
              </a:ext>
            </a:extLst>
          </p:cNvPr>
          <p:cNvSpPr/>
          <p:nvPr/>
        </p:nvSpPr>
        <p:spPr>
          <a:xfrm>
            <a:off x="6047484" y="3904876"/>
            <a:ext cx="1179651" cy="463740"/>
          </a:xfrm>
          <a:custGeom>
            <a:avLst/>
            <a:gdLst>
              <a:gd name="connsiteX0" fmla="*/ 0 w 1880709"/>
              <a:gd name="connsiteY0" fmla="*/ 0 h 463740"/>
              <a:gd name="connsiteX1" fmla="*/ 1880709 w 1880709"/>
              <a:gd name="connsiteY1" fmla="*/ 0 h 463740"/>
              <a:gd name="connsiteX2" fmla="*/ 1880709 w 1880709"/>
              <a:gd name="connsiteY2" fmla="*/ 463740 h 463740"/>
              <a:gd name="connsiteX3" fmla="*/ 0 w 1880709"/>
              <a:gd name="connsiteY3" fmla="*/ 463740 h 463740"/>
              <a:gd name="connsiteX4" fmla="*/ 0 w 1880709"/>
              <a:gd name="connsiteY4" fmla="*/ 0 h 4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709" h="463740">
                <a:moveTo>
                  <a:pt x="0" y="0"/>
                </a:moveTo>
                <a:lnTo>
                  <a:pt x="1880709" y="0"/>
                </a:lnTo>
                <a:lnTo>
                  <a:pt x="1880709" y="463740"/>
                </a:lnTo>
                <a:lnTo>
                  <a:pt x="0" y="4637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SET</a:t>
            </a:r>
          </a:p>
        </p:txBody>
      </p:sp>
      <p:sp>
        <p:nvSpPr>
          <p:cNvPr id="29" name="Oval 28" descr=" 52">
            <a:extLst>
              <a:ext uri="{FF2B5EF4-FFF2-40B4-BE49-F238E27FC236}">
                <a16:creationId xmlns:a16="http://schemas.microsoft.com/office/drawing/2014/main" id="{169B6624-61FB-174C-B400-DB80BC4E9B73}"/>
              </a:ext>
            </a:extLst>
          </p:cNvPr>
          <p:cNvSpPr/>
          <p:nvPr/>
        </p:nvSpPr>
        <p:spPr>
          <a:xfrm>
            <a:off x="5591098" y="3900087"/>
            <a:ext cx="509892" cy="509892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 descr=" 5">
            <a:extLst>
              <a:ext uri="{FF2B5EF4-FFF2-40B4-BE49-F238E27FC236}">
                <a16:creationId xmlns:a16="http://schemas.microsoft.com/office/drawing/2014/main" id="{D4E82B58-BA12-424F-AEBC-98859DEA3643}"/>
              </a:ext>
            </a:extLst>
          </p:cNvPr>
          <p:cNvSpPr/>
          <p:nvPr/>
        </p:nvSpPr>
        <p:spPr>
          <a:xfrm>
            <a:off x="3052811" y="1497400"/>
            <a:ext cx="2514600" cy="2514600"/>
          </a:xfrm>
          <a:prstGeom prst="ellipse">
            <a:avLst/>
          </a:prstGeom>
          <a:gradFill flip="none" rotWithShape="1">
            <a:gsLst>
              <a:gs pos="61000">
                <a:srgbClr val="FFFF00"/>
              </a:gs>
              <a:gs pos="99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 descr=" 8">
            <a:extLst>
              <a:ext uri="{FF2B5EF4-FFF2-40B4-BE49-F238E27FC236}">
                <a16:creationId xmlns:a16="http://schemas.microsoft.com/office/drawing/2014/main" id="{A5C7585A-95F2-054D-B252-3414FEB57F3C}"/>
              </a:ext>
            </a:extLst>
          </p:cNvPr>
          <p:cNvSpPr txBox="1"/>
          <p:nvPr/>
        </p:nvSpPr>
        <p:spPr>
          <a:xfrm>
            <a:off x="3114788" y="2109812"/>
            <a:ext cx="2395728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types &amp; structure</a:t>
            </a:r>
          </a:p>
        </p:txBody>
      </p:sp>
      <p:cxnSp>
        <p:nvCxnSpPr>
          <p:cNvPr id="11" name="Straight Connector 10" descr=" 13">
            <a:extLst>
              <a:ext uri="{FF2B5EF4-FFF2-40B4-BE49-F238E27FC236}">
                <a16:creationId xmlns:a16="http://schemas.microsoft.com/office/drawing/2014/main" id="{B568D899-CDCC-434B-83AD-92FD5036BC06}"/>
              </a:ext>
            </a:extLst>
          </p:cNvPr>
          <p:cNvCxnSpPr/>
          <p:nvPr/>
        </p:nvCxnSpPr>
        <p:spPr>
          <a:xfrm flipV="1">
            <a:off x="3813221" y="916191"/>
            <a:ext cx="1854486" cy="1232899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14">
            <a:extLst>
              <a:ext uri="{FF2B5EF4-FFF2-40B4-BE49-F238E27FC236}">
                <a16:creationId xmlns:a16="http://schemas.microsoft.com/office/drawing/2014/main" id="{00E1C4FB-BC12-784A-9501-EF728106A896}"/>
              </a:ext>
            </a:extLst>
          </p:cNvPr>
          <p:cNvCxnSpPr>
            <a:cxnSpLocks/>
          </p:cNvCxnSpPr>
          <p:nvPr/>
        </p:nvCxnSpPr>
        <p:spPr>
          <a:xfrm flipV="1">
            <a:off x="4473335" y="1465859"/>
            <a:ext cx="1631023" cy="523912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 descr=" 16">
            <a:extLst>
              <a:ext uri="{FF2B5EF4-FFF2-40B4-BE49-F238E27FC236}">
                <a16:creationId xmlns:a16="http://schemas.microsoft.com/office/drawing/2014/main" id="{0537F962-E85B-7A4A-A9B1-A854BB5E30DB}"/>
              </a:ext>
            </a:extLst>
          </p:cNvPr>
          <p:cNvCxnSpPr>
            <a:cxnSpLocks/>
          </p:cNvCxnSpPr>
          <p:nvPr/>
        </p:nvCxnSpPr>
        <p:spPr>
          <a:xfrm>
            <a:off x="3931374" y="3459045"/>
            <a:ext cx="1782566" cy="914901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 19">
            <a:extLst>
              <a:ext uri="{FF2B5EF4-FFF2-40B4-BE49-F238E27FC236}">
                <a16:creationId xmlns:a16="http://schemas.microsoft.com/office/drawing/2014/main" id="{C790C323-3072-1343-B8F8-C6CBF73964CE}"/>
              </a:ext>
            </a:extLst>
          </p:cNvPr>
          <p:cNvCxnSpPr>
            <a:cxnSpLocks/>
          </p:cNvCxnSpPr>
          <p:nvPr/>
        </p:nvCxnSpPr>
        <p:spPr>
          <a:xfrm>
            <a:off x="4473335" y="3509738"/>
            <a:ext cx="1682394" cy="283217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22">
            <a:extLst>
              <a:ext uri="{FF2B5EF4-FFF2-40B4-BE49-F238E27FC236}">
                <a16:creationId xmlns:a16="http://schemas.microsoft.com/office/drawing/2014/main" id="{3D1C6005-3CCD-CC4B-B0D5-A96DBA19B3D7}"/>
              </a:ext>
            </a:extLst>
          </p:cNvPr>
          <p:cNvCxnSpPr>
            <a:cxnSpLocks/>
          </p:cNvCxnSpPr>
          <p:nvPr/>
        </p:nvCxnSpPr>
        <p:spPr>
          <a:xfrm flipV="1">
            <a:off x="5040421" y="2061909"/>
            <a:ext cx="1282263" cy="325134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 26">
            <a:extLst>
              <a:ext uri="{FF2B5EF4-FFF2-40B4-BE49-F238E27FC236}">
                <a16:creationId xmlns:a16="http://schemas.microsoft.com/office/drawing/2014/main" id="{68819740-47A4-0D40-8DD9-03C01805E280}"/>
              </a:ext>
            </a:extLst>
          </p:cNvPr>
          <p:cNvCxnSpPr>
            <a:cxnSpLocks/>
          </p:cNvCxnSpPr>
          <p:nvPr/>
        </p:nvCxnSpPr>
        <p:spPr>
          <a:xfrm>
            <a:off x="5049964" y="3010997"/>
            <a:ext cx="1272720" cy="176928"/>
          </a:xfrm>
          <a:prstGeom prst="line">
            <a:avLst/>
          </a:prstGeom>
          <a:ln>
            <a:gradFill>
              <a:gsLst>
                <a:gs pos="13000">
                  <a:srgbClr val="FFFF00">
                    <a:alpha val="12000"/>
                  </a:srgbClr>
                </a:gs>
                <a:gs pos="26000">
                  <a:srgbClr val="FFFF00"/>
                </a:gs>
                <a:gs pos="81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 31">
            <a:extLst>
              <a:ext uri="{FF2B5EF4-FFF2-40B4-BE49-F238E27FC236}">
                <a16:creationId xmlns:a16="http://schemas.microsoft.com/office/drawing/2014/main" id="{A0EBF5FE-8C39-334C-A454-528917CE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286" y="2102895"/>
            <a:ext cx="464553" cy="464553"/>
          </a:xfrm>
          <a:prstGeom prst="rect">
            <a:avLst/>
          </a:prstGeom>
        </p:spPr>
      </p:pic>
      <p:pic>
        <p:nvPicPr>
          <p:cNvPr id="14" name="Picture 13" descr=" 32">
            <a:extLst>
              <a:ext uri="{FF2B5EF4-FFF2-40B4-BE49-F238E27FC236}">
                <a16:creationId xmlns:a16="http://schemas.microsoft.com/office/drawing/2014/main" id="{12A8DB7C-B66A-3B44-9623-0E020246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2" y="1497684"/>
            <a:ext cx="464553" cy="464553"/>
          </a:xfrm>
          <a:prstGeom prst="rect">
            <a:avLst/>
          </a:prstGeom>
        </p:spPr>
      </p:pic>
      <p:pic>
        <p:nvPicPr>
          <p:cNvPr id="10" name="Picture 9" descr=" 33">
            <a:extLst>
              <a:ext uri="{FF2B5EF4-FFF2-40B4-BE49-F238E27FC236}">
                <a16:creationId xmlns:a16="http://schemas.microsoft.com/office/drawing/2014/main" id="{936468B2-53D3-054C-89D4-42321524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05" y="872224"/>
            <a:ext cx="464553" cy="464553"/>
          </a:xfrm>
          <a:prstGeom prst="rect">
            <a:avLst/>
          </a:prstGeom>
        </p:spPr>
      </p:pic>
      <p:pic>
        <p:nvPicPr>
          <p:cNvPr id="23" name="Picture 22" descr=" 34">
            <a:extLst>
              <a:ext uri="{FF2B5EF4-FFF2-40B4-BE49-F238E27FC236}">
                <a16:creationId xmlns:a16="http://schemas.microsoft.com/office/drawing/2014/main" id="{1AF58CBB-72F5-FE4D-8E95-17531BE9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213" y="2720206"/>
            <a:ext cx="464553" cy="464553"/>
          </a:xfrm>
          <a:prstGeom prst="rect">
            <a:avLst/>
          </a:prstGeom>
        </p:spPr>
      </p:pic>
      <p:pic>
        <p:nvPicPr>
          <p:cNvPr id="27" name="Picture 26" descr=" 35">
            <a:extLst>
              <a:ext uri="{FF2B5EF4-FFF2-40B4-BE49-F238E27FC236}">
                <a16:creationId xmlns:a16="http://schemas.microsoft.com/office/drawing/2014/main" id="{826329E5-7ADD-E34D-ACB1-9B49022B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646" y="3328402"/>
            <a:ext cx="464553" cy="464553"/>
          </a:xfrm>
          <a:prstGeom prst="rect">
            <a:avLst/>
          </a:prstGeom>
        </p:spPr>
      </p:pic>
      <p:pic>
        <p:nvPicPr>
          <p:cNvPr id="31" name="Picture 30" descr=" 36">
            <a:extLst>
              <a:ext uri="{FF2B5EF4-FFF2-40B4-BE49-F238E27FC236}">
                <a16:creationId xmlns:a16="http://schemas.microsoft.com/office/drawing/2014/main" id="{92E71EED-F36F-D541-AC53-2D3CE752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290" y="3938017"/>
            <a:ext cx="464553" cy="464553"/>
          </a:xfrm>
          <a:prstGeom prst="rect">
            <a:avLst/>
          </a:prstGeom>
        </p:spPr>
      </p:pic>
      <p:pic>
        <p:nvPicPr>
          <p:cNvPr id="30" name="Picture 29" descr=" 30">
            <a:extLst>
              <a:ext uri="{FF2B5EF4-FFF2-40B4-BE49-F238E27FC236}">
                <a16:creationId xmlns:a16="http://schemas.microsoft.com/office/drawing/2014/main" id="{9EEA240F-25C9-9A4C-93A8-048953EB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Rectangle 1" descr=" 2">
            <a:extLst>
              <a:ext uri="{FF2B5EF4-FFF2-40B4-BE49-F238E27FC236}">
                <a16:creationId xmlns:a16="http://schemas.microsoft.com/office/drawing/2014/main" id="{583B4D9B-1EA3-3A49-B50B-155BC1BC03F5}"/>
              </a:ext>
            </a:extLst>
          </p:cNvPr>
          <p:cNvSpPr/>
          <p:nvPr/>
        </p:nvSpPr>
        <p:spPr>
          <a:xfrm>
            <a:off x="1083762" y="2335171"/>
            <a:ext cx="1701774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19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97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</p:spTree>
    <p:extLst>
      <p:ext uri="{BB962C8B-B14F-4D97-AF65-F5344CB8AC3E}">
        <p14:creationId xmlns:p14="http://schemas.microsoft.com/office/powerpoint/2010/main" val="4183136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sp>
        <p:nvSpPr>
          <p:cNvPr id="7" name="Freeform 6" descr=" 43">
            <a:extLst>
              <a:ext uri="{FF2B5EF4-FFF2-40B4-BE49-F238E27FC236}">
                <a16:creationId xmlns:a16="http://schemas.microsoft.com/office/drawing/2014/main" id="{8FC4C881-0280-0945-A401-4D21B5729126}"/>
              </a:ext>
            </a:extLst>
          </p:cNvPr>
          <p:cNvSpPr/>
          <p:nvPr/>
        </p:nvSpPr>
        <p:spPr>
          <a:xfrm>
            <a:off x="1600958" y="1278918"/>
            <a:ext cx="1886910" cy="296302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STRING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 descr=" 38">
            <a:extLst>
              <a:ext uri="{FF2B5EF4-FFF2-40B4-BE49-F238E27FC236}">
                <a16:creationId xmlns:a16="http://schemas.microsoft.com/office/drawing/2014/main" id="{952983A3-D880-0144-8A8F-87CCD2603D7F}"/>
              </a:ext>
            </a:extLst>
          </p:cNvPr>
          <p:cNvCxnSpPr>
            <a:cxnSpLocks/>
          </p:cNvCxnSpPr>
          <p:nvPr/>
        </p:nvCxnSpPr>
        <p:spPr>
          <a:xfrm>
            <a:off x="3494805" y="1427069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  <p:sp>
        <p:nvSpPr>
          <p:cNvPr id="9" name="TextBox 8" descr=" 15">
            <a:extLst>
              <a:ext uri="{FF2B5EF4-FFF2-40B4-BE49-F238E27FC236}">
                <a16:creationId xmlns:a16="http://schemas.microsoft.com/office/drawing/2014/main" id="{993757F2-A146-7A48-81F6-786804B6E286}"/>
              </a:ext>
            </a:extLst>
          </p:cNvPr>
          <p:cNvSpPr txBox="1"/>
          <p:nvPr/>
        </p:nvSpPr>
        <p:spPr>
          <a:xfrm>
            <a:off x="3799988" y="1278043"/>
            <a:ext cx="43780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Contiguous set </a:t>
            </a:r>
            <a:r>
              <a:rPr lang="en-US" sz="1400" dirty="0"/>
              <a:t>of </a:t>
            </a:r>
            <a:r>
              <a:rPr lang="en-US" sz="1400" i="1" dirty="0">
                <a:solidFill>
                  <a:srgbClr val="FF0000"/>
                </a:solidFill>
              </a:rPr>
              <a:t>characters</a:t>
            </a:r>
            <a:r>
              <a:rPr lang="en-US" sz="1400" dirty="0"/>
              <a:t> in </a:t>
            </a:r>
            <a:r>
              <a:rPr lang="en-US" sz="1400" u="sng" dirty="0"/>
              <a:t>quotation marks</a:t>
            </a:r>
            <a:r>
              <a:rPr lang="en-US" sz="1400" dirty="0"/>
              <a:t> (‘Hello’)</a:t>
            </a:r>
          </a:p>
        </p:txBody>
      </p:sp>
    </p:spTree>
    <p:extLst>
      <p:ext uri="{BB962C8B-B14F-4D97-AF65-F5344CB8AC3E}">
        <p14:creationId xmlns:p14="http://schemas.microsoft.com/office/powerpoint/2010/main" val="1687513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sp>
        <p:nvSpPr>
          <p:cNvPr id="7" name="Freeform 6" descr=" 43">
            <a:extLst>
              <a:ext uri="{FF2B5EF4-FFF2-40B4-BE49-F238E27FC236}">
                <a16:creationId xmlns:a16="http://schemas.microsoft.com/office/drawing/2014/main" id="{8FC4C881-0280-0945-A401-4D21B5729126}"/>
              </a:ext>
            </a:extLst>
          </p:cNvPr>
          <p:cNvSpPr/>
          <p:nvPr/>
        </p:nvSpPr>
        <p:spPr>
          <a:xfrm>
            <a:off x="1600958" y="1278918"/>
            <a:ext cx="1886910" cy="296302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STRING</a:t>
            </a:r>
          </a:p>
        </p:txBody>
      </p:sp>
      <p:sp>
        <p:nvSpPr>
          <p:cNvPr id="12" name="Freeform 11" descr=" 45">
            <a:extLst>
              <a:ext uri="{FF2B5EF4-FFF2-40B4-BE49-F238E27FC236}">
                <a16:creationId xmlns:a16="http://schemas.microsoft.com/office/drawing/2014/main" id="{1A1947F0-5934-D740-B2DE-7F72E7F261BE}"/>
              </a:ext>
            </a:extLst>
          </p:cNvPr>
          <p:cNvSpPr/>
          <p:nvPr/>
        </p:nvSpPr>
        <p:spPr>
          <a:xfrm>
            <a:off x="1594030" y="1840081"/>
            <a:ext cx="1886910" cy="273590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 descr=" 38">
            <a:extLst>
              <a:ext uri="{FF2B5EF4-FFF2-40B4-BE49-F238E27FC236}">
                <a16:creationId xmlns:a16="http://schemas.microsoft.com/office/drawing/2014/main" id="{952983A3-D880-0144-8A8F-87CCD2603D7F}"/>
              </a:ext>
            </a:extLst>
          </p:cNvPr>
          <p:cNvCxnSpPr>
            <a:cxnSpLocks/>
          </p:cNvCxnSpPr>
          <p:nvPr/>
        </p:nvCxnSpPr>
        <p:spPr>
          <a:xfrm>
            <a:off x="3494805" y="1427069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 descr=" 39">
            <a:extLst>
              <a:ext uri="{FF2B5EF4-FFF2-40B4-BE49-F238E27FC236}">
                <a16:creationId xmlns:a16="http://schemas.microsoft.com/office/drawing/2014/main" id="{71CF6698-482F-F042-9CEE-DEE66138FFA9}"/>
              </a:ext>
            </a:extLst>
          </p:cNvPr>
          <p:cNvCxnSpPr>
            <a:cxnSpLocks/>
          </p:cNvCxnSpPr>
          <p:nvPr/>
        </p:nvCxnSpPr>
        <p:spPr>
          <a:xfrm>
            <a:off x="3487868" y="1976876"/>
            <a:ext cx="368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  <p:sp>
        <p:nvSpPr>
          <p:cNvPr id="9" name="TextBox 8" descr=" 15">
            <a:extLst>
              <a:ext uri="{FF2B5EF4-FFF2-40B4-BE49-F238E27FC236}">
                <a16:creationId xmlns:a16="http://schemas.microsoft.com/office/drawing/2014/main" id="{993757F2-A146-7A48-81F6-786804B6E286}"/>
              </a:ext>
            </a:extLst>
          </p:cNvPr>
          <p:cNvSpPr txBox="1"/>
          <p:nvPr/>
        </p:nvSpPr>
        <p:spPr>
          <a:xfrm>
            <a:off x="3799988" y="1278043"/>
            <a:ext cx="43780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Contiguous set </a:t>
            </a:r>
            <a:r>
              <a:rPr lang="en-US" sz="1400" dirty="0"/>
              <a:t>of </a:t>
            </a:r>
            <a:r>
              <a:rPr lang="en-US" sz="1400" i="1" dirty="0">
                <a:solidFill>
                  <a:srgbClr val="FF0000"/>
                </a:solidFill>
              </a:rPr>
              <a:t>characters</a:t>
            </a:r>
            <a:r>
              <a:rPr lang="en-US" sz="1400" dirty="0"/>
              <a:t> in </a:t>
            </a:r>
            <a:r>
              <a:rPr lang="en-US" sz="1400" u="sng" dirty="0"/>
              <a:t>quotation marks</a:t>
            </a:r>
            <a:r>
              <a:rPr lang="en-US" sz="1400" dirty="0"/>
              <a:t> (‘Hello’)</a:t>
            </a:r>
          </a:p>
        </p:txBody>
      </p:sp>
      <p:sp>
        <p:nvSpPr>
          <p:cNvPr id="10" name="TextBox 9" descr=" 17">
            <a:extLst>
              <a:ext uri="{FF2B5EF4-FFF2-40B4-BE49-F238E27FC236}">
                <a16:creationId xmlns:a16="http://schemas.microsoft.com/office/drawing/2014/main" id="{2A7A93AB-E0BF-9B42-9EBC-BB76064B8F82}"/>
              </a:ext>
            </a:extLst>
          </p:cNvPr>
          <p:cNvSpPr txBox="1"/>
          <p:nvPr/>
        </p:nvSpPr>
        <p:spPr>
          <a:xfrm>
            <a:off x="3534104" y="1701130"/>
            <a:ext cx="46715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Compound data type </a:t>
            </a:r>
            <a:r>
              <a:rPr lang="en-US" sz="1400" dirty="0"/>
              <a:t>: composed of </a:t>
            </a:r>
            <a:r>
              <a:rPr lang="en-US" sz="1400" i="1" u="sng" dirty="0"/>
              <a:t>items</a:t>
            </a:r>
            <a:r>
              <a:rPr lang="en-US" sz="1400" dirty="0"/>
              <a:t> in square bracket[], separated by commas [‘</a:t>
            </a:r>
            <a:r>
              <a:rPr lang="en-US" sz="1400" dirty="0" err="1"/>
              <a:t>abc</a:t>
            </a:r>
            <a:r>
              <a:rPr lang="en-US" sz="1400" dirty="0"/>
              <a:t>’,  5,  10.5,  ‘</a:t>
            </a:r>
            <a:r>
              <a:rPr lang="en-US" sz="1400" dirty="0" err="1"/>
              <a:t>xyz</a:t>
            </a:r>
            <a:r>
              <a:rPr lang="en-US" sz="1400" dirty="0"/>
              <a:t>’]</a:t>
            </a:r>
          </a:p>
        </p:txBody>
      </p:sp>
    </p:spTree>
    <p:extLst>
      <p:ext uri="{BB962C8B-B14F-4D97-AF65-F5344CB8AC3E}">
        <p14:creationId xmlns:p14="http://schemas.microsoft.com/office/powerpoint/2010/main" val="1097432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sp>
        <p:nvSpPr>
          <p:cNvPr id="7" name="Freeform 6" descr=" 43">
            <a:extLst>
              <a:ext uri="{FF2B5EF4-FFF2-40B4-BE49-F238E27FC236}">
                <a16:creationId xmlns:a16="http://schemas.microsoft.com/office/drawing/2014/main" id="{8FC4C881-0280-0945-A401-4D21B5729126}"/>
              </a:ext>
            </a:extLst>
          </p:cNvPr>
          <p:cNvSpPr/>
          <p:nvPr/>
        </p:nvSpPr>
        <p:spPr>
          <a:xfrm>
            <a:off x="1600958" y="1278918"/>
            <a:ext cx="1886910" cy="296302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STRING</a:t>
            </a:r>
          </a:p>
        </p:txBody>
      </p:sp>
      <p:sp>
        <p:nvSpPr>
          <p:cNvPr id="12" name="Freeform 11" descr=" 45">
            <a:extLst>
              <a:ext uri="{FF2B5EF4-FFF2-40B4-BE49-F238E27FC236}">
                <a16:creationId xmlns:a16="http://schemas.microsoft.com/office/drawing/2014/main" id="{1A1947F0-5934-D740-B2DE-7F72E7F261BE}"/>
              </a:ext>
            </a:extLst>
          </p:cNvPr>
          <p:cNvSpPr/>
          <p:nvPr/>
        </p:nvSpPr>
        <p:spPr>
          <a:xfrm>
            <a:off x="1594030" y="1840081"/>
            <a:ext cx="1886910" cy="273590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4" name="Freeform 13" descr=" 49">
            <a:extLst>
              <a:ext uri="{FF2B5EF4-FFF2-40B4-BE49-F238E27FC236}">
                <a16:creationId xmlns:a16="http://schemas.microsoft.com/office/drawing/2014/main" id="{CF3F747D-6713-BF46-A3E2-D7A1111803D9}"/>
              </a:ext>
            </a:extLst>
          </p:cNvPr>
          <p:cNvSpPr/>
          <p:nvPr/>
        </p:nvSpPr>
        <p:spPr>
          <a:xfrm>
            <a:off x="1586430" y="2457500"/>
            <a:ext cx="1886910" cy="260731"/>
          </a:xfrm>
          <a:custGeom>
            <a:avLst/>
            <a:gdLst>
              <a:gd name="connsiteX0" fmla="*/ 0 w 2868105"/>
              <a:gd name="connsiteY0" fmla="*/ 0 h 399355"/>
              <a:gd name="connsiteX1" fmla="*/ 2868105 w 2868105"/>
              <a:gd name="connsiteY1" fmla="*/ 0 h 399355"/>
              <a:gd name="connsiteX2" fmla="*/ 2868105 w 2868105"/>
              <a:gd name="connsiteY2" fmla="*/ 399355 h 399355"/>
              <a:gd name="connsiteX3" fmla="*/ 0 w 2868105"/>
              <a:gd name="connsiteY3" fmla="*/ 399355 h 399355"/>
              <a:gd name="connsiteX4" fmla="*/ 0 w 2868105"/>
              <a:gd name="connsiteY4" fmla="*/ 0 h 3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8105" h="399355">
                <a:moveTo>
                  <a:pt x="0" y="0"/>
                </a:moveTo>
                <a:lnTo>
                  <a:pt x="2868105" y="0"/>
                </a:lnTo>
                <a:lnTo>
                  <a:pt x="2868105" y="399355"/>
                </a:lnTo>
                <a:lnTo>
                  <a:pt x="0" y="3993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TUPLE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 descr=" 38">
            <a:extLst>
              <a:ext uri="{FF2B5EF4-FFF2-40B4-BE49-F238E27FC236}">
                <a16:creationId xmlns:a16="http://schemas.microsoft.com/office/drawing/2014/main" id="{952983A3-D880-0144-8A8F-87CCD2603D7F}"/>
              </a:ext>
            </a:extLst>
          </p:cNvPr>
          <p:cNvCxnSpPr>
            <a:cxnSpLocks/>
          </p:cNvCxnSpPr>
          <p:nvPr/>
        </p:nvCxnSpPr>
        <p:spPr>
          <a:xfrm>
            <a:off x="3494805" y="1427069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 descr=" 39">
            <a:extLst>
              <a:ext uri="{FF2B5EF4-FFF2-40B4-BE49-F238E27FC236}">
                <a16:creationId xmlns:a16="http://schemas.microsoft.com/office/drawing/2014/main" id="{71CF6698-482F-F042-9CEE-DEE66138FFA9}"/>
              </a:ext>
            </a:extLst>
          </p:cNvPr>
          <p:cNvCxnSpPr>
            <a:cxnSpLocks/>
          </p:cNvCxnSpPr>
          <p:nvPr/>
        </p:nvCxnSpPr>
        <p:spPr>
          <a:xfrm>
            <a:off x="3487868" y="1976876"/>
            <a:ext cx="368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 descr=" 53">
            <a:extLst>
              <a:ext uri="{FF2B5EF4-FFF2-40B4-BE49-F238E27FC236}">
                <a16:creationId xmlns:a16="http://schemas.microsoft.com/office/drawing/2014/main" id="{1C00BDFC-EA50-C04D-A32E-260596C90859}"/>
              </a:ext>
            </a:extLst>
          </p:cNvPr>
          <p:cNvCxnSpPr>
            <a:cxnSpLocks/>
          </p:cNvCxnSpPr>
          <p:nvPr/>
        </p:nvCxnSpPr>
        <p:spPr>
          <a:xfrm>
            <a:off x="3480940" y="2588006"/>
            <a:ext cx="374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  <p:sp>
        <p:nvSpPr>
          <p:cNvPr id="9" name="TextBox 8" descr=" 15">
            <a:extLst>
              <a:ext uri="{FF2B5EF4-FFF2-40B4-BE49-F238E27FC236}">
                <a16:creationId xmlns:a16="http://schemas.microsoft.com/office/drawing/2014/main" id="{993757F2-A146-7A48-81F6-786804B6E286}"/>
              </a:ext>
            </a:extLst>
          </p:cNvPr>
          <p:cNvSpPr txBox="1"/>
          <p:nvPr/>
        </p:nvSpPr>
        <p:spPr>
          <a:xfrm>
            <a:off x="3799988" y="1278043"/>
            <a:ext cx="43780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Contiguous set </a:t>
            </a:r>
            <a:r>
              <a:rPr lang="en-US" sz="1400" dirty="0"/>
              <a:t>of </a:t>
            </a:r>
            <a:r>
              <a:rPr lang="en-US" sz="1400" i="1" dirty="0">
                <a:solidFill>
                  <a:srgbClr val="FF0000"/>
                </a:solidFill>
              </a:rPr>
              <a:t>characters</a:t>
            </a:r>
            <a:r>
              <a:rPr lang="en-US" sz="1400" dirty="0"/>
              <a:t> in </a:t>
            </a:r>
            <a:r>
              <a:rPr lang="en-US" sz="1400" u="sng" dirty="0"/>
              <a:t>quotation marks</a:t>
            </a:r>
            <a:r>
              <a:rPr lang="en-US" sz="1400" dirty="0"/>
              <a:t> (‘Hello’)</a:t>
            </a:r>
          </a:p>
        </p:txBody>
      </p:sp>
      <p:sp>
        <p:nvSpPr>
          <p:cNvPr id="10" name="TextBox 9" descr=" 17">
            <a:extLst>
              <a:ext uri="{FF2B5EF4-FFF2-40B4-BE49-F238E27FC236}">
                <a16:creationId xmlns:a16="http://schemas.microsoft.com/office/drawing/2014/main" id="{2A7A93AB-E0BF-9B42-9EBC-BB76064B8F82}"/>
              </a:ext>
            </a:extLst>
          </p:cNvPr>
          <p:cNvSpPr txBox="1"/>
          <p:nvPr/>
        </p:nvSpPr>
        <p:spPr>
          <a:xfrm>
            <a:off x="3534104" y="1701130"/>
            <a:ext cx="46715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Compound data type </a:t>
            </a:r>
            <a:r>
              <a:rPr lang="en-US" sz="1400" dirty="0"/>
              <a:t>: composed of </a:t>
            </a:r>
            <a:r>
              <a:rPr lang="en-US" sz="1400" i="1" u="sng" dirty="0"/>
              <a:t>items</a:t>
            </a:r>
            <a:r>
              <a:rPr lang="en-US" sz="1400" dirty="0"/>
              <a:t> in square bracket[], separated by commas [‘</a:t>
            </a:r>
            <a:r>
              <a:rPr lang="en-US" sz="1400" dirty="0" err="1"/>
              <a:t>abc</a:t>
            </a:r>
            <a:r>
              <a:rPr lang="en-US" sz="1400" dirty="0"/>
              <a:t>’,  5,  10.5,  ‘</a:t>
            </a:r>
            <a:r>
              <a:rPr lang="en-US" sz="1400" dirty="0" err="1"/>
              <a:t>xyz</a:t>
            </a:r>
            <a:r>
              <a:rPr lang="en-US" sz="1400" dirty="0"/>
              <a:t>’]</a:t>
            </a:r>
          </a:p>
        </p:txBody>
      </p:sp>
      <p:sp>
        <p:nvSpPr>
          <p:cNvPr id="15" name="TextBox 14" descr=" 20">
            <a:extLst>
              <a:ext uri="{FF2B5EF4-FFF2-40B4-BE49-F238E27FC236}">
                <a16:creationId xmlns:a16="http://schemas.microsoft.com/office/drawing/2014/main" id="{51FDEA4D-40AE-814B-8B2F-800C8CBB39A3}"/>
              </a:ext>
            </a:extLst>
          </p:cNvPr>
          <p:cNvSpPr txBox="1"/>
          <p:nvPr/>
        </p:nvSpPr>
        <p:spPr>
          <a:xfrm>
            <a:off x="3855896" y="2346104"/>
            <a:ext cx="4378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Similar to the list</a:t>
            </a:r>
            <a:r>
              <a:rPr lang="en-US" sz="1400" dirty="0"/>
              <a:t>, however, tuples are </a:t>
            </a:r>
            <a:r>
              <a:rPr lang="en-US" sz="1500" b="1" dirty="0"/>
              <a:t>enclosed within parenthesis </a:t>
            </a:r>
            <a:r>
              <a:rPr lang="en-US" sz="1400" dirty="0">
                <a:solidFill>
                  <a:srgbClr val="FF0000"/>
                </a:solidFill>
              </a:rPr>
              <a:t>(</a:t>
            </a:r>
            <a:r>
              <a:rPr lang="en-US" sz="1400" dirty="0"/>
              <a:t> ‘</a:t>
            </a:r>
            <a:r>
              <a:rPr lang="en-US" sz="1400" dirty="0" err="1"/>
              <a:t>abc</a:t>
            </a:r>
            <a:r>
              <a:rPr lang="en-US" sz="1400" dirty="0"/>
              <a:t>’, 786, 2.23, ‘john’ 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6" name="Left Brace 15" descr=" 25">
            <a:extLst>
              <a:ext uri="{FF2B5EF4-FFF2-40B4-BE49-F238E27FC236}">
                <a16:creationId xmlns:a16="http://schemas.microsoft.com/office/drawing/2014/main" id="{A381945A-9B5E-8C43-8D7E-1C66507A30E6}"/>
              </a:ext>
            </a:extLst>
          </p:cNvPr>
          <p:cNvSpPr/>
          <p:nvPr/>
        </p:nvSpPr>
        <p:spPr>
          <a:xfrm>
            <a:off x="1303258" y="1181799"/>
            <a:ext cx="269869" cy="16359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 descr=" 27">
            <a:extLst>
              <a:ext uri="{FF2B5EF4-FFF2-40B4-BE49-F238E27FC236}">
                <a16:creationId xmlns:a16="http://schemas.microsoft.com/office/drawing/2014/main" id="{53E81994-0B99-7E47-AD63-5FCC96D9007C}"/>
              </a:ext>
            </a:extLst>
          </p:cNvPr>
          <p:cNvSpPr txBox="1"/>
          <p:nvPr/>
        </p:nvSpPr>
        <p:spPr>
          <a:xfrm>
            <a:off x="965973" y="1270663"/>
            <a:ext cx="150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Q</a:t>
            </a:r>
          </a:p>
          <a:p>
            <a:r>
              <a:rPr lang="en-US" sz="1200" dirty="0"/>
              <a:t>U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N</a:t>
            </a:r>
          </a:p>
          <a:p>
            <a:r>
              <a:rPr lang="en-US" sz="1200" dirty="0"/>
              <a:t>C</a:t>
            </a:r>
          </a:p>
          <a:p>
            <a:r>
              <a:rPr lang="en-US" sz="1200" dirty="0"/>
              <a:t>E</a:t>
            </a:r>
          </a:p>
        </p:txBody>
      </p:sp>
      <p:sp>
        <p:nvSpPr>
          <p:cNvPr id="17" name="TextBox 16" descr=" 57">
            <a:extLst>
              <a:ext uri="{FF2B5EF4-FFF2-40B4-BE49-F238E27FC236}">
                <a16:creationId xmlns:a16="http://schemas.microsoft.com/office/drawing/2014/main" id="{F24B79F9-EA7F-BF46-A67A-5DFB4D770647}"/>
              </a:ext>
            </a:extLst>
          </p:cNvPr>
          <p:cNvSpPr txBox="1"/>
          <p:nvPr/>
        </p:nvSpPr>
        <p:spPr>
          <a:xfrm>
            <a:off x="1107558" y="1634545"/>
            <a:ext cx="15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1092238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sp>
        <p:nvSpPr>
          <p:cNvPr id="7" name="Freeform 6" descr=" 43">
            <a:extLst>
              <a:ext uri="{FF2B5EF4-FFF2-40B4-BE49-F238E27FC236}">
                <a16:creationId xmlns:a16="http://schemas.microsoft.com/office/drawing/2014/main" id="{8FC4C881-0280-0945-A401-4D21B5729126}"/>
              </a:ext>
            </a:extLst>
          </p:cNvPr>
          <p:cNvSpPr/>
          <p:nvPr/>
        </p:nvSpPr>
        <p:spPr>
          <a:xfrm>
            <a:off x="1600958" y="1278918"/>
            <a:ext cx="1886910" cy="296302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STRING</a:t>
            </a:r>
          </a:p>
        </p:txBody>
      </p:sp>
      <p:sp>
        <p:nvSpPr>
          <p:cNvPr id="12" name="Freeform 11" descr=" 45">
            <a:extLst>
              <a:ext uri="{FF2B5EF4-FFF2-40B4-BE49-F238E27FC236}">
                <a16:creationId xmlns:a16="http://schemas.microsoft.com/office/drawing/2014/main" id="{1A1947F0-5934-D740-B2DE-7F72E7F261BE}"/>
              </a:ext>
            </a:extLst>
          </p:cNvPr>
          <p:cNvSpPr/>
          <p:nvPr/>
        </p:nvSpPr>
        <p:spPr>
          <a:xfrm>
            <a:off x="1594030" y="1840081"/>
            <a:ext cx="1886910" cy="273590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9" name="Freeform 18" descr=" 47">
            <a:extLst>
              <a:ext uri="{FF2B5EF4-FFF2-40B4-BE49-F238E27FC236}">
                <a16:creationId xmlns:a16="http://schemas.microsoft.com/office/drawing/2014/main" id="{032E1A35-0BEE-5B49-BDAA-11E8BDB81E6B}"/>
              </a:ext>
            </a:extLst>
          </p:cNvPr>
          <p:cNvSpPr/>
          <p:nvPr/>
        </p:nvSpPr>
        <p:spPr>
          <a:xfrm>
            <a:off x="1586430" y="3021646"/>
            <a:ext cx="1886910" cy="273844"/>
          </a:xfrm>
          <a:custGeom>
            <a:avLst/>
            <a:gdLst>
              <a:gd name="connsiteX0" fmla="*/ 0 w 2952438"/>
              <a:gd name="connsiteY0" fmla="*/ 0 h 423744"/>
              <a:gd name="connsiteX1" fmla="*/ 2952438 w 2952438"/>
              <a:gd name="connsiteY1" fmla="*/ 0 h 423744"/>
              <a:gd name="connsiteX2" fmla="*/ 2952438 w 2952438"/>
              <a:gd name="connsiteY2" fmla="*/ 423744 h 423744"/>
              <a:gd name="connsiteX3" fmla="*/ 0 w 2952438"/>
              <a:gd name="connsiteY3" fmla="*/ 423744 h 423744"/>
              <a:gd name="connsiteX4" fmla="*/ 0 w 2952438"/>
              <a:gd name="connsiteY4" fmla="*/ 0 h 4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438" h="423744">
                <a:moveTo>
                  <a:pt x="0" y="0"/>
                </a:moveTo>
                <a:lnTo>
                  <a:pt x="2952438" y="0"/>
                </a:lnTo>
                <a:lnTo>
                  <a:pt x="2952438" y="423744"/>
                </a:lnTo>
                <a:lnTo>
                  <a:pt x="0" y="4237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DICTIONARY</a:t>
            </a:r>
          </a:p>
        </p:txBody>
      </p:sp>
      <p:sp>
        <p:nvSpPr>
          <p:cNvPr id="14" name="Freeform 13" descr=" 49">
            <a:extLst>
              <a:ext uri="{FF2B5EF4-FFF2-40B4-BE49-F238E27FC236}">
                <a16:creationId xmlns:a16="http://schemas.microsoft.com/office/drawing/2014/main" id="{CF3F747D-6713-BF46-A3E2-D7A1111803D9}"/>
              </a:ext>
            </a:extLst>
          </p:cNvPr>
          <p:cNvSpPr/>
          <p:nvPr/>
        </p:nvSpPr>
        <p:spPr>
          <a:xfrm>
            <a:off x="1586430" y="2457500"/>
            <a:ext cx="1886910" cy="260731"/>
          </a:xfrm>
          <a:custGeom>
            <a:avLst/>
            <a:gdLst>
              <a:gd name="connsiteX0" fmla="*/ 0 w 2868105"/>
              <a:gd name="connsiteY0" fmla="*/ 0 h 399355"/>
              <a:gd name="connsiteX1" fmla="*/ 2868105 w 2868105"/>
              <a:gd name="connsiteY1" fmla="*/ 0 h 399355"/>
              <a:gd name="connsiteX2" fmla="*/ 2868105 w 2868105"/>
              <a:gd name="connsiteY2" fmla="*/ 399355 h 399355"/>
              <a:gd name="connsiteX3" fmla="*/ 0 w 2868105"/>
              <a:gd name="connsiteY3" fmla="*/ 399355 h 399355"/>
              <a:gd name="connsiteX4" fmla="*/ 0 w 2868105"/>
              <a:gd name="connsiteY4" fmla="*/ 0 h 3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8105" h="399355">
                <a:moveTo>
                  <a:pt x="0" y="0"/>
                </a:moveTo>
                <a:lnTo>
                  <a:pt x="2868105" y="0"/>
                </a:lnTo>
                <a:lnTo>
                  <a:pt x="2868105" y="399355"/>
                </a:lnTo>
                <a:lnTo>
                  <a:pt x="0" y="3993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TUPLE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 descr=" 38">
            <a:extLst>
              <a:ext uri="{FF2B5EF4-FFF2-40B4-BE49-F238E27FC236}">
                <a16:creationId xmlns:a16="http://schemas.microsoft.com/office/drawing/2014/main" id="{952983A3-D880-0144-8A8F-87CCD2603D7F}"/>
              </a:ext>
            </a:extLst>
          </p:cNvPr>
          <p:cNvCxnSpPr>
            <a:cxnSpLocks/>
          </p:cNvCxnSpPr>
          <p:nvPr/>
        </p:nvCxnSpPr>
        <p:spPr>
          <a:xfrm>
            <a:off x="3494805" y="1427069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 descr=" 39">
            <a:extLst>
              <a:ext uri="{FF2B5EF4-FFF2-40B4-BE49-F238E27FC236}">
                <a16:creationId xmlns:a16="http://schemas.microsoft.com/office/drawing/2014/main" id="{71CF6698-482F-F042-9CEE-DEE66138FFA9}"/>
              </a:ext>
            </a:extLst>
          </p:cNvPr>
          <p:cNvCxnSpPr>
            <a:cxnSpLocks/>
          </p:cNvCxnSpPr>
          <p:nvPr/>
        </p:nvCxnSpPr>
        <p:spPr>
          <a:xfrm>
            <a:off x="3487868" y="1976876"/>
            <a:ext cx="368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 descr=" 53">
            <a:extLst>
              <a:ext uri="{FF2B5EF4-FFF2-40B4-BE49-F238E27FC236}">
                <a16:creationId xmlns:a16="http://schemas.microsoft.com/office/drawing/2014/main" id="{1C00BDFC-EA50-C04D-A32E-260596C90859}"/>
              </a:ext>
            </a:extLst>
          </p:cNvPr>
          <p:cNvCxnSpPr>
            <a:cxnSpLocks/>
          </p:cNvCxnSpPr>
          <p:nvPr/>
        </p:nvCxnSpPr>
        <p:spPr>
          <a:xfrm>
            <a:off x="3480940" y="2588006"/>
            <a:ext cx="374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 descr=" 54">
            <a:extLst>
              <a:ext uri="{FF2B5EF4-FFF2-40B4-BE49-F238E27FC236}">
                <a16:creationId xmlns:a16="http://schemas.microsoft.com/office/drawing/2014/main" id="{FEFDDAB9-30C2-F640-9DB6-E4BFB03830A7}"/>
              </a:ext>
            </a:extLst>
          </p:cNvPr>
          <p:cNvCxnSpPr>
            <a:cxnSpLocks/>
          </p:cNvCxnSpPr>
          <p:nvPr/>
        </p:nvCxnSpPr>
        <p:spPr>
          <a:xfrm>
            <a:off x="3487867" y="3158568"/>
            <a:ext cx="36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  <p:sp>
        <p:nvSpPr>
          <p:cNvPr id="9" name="TextBox 8" descr=" 15">
            <a:extLst>
              <a:ext uri="{FF2B5EF4-FFF2-40B4-BE49-F238E27FC236}">
                <a16:creationId xmlns:a16="http://schemas.microsoft.com/office/drawing/2014/main" id="{993757F2-A146-7A48-81F6-786804B6E286}"/>
              </a:ext>
            </a:extLst>
          </p:cNvPr>
          <p:cNvSpPr txBox="1"/>
          <p:nvPr/>
        </p:nvSpPr>
        <p:spPr>
          <a:xfrm>
            <a:off x="3799988" y="1278043"/>
            <a:ext cx="43780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Contiguous set </a:t>
            </a:r>
            <a:r>
              <a:rPr lang="en-US" sz="1400" dirty="0"/>
              <a:t>of </a:t>
            </a:r>
            <a:r>
              <a:rPr lang="en-US" sz="1400" i="1" dirty="0">
                <a:solidFill>
                  <a:srgbClr val="FF0000"/>
                </a:solidFill>
              </a:rPr>
              <a:t>characters</a:t>
            </a:r>
            <a:r>
              <a:rPr lang="en-US" sz="1400" dirty="0"/>
              <a:t> in </a:t>
            </a:r>
            <a:r>
              <a:rPr lang="en-US" sz="1400" u="sng" dirty="0"/>
              <a:t>quotation marks</a:t>
            </a:r>
            <a:r>
              <a:rPr lang="en-US" sz="1400" dirty="0"/>
              <a:t> (‘Hello’)</a:t>
            </a:r>
          </a:p>
        </p:txBody>
      </p:sp>
      <p:sp>
        <p:nvSpPr>
          <p:cNvPr id="10" name="TextBox 9" descr=" 17">
            <a:extLst>
              <a:ext uri="{FF2B5EF4-FFF2-40B4-BE49-F238E27FC236}">
                <a16:creationId xmlns:a16="http://schemas.microsoft.com/office/drawing/2014/main" id="{2A7A93AB-E0BF-9B42-9EBC-BB76064B8F82}"/>
              </a:ext>
            </a:extLst>
          </p:cNvPr>
          <p:cNvSpPr txBox="1"/>
          <p:nvPr/>
        </p:nvSpPr>
        <p:spPr>
          <a:xfrm>
            <a:off x="3534104" y="1701130"/>
            <a:ext cx="46715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Compound data type </a:t>
            </a:r>
            <a:r>
              <a:rPr lang="en-US" sz="1400" dirty="0"/>
              <a:t>: composed of </a:t>
            </a:r>
            <a:r>
              <a:rPr lang="en-US" sz="1400" i="1" u="sng" dirty="0"/>
              <a:t>items</a:t>
            </a:r>
            <a:r>
              <a:rPr lang="en-US" sz="1400" dirty="0"/>
              <a:t> in square bracket[], separated by commas [‘</a:t>
            </a:r>
            <a:r>
              <a:rPr lang="en-US" sz="1400" dirty="0" err="1"/>
              <a:t>abc</a:t>
            </a:r>
            <a:r>
              <a:rPr lang="en-US" sz="1400" dirty="0"/>
              <a:t>’,  5,  10.5,  ‘</a:t>
            </a:r>
            <a:r>
              <a:rPr lang="en-US" sz="1400" dirty="0" err="1"/>
              <a:t>xyz</a:t>
            </a:r>
            <a:r>
              <a:rPr lang="en-US" sz="1400" dirty="0"/>
              <a:t>’]</a:t>
            </a:r>
          </a:p>
        </p:txBody>
      </p:sp>
      <p:sp>
        <p:nvSpPr>
          <p:cNvPr id="21" name="TextBox 20" descr=" 18">
            <a:extLst>
              <a:ext uri="{FF2B5EF4-FFF2-40B4-BE49-F238E27FC236}">
                <a16:creationId xmlns:a16="http://schemas.microsoft.com/office/drawing/2014/main" id="{B26304B7-C7A8-AC48-BFE9-7347102C4CD0}"/>
              </a:ext>
            </a:extLst>
          </p:cNvPr>
          <p:cNvSpPr txBox="1"/>
          <p:nvPr/>
        </p:nvSpPr>
        <p:spPr>
          <a:xfrm>
            <a:off x="3855896" y="2985468"/>
            <a:ext cx="417021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Dictionaries</a:t>
            </a:r>
            <a:r>
              <a:rPr lang="en-US" sz="1400" dirty="0"/>
              <a:t> consist of key-value pairs {1001: "John", 1002: "Jane”}</a:t>
            </a:r>
          </a:p>
        </p:txBody>
      </p:sp>
      <p:sp>
        <p:nvSpPr>
          <p:cNvPr id="15" name="TextBox 14" descr=" 20">
            <a:extLst>
              <a:ext uri="{FF2B5EF4-FFF2-40B4-BE49-F238E27FC236}">
                <a16:creationId xmlns:a16="http://schemas.microsoft.com/office/drawing/2014/main" id="{51FDEA4D-40AE-814B-8B2F-800C8CBB39A3}"/>
              </a:ext>
            </a:extLst>
          </p:cNvPr>
          <p:cNvSpPr txBox="1"/>
          <p:nvPr/>
        </p:nvSpPr>
        <p:spPr>
          <a:xfrm>
            <a:off x="3855896" y="2346104"/>
            <a:ext cx="4378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Similar to the list</a:t>
            </a:r>
            <a:r>
              <a:rPr lang="en-US" sz="1400" dirty="0"/>
              <a:t>, however, tuples are </a:t>
            </a:r>
            <a:r>
              <a:rPr lang="en-US" sz="1500" b="1" dirty="0"/>
              <a:t>enclosed within parenthesis </a:t>
            </a:r>
            <a:r>
              <a:rPr lang="en-US" sz="1400" dirty="0">
                <a:solidFill>
                  <a:srgbClr val="FF0000"/>
                </a:solidFill>
              </a:rPr>
              <a:t>(</a:t>
            </a:r>
            <a:r>
              <a:rPr lang="en-US" sz="1400" dirty="0"/>
              <a:t> ‘</a:t>
            </a:r>
            <a:r>
              <a:rPr lang="en-US" sz="1400" dirty="0" err="1"/>
              <a:t>abc</a:t>
            </a:r>
            <a:r>
              <a:rPr lang="en-US" sz="1400" dirty="0"/>
              <a:t>’, 786, 2.23, ‘john’ 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6" name="Left Brace 15" descr=" 25">
            <a:extLst>
              <a:ext uri="{FF2B5EF4-FFF2-40B4-BE49-F238E27FC236}">
                <a16:creationId xmlns:a16="http://schemas.microsoft.com/office/drawing/2014/main" id="{A381945A-9B5E-8C43-8D7E-1C66507A30E6}"/>
              </a:ext>
            </a:extLst>
          </p:cNvPr>
          <p:cNvSpPr/>
          <p:nvPr/>
        </p:nvSpPr>
        <p:spPr>
          <a:xfrm>
            <a:off x="1303258" y="1181799"/>
            <a:ext cx="269869" cy="16359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 descr=" 27">
            <a:extLst>
              <a:ext uri="{FF2B5EF4-FFF2-40B4-BE49-F238E27FC236}">
                <a16:creationId xmlns:a16="http://schemas.microsoft.com/office/drawing/2014/main" id="{53E81994-0B99-7E47-AD63-5FCC96D9007C}"/>
              </a:ext>
            </a:extLst>
          </p:cNvPr>
          <p:cNvSpPr txBox="1"/>
          <p:nvPr/>
        </p:nvSpPr>
        <p:spPr>
          <a:xfrm>
            <a:off x="965973" y="1270663"/>
            <a:ext cx="150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Q</a:t>
            </a:r>
          </a:p>
          <a:p>
            <a:r>
              <a:rPr lang="en-US" sz="1200" dirty="0"/>
              <a:t>U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N</a:t>
            </a:r>
          </a:p>
          <a:p>
            <a:r>
              <a:rPr lang="en-US" sz="1200" dirty="0"/>
              <a:t>C</a:t>
            </a:r>
          </a:p>
          <a:p>
            <a:r>
              <a:rPr lang="en-US" sz="1200" dirty="0"/>
              <a:t>E</a:t>
            </a:r>
          </a:p>
        </p:txBody>
      </p:sp>
      <p:sp>
        <p:nvSpPr>
          <p:cNvPr id="17" name="TextBox 16" descr=" 57">
            <a:extLst>
              <a:ext uri="{FF2B5EF4-FFF2-40B4-BE49-F238E27FC236}">
                <a16:creationId xmlns:a16="http://schemas.microsoft.com/office/drawing/2014/main" id="{F24B79F9-EA7F-BF46-A67A-5DFB4D770647}"/>
              </a:ext>
            </a:extLst>
          </p:cNvPr>
          <p:cNvSpPr txBox="1"/>
          <p:nvPr/>
        </p:nvSpPr>
        <p:spPr>
          <a:xfrm>
            <a:off x="1107558" y="1634545"/>
            <a:ext cx="15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21642859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sp>
        <p:nvSpPr>
          <p:cNvPr id="7" name="Freeform 6" descr=" 43">
            <a:extLst>
              <a:ext uri="{FF2B5EF4-FFF2-40B4-BE49-F238E27FC236}">
                <a16:creationId xmlns:a16="http://schemas.microsoft.com/office/drawing/2014/main" id="{8FC4C881-0280-0945-A401-4D21B5729126}"/>
              </a:ext>
            </a:extLst>
          </p:cNvPr>
          <p:cNvSpPr/>
          <p:nvPr/>
        </p:nvSpPr>
        <p:spPr>
          <a:xfrm>
            <a:off x="1600958" y="1278918"/>
            <a:ext cx="1886910" cy="296302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STRING</a:t>
            </a:r>
          </a:p>
        </p:txBody>
      </p:sp>
      <p:sp>
        <p:nvSpPr>
          <p:cNvPr id="12" name="Freeform 11" descr=" 45">
            <a:extLst>
              <a:ext uri="{FF2B5EF4-FFF2-40B4-BE49-F238E27FC236}">
                <a16:creationId xmlns:a16="http://schemas.microsoft.com/office/drawing/2014/main" id="{1A1947F0-5934-D740-B2DE-7F72E7F261BE}"/>
              </a:ext>
            </a:extLst>
          </p:cNvPr>
          <p:cNvSpPr/>
          <p:nvPr/>
        </p:nvSpPr>
        <p:spPr>
          <a:xfrm>
            <a:off x="1594030" y="1840081"/>
            <a:ext cx="1886910" cy="273590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9" name="Freeform 18" descr=" 47">
            <a:extLst>
              <a:ext uri="{FF2B5EF4-FFF2-40B4-BE49-F238E27FC236}">
                <a16:creationId xmlns:a16="http://schemas.microsoft.com/office/drawing/2014/main" id="{032E1A35-0BEE-5B49-BDAA-11E8BDB81E6B}"/>
              </a:ext>
            </a:extLst>
          </p:cNvPr>
          <p:cNvSpPr/>
          <p:nvPr/>
        </p:nvSpPr>
        <p:spPr>
          <a:xfrm>
            <a:off x="1586430" y="3021646"/>
            <a:ext cx="1886910" cy="273844"/>
          </a:xfrm>
          <a:custGeom>
            <a:avLst/>
            <a:gdLst>
              <a:gd name="connsiteX0" fmla="*/ 0 w 2952438"/>
              <a:gd name="connsiteY0" fmla="*/ 0 h 423744"/>
              <a:gd name="connsiteX1" fmla="*/ 2952438 w 2952438"/>
              <a:gd name="connsiteY1" fmla="*/ 0 h 423744"/>
              <a:gd name="connsiteX2" fmla="*/ 2952438 w 2952438"/>
              <a:gd name="connsiteY2" fmla="*/ 423744 h 423744"/>
              <a:gd name="connsiteX3" fmla="*/ 0 w 2952438"/>
              <a:gd name="connsiteY3" fmla="*/ 423744 h 423744"/>
              <a:gd name="connsiteX4" fmla="*/ 0 w 2952438"/>
              <a:gd name="connsiteY4" fmla="*/ 0 h 4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438" h="423744">
                <a:moveTo>
                  <a:pt x="0" y="0"/>
                </a:moveTo>
                <a:lnTo>
                  <a:pt x="2952438" y="0"/>
                </a:lnTo>
                <a:lnTo>
                  <a:pt x="2952438" y="423744"/>
                </a:lnTo>
                <a:lnTo>
                  <a:pt x="0" y="4237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DICTIONARY</a:t>
            </a:r>
          </a:p>
        </p:txBody>
      </p:sp>
      <p:sp>
        <p:nvSpPr>
          <p:cNvPr id="14" name="Freeform 13" descr=" 49">
            <a:extLst>
              <a:ext uri="{FF2B5EF4-FFF2-40B4-BE49-F238E27FC236}">
                <a16:creationId xmlns:a16="http://schemas.microsoft.com/office/drawing/2014/main" id="{CF3F747D-6713-BF46-A3E2-D7A1111803D9}"/>
              </a:ext>
            </a:extLst>
          </p:cNvPr>
          <p:cNvSpPr/>
          <p:nvPr/>
        </p:nvSpPr>
        <p:spPr>
          <a:xfrm>
            <a:off x="1586430" y="2457500"/>
            <a:ext cx="1886910" cy="260731"/>
          </a:xfrm>
          <a:custGeom>
            <a:avLst/>
            <a:gdLst>
              <a:gd name="connsiteX0" fmla="*/ 0 w 2868105"/>
              <a:gd name="connsiteY0" fmla="*/ 0 h 399355"/>
              <a:gd name="connsiteX1" fmla="*/ 2868105 w 2868105"/>
              <a:gd name="connsiteY1" fmla="*/ 0 h 399355"/>
              <a:gd name="connsiteX2" fmla="*/ 2868105 w 2868105"/>
              <a:gd name="connsiteY2" fmla="*/ 399355 h 399355"/>
              <a:gd name="connsiteX3" fmla="*/ 0 w 2868105"/>
              <a:gd name="connsiteY3" fmla="*/ 399355 h 399355"/>
              <a:gd name="connsiteX4" fmla="*/ 0 w 2868105"/>
              <a:gd name="connsiteY4" fmla="*/ 0 h 3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8105" h="399355">
                <a:moveTo>
                  <a:pt x="0" y="0"/>
                </a:moveTo>
                <a:lnTo>
                  <a:pt x="2868105" y="0"/>
                </a:lnTo>
                <a:lnTo>
                  <a:pt x="2868105" y="399355"/>
                </a:lnTo>
                <a:lnTo>
                  <a:pt x="0" y="3993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TUPLE</a:t>
            </a:r>
          </a:p>
        </p:txBody>
      </p:sp>
      <p:sp>
        <p:nvSpPr>
          <p:cNvPr id="22" name="Freeform 21" descr=" 51">
            <a:extLst>
              <a:ext uri="{FF2B5EF4-FFF2-40B4-BE49-F238E27FC236}">
                <a16:creationId xmlns:a16="http://schemas.microsoft.com/office/drawing/2014/main" id="{D6C4ADE1-F160-4D4B-92B3-20D49F93FA58}"/>
              </a:ext>
            </a:extLst>
          </p:cNvPr>
          <p:cNvSpPr/>
          <p:nvPr/>
        </p:nvSpPr>
        <p:spPr>
          <a:xfrm>
            <a:off x="1573127" y="3572500"/>
            <a:ext cx="1886910" cy="273845"/>
          </a:xfrm>
          <a:custGeom>
            <a:avLst/>
            <a:gdLst>
              <a:gd name="connsiteX0" fmla="*/ 0 w 1880709"/>
              <a:gd name="connsiteY0" fmla="*/ 0 h 463740"/>
              <a:gd name="connsiteX1" fmla="*/ 1880709 w 1880709"/>
              <a:gd name="connsiteY1" fmla="*/ 0 h 463740"/>
              <a:gd name="connsiteX2" fmla="*/ 1880709 w 1880709"/>
              <a:gd name="connsiteY2" fmla="*/ 463740 h 463740"/>
              <a:gd name="connsiteX3" fmla="*/ 0 w 1880709"/>
              <a:gd name="connsiteY3" fmla="*/ 463740 h 463740"/>
              <a:gd name="connsiteX4" fmla="*/ 0 w 1880709"/>
              <a:gd name="connsiteY4" fmla="*/ 0 h 4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709" h="463740">
                <a:moveTo>
                  <a:pt x="0" y="0"/>
                </a:moveTo>
                <a:lnTo>
                  <a:pt x="1880709" y="0"/>
                </a:lnTo>
                <a:lnTo>
                  <a:pt x="1880709" y="463740"/>
                </a:lnTo>
                <a:lnTo>
                  <a:pt x="0" y="4637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SET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 descr=" 38">
            <a:extLst>
              <a:ext uri="{FF2B5EF4-FFF2-40B4-BE49-F238E27FC236}">
                <a16:creationId xmlns:a16="http://schemas.microsoft.com/office/drawing/2014/main" id="{952983A3-D880-0144-8A8F-87CCD2603D7F}"/>
              </a:ext>
            </a:extLst>
          </p:cNvPr>
          <p:cNvCxnSpPr>
            <a:cxnSpLocks/>
          </p:cNvCxnSpPr>
          <p:nvPr/>
        </p:nvCxnSpPr>
        <p:spPr>
          <a:xfrm>
            <a:off x="3494805" y="1427069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 descr=" 39">
            <a:extLst>
              <a:ext uri="{FF2B5EF4-FFF2-40B4-BE49-F238E27FC236}">
                <a16:creationId xmlns:a16="http://schemas.microsoft.com/office/drawing/2014/main" id="{71CF6698-482F-F042-9CEE-DEE66138FFA9}"/>
              </a:ext>
            </a:extLst>
          </p:cNvPr>
          <p:cNvCxnSpPr>
            <a:cxnSpLocks/>
          </p:cNvCxnSpPr>
          <p:nvPr/>
        </p:nvCxnSpPr>
        <p:spPr>
          <a:xfrm>
            <a:off x="3487868" y="1976876"/>
            <a:ext cx="368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 descr=" 53">
            <a:extLst>
              <a:ext uri="{FF2B5EF4-FFF2-40B4-BE49-F238E27FC236}">
                <a16:creationId xmlns:a16="http://schemas.microsoft.com/office/drawing/2014/main" id="{1C00BDFC-EA50-C04D-A32E-260596C90859}"/>
              </a:ext>
            </a:extLst>
          </p:cNvPr>
          <p:cNvCxnSpPr>
            <a:cxnSpLocks/>
          </p:cNvCxnSpPr>
          <p:nvPr/>
        </p:nvCxnSpPr>
        <p:spPr>
          <a:xfrm>
            <a:off x="3480940" y="2588006"/>
            <a:ext cx="374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 descr=" 54">
            <a:extLst>
              <a:ext uri="{FF2B5EF4-FFF2-40B4-BE49-F238E27FC236}">
                <a16:creationId xmlns:a16="http://schemas.microsoft.com/office/drawing/2014/main" id="{FEFDDAB9-30C2-F640-9DB6-E4BFB03830A7}"/>
              </a:ext>
            </a:extLst>
          </p:cNvPr>
          <p:cNvCxnSpPr>
            <a:cxnSpLocks/>
          </p:cNvCxnSpPr>
          <p:nvPr/>
        </p:nvCxnSpPr>
        <p:spPr>
          <a:xfrm>
            <a:off x="3487867" y="3158568"/>
            <a:ext cx="36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  <p:sp>
        <p:nvSpPr>
          <p:cNvPr id="9" name="TextBox 8" descr=" 15">
            <a:extLst>
              <a:ext uri="{FF2B5EF4-FFF2-40B4-BE49-F238E27FC236}">
                <a16:creationId xmlns:a16="http://schemas.microsoft.com/office/drawing/2014/main" id="{993757F2-A146-7A48-81F6-786804B6E286}"/>
              </a:ext>
            </a:extLst>
          </p:cNvPr>
          <p:cNvSpPr txBox="1"/>
          <p:nvPr/>
        </p:nvSpPr>
        <p:spPr>
          <a:xfrm>
            <a:off x="3799988" y="1278043"/>
            <a:ext cx="43780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Contiguous set </a:t>
            </a:r>
            <a:r>
              <a:rPr lang="en-US" sz="1400" dirty="0"/>
              <a:t>of </a:t>
            </a:r>
            <a:r>
              <a:rPr lang="en-US" sz="1400" i="1" dirty="0">
                <a:solidFill>
                  <a:srgbClr val="FF0000"/>
                </a:solidFill>
              </a:rPr>
              <a:t>characters</a:t>
            </a:r>
            <a:r>
              <a:rPr lang="en-US" sz="1400" dirty="0"/>
              <a:t> in </a:t>
            </a:r>
            <a:r>
              <a:rPr lang="en-US" sz="1400" u="sng" dirty="0"/>
              <a:t>quotation marks</a:t>
            </a:r>
            <a:r>
              <a:rPr lang="en-US" sz="1400" dirty="0"/>
              <a:t> (‘Hello’)</a:t>
            </a:r>
          </a:p>
        </p:txBody>
      </p:sp>
      <p:sp>
        <p:nvSpPr>
          <p:cNvPr id="10" name="TextBox 9" descr=" 17">
            <a:extLst>
              <a:ext uri="{FF2B5EF4-FFF2-40B4-BE49-F238E27FC236}">
                <a16:creationId xmlns:a16="http://schemas.microsoft.com/office/drawing/2014/main" id="{2A7A93AB-E0BF-9B42-9EBC-BB76064B8F82}"/>
              </a:ext>
            </a:extLst>
          </p:cNvPr>
          <p:cNvSpPr txBox="1"/>
          <p:nvPr/>
        </p:nvSpPr>
        <p:spPr>
          <a:xfrm>
            <a:off x="3534104" y="1701130"/>
            <a:ext cx="46715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Compound data type </a:t>
            </a:r>
            <a:r>
              <a:rPr lang="en-US" sz="1400" dirty="0"/>
              <a:t>: composed of </a:t>
            </a:r>
            <a:r>
              <a:rPr lang="en-US" sz="1400" i="1" u="sng" dirty="0"/>
              <a:t>items</a:t>
            </a:r>
            <a:r>
              <a:rPr lang="en-US" sz="1400" dirty="0"/>
              <a:t> in square bracket[], separated by commas [‘</a:t>
            </a:r>
            <a:r>
              <a:rPr lang="en-US" sz="1400" dirty="0" err="1"/>
              <a:t>abc</a:t>
            </a:r>
            <a:r>
              <a:rPr lang="en-US" sz="1400" dirty="0"/>
              <a:t>’,  5,  10.5,  ‘</a:t>
            </a:r>
            <a:r>
              <a:rPr lang="en-US" sz="1400" dirty="0" err="1"/>
              <a:t>xyz</a:t>
            </a:r>
            <a:r>
              <a:rPr lang="en-US" sz="1400" dirty="0"/>
              <a:t>’]</a:t>
            </a:r>
          </a:p>
        </p:txBody>
      </p:sp>
      <p:sp>
        <p:nvSpPr>
          <p:cNvPr id="21" name="TextBox 20" descr=" 18">
            <a:extLst>
              <a:ext uri="{FF2B5EF4-FFF2-40B4-BE49-F238E27FC236}">
                <a16:creationId xmlns:a16="http://schemas.microsoft.com/office/drawing/2014/main" id="{B26304B7-C7A8-AC48-BFE9-7347102C4CD0}"/>
              </a:ext>
            </a:extLst>
          </p:cNvPr>
          <p:cNvSpPr txBox="1"/>
          <p:nvPr/>
        </p:nvSpPr>
        <p:spPr>
          <a:xfrm>
            <a:off x="3855896" y="2985468"/>
            <a:ext cx="417021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Dictionaries</a:t>
            </a:r>
            <a:r>
              <a:rPr lang="en-US" sz="1400" dirty="0"/>
              <a:t> consist of key-value pairs {1001: "John", 1002: "Jane”}</a:t>
            </a:r>
          </a:p>
        </p:txBody>
      </p:sp>
      <p:sp>
        <p:nvSpPr>
          <p:cNvPr id="15" name="TextBox 14" descr=" 20">
            <a:extLst>
              <a:ext uri="{FF2B5EF4-FFF2-40B4-BE49-F238E27FC236}">
                <a16:creationId xmlns:a16="http://schemas.microsoft.com/office/drawing/2014/main" id="{51FDEA4D-40AE-814B-8B2F-800C8CBB39A3}"/>
              </a:ext>
            </a:extLst>
          </p:cNvPr>
          <p:cNvSpPr txBox="1"/>
          <p:nvPr/>
        </p:nvSpPr>
        <p:spPr>
          <a:xfrm>
            <a:off x="3855896" y="2346104"/>
            <a:ext cx="4378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Similar to the list</a:t>
            </a:r>
            <a:r>
              <a:rPr lang="en-US" sz="1400" dirty="0"/>
              <a:t>, however, tuples are </a:t>
            </a:r>
            <a:r>
              <a:rPr lang="en-US" sz="1500" b="1" dirty="0"/>
              <a:t>enclosed within parenthesis </a:t>
            </a:r>
            <a:r>
              <a:rPr lang="en-US" sz="1400" dirty="0">
                <a:solidFill>
                  <a:srgbClr val="FF0000"/>
                </a:solidFill>
              </a:rPr>
              <a:t>(</a:t>
            </a:r>
            <a:r>
              <a:rPr lang="en-US" sz="1400" dirty="0"/>
              <a:t> ‘</a:t>
            </a:r>
            <a:r>
              <a:rPr lang="en-US" sz="1400" dirty="0" err="1"/>
              <a:t>abc</a:t>
            </a:r>
            <a:r>
              <a:rPr lang="en-US" sz="1400" dirty="0"/>
              <a:t>’, 786, 2.23, ‘john’ 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6" name="Left Brace 15" descr=" 25">
            <a:extLst>
              <a:ext uri="{FF2B5EF4-FFF2-40B4-BE49-F238E27FC236}">
                <a16:creationId xmlns:a16="http://schemas.microsoft.com/office/drawing/2014/main" id="{A381945A-9B5E-8C43-8D7E-1C66507A30E6}"/>
              </a:ext>
            </a:extLst>
          </p:cNvPr>
          <p:cNvSpPr/>
          <p:nvPr/>
        </p:nvSpPr>
        <p:spPr>
          <a:xfrm>
            <a:off x="1303258" y="1181799"/>
            <a:ext cx="269869" cy="16359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 descr=" 27">
            <a:extLst>
              <a:ext uri="{FF2B5EF4-FFF2-40B4-BE49-F238E27FC236}">
                <a16:creationId xmlns:a16="http://schemas.microsoft.com/office/drawing/2014/main" id="{53E81994-0B99-7E47-AD63-5FCC96D9007C}"/>
              </a:ext>
            </a:extLst>
          </p:cNvPr>
          <p:cNvSpPr txBox="1"/>
          <p:nvPr/>
        </p:nvSpPr>
        <p:spPr>
          <a:xfrm>
            <a:off x="965973" y="1270663"/>
            <a:ext cx="150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Q</a:t>
            </a:r>
          </a:p>
          <a:p>
            <a:r>
              <a:rPr lang="en-US" sz="1200" dirty="0"/>
              <a:t>U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N</a:t>
            </a:r>
          </a:p>
          <a:p>
            <a:r>
              <a:rPr lang="en-US" sz="1200" dirty="0"/>
              <a:t>C</a:t>
            </a:r>
          </a:p>
          <a:p>
            <a:r>
              <a:rPr lang="en-US" sz="1200" dirty="0"/>
              <a:t>E</a:t>
            </a:r>
          </a:p>
        </p:txBody>
      </p:sp>
      <p:sp>
        <p:nvSpPr>
          <p:cNvPr id="17" name="TextBox 16" descr=" 57">
            <a:extLst>
              <a:ext uri="{FF2B5EF4-FFF2-40B4-BE49-F238E27FC236}">
                <a16:creationId xmlns:a16="http://schemas.microsoft.com/office/drawing/2014/main" id="{F24B79F9-EA7F-BF46-A67A-5DFB4D770647}"/>
              </a:ext>
            </a:extLst>
          </p:cNvPr>
          <p:cNvSpPr txBox="1"/>
          <p:nvPr/>
        </p:nvSpPr>
        <p:spPr>
          <a:xfrm>
            <a:off x="1107558" y="1634545"/>
            <a:ext cx="15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type</a:t>
            </a:r>
          </a:p>
        </p:txBody>
      </p:sp>
      <p:sp>
        <p:nvSpPr>
          <p:cNvPr id="24" name="TextBox 23" descr=" 24">
            <a:extLst>
              <a:ext uri="{FF2B5EF4-FFF2-40B4-BE49-F238E27FC236}">
                <a16:creationId xmlns:a16="http://schemas.microsoft.com/office/drawing/2014/main" id="{53BBC269-808B-DE43-8712-2EE0D963449E}"/>
              </a:ext>
            </a:extLst>
          </p:cNvPr>
          <p:cNvSpPr txBox="1"/>
          <p:nvPr/>
        </p:nvSpPr>
        <p:spPr>
          <a:xfrm>
            <a:off x="3841369" y="3478590"/>
            <a:ext cx="4671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Collection of unordered data type : </a:t>
            </a:r>
            <a:r>
              <a:rPr lang="en-US" sz="1400" dirty="0" err="1"/>
              <a:t>iterable</a:t>
            </a:r>
            <a:r>
              <a:rPr lang="en-US" sz="1400" dirty="0"/>
              <a:t>, mutable/changeable, without </a:t>
            </a:r>
            <a:r>
              <a:rPr lang="en-US" sz="1400" dirty="0" err="1"/>
              <a:t>duplicacy</a:t>
            </a:r>
            <a:endParaRPr lang="en-US" sz="1400" dirty="0"/>
          </a:p>
        </p:txBody>
      </p:sp>
      <p:cxnSp>
        <p:nvCxnSpPr>
          <p:cNvPr id="23" name="Straight Arrow Connector 22" descr=" 26">
            <a:extLst>
              <a:ext uri="{FF2B5EF4-FFF2-40B4-BE49-F238E27FC236}">
                <a16:creationId xmlns:a16="http://schemas.microsoft.com/office/drawing/2014/main" id="{66631309-DD64-B74F-84F2-F2446A375DC0}"/>
              </a:ext>
            </a:extLst>
          </p:cNvPr>
          <p:cNvCxnSpPr>
            <a:cxnSpLocks/>
          </p:cNvCxnSpPr>
          <p:nvPr/>
        </p:nvCxnSpPr>
        <p:spPr>
          <a:xfrm>
            <a:off x="3473340" y="3709422"/>
            <a:ext cx="36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96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Freeform 3" descr=" 41">
            <a:extLst>
              <a:ext uri="{FF2B5EF4-FFF2-40B4-BE49-F238E27FC236}">
                <a16:creationId xmlns:a16="http://schemas.microsoft.com/office/drawing/2014/main" id="{4A348B6B-C65B-9843-A1AC-9288E3499AF1}"/>
              </a:ext>
            </a:extLst>
          </p:cNvPr>
          <p:cNvSpPr/>
          <p:nvPr/>
        </p:nvSpPr>
        <p:spPr>
          <a:xfrm>
            <a:off x="1600958" y="789166"/>
            <a:ext cx="1886910" cy="275714"/>
          </a:xfrm>
          <a:custGeom>
            <a:avLst/>
            <a:gdLst>
              <a:gd name="connsiteX0" fmla="*/ 0 w 1886910"/>
              <a:gd name="connsiteY0" fmla="*/ 0 h 407913"/>
              <a:gd name="connsiteX1" fmla="*/ 1886910 w 1886910"/>
              <a:gd name="connsiteY1" fmla="*/ 0 h 407913"/>
              <a:gd name="connsiteX2" fmla="*/ 1886910 w 1886910"/>
              <a:gd name="connsiteY2" fmla="*/ 407913 h 407913"/>
              <a:gd name="connsiteX3" fmla="*/ 0 w 1886910"/>
              <a:gd name="connsiteY3" fmla="*/ 407913 h 407913"/>
              <a:gd name="connsiteX4" fmla="*/ 0 w 1886910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910" h="407913">
                <a:moveTo>
                  <a:pt x="0" y="0"/>
                </a:moveTo>
                <a:lnTo>
                  <a:pt x="1886910" y="0"/>
                </a:lnTo>
                <a:lnTo>
                  <a:pt x="1886910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NUMBERS</a:t>
            </a:r>
          </a:p>
        </p:txBody>
      </p:sp>
      <p:sp>
        <p:nvSpPr>
          <p:cNvPr id="7" name="Freeform 6" descr=" 43">
            <a:extLst>
              <a:ext uri="{FF2B5EF4-FFF2-40B4-BE49-F238E27FC236}">
                <a16:creationId xmlns:a16="http://schemas.microsoft.com/office/drawing/2014/main" id="{8FC4C881-0280-0945-A401-4D21B5729126}"/>
              </a:ext>
            </a:extLst>
          </p:cNvPr>
          <p:cNvSpPr/>
          <p:nvPr/>
        </p:nvSpPr>
        <p:spPr>
          <a:xfrm>
            <a:off x="1600958" y="1278918"/>
            <a:ext cx="1886910" cy="296302"/>
          </a:xfrm>
          <a:custGeom>
            <a:avLst/>
            <a:gdLst>
              <a:gd name="connsiteX0" fmla="*/ 0 w 2825184"/>
              <a:gd name="connsiteY0" fmla="*/ 0 h 407913"/>
              <a:gd name="connsiteX1" fmla="*/ 2825184 w 2825184"/>
              <a:gd name="connsiteY1" fmla="*/ 0 h 407913"/>
              <a:gd name="connsiteX2" fmla="*/ 2825184 w 2825184"/>
              <a:gd name="connsiteY2" fmla="*/ 407913 h 407913"/>
              <a:gd name="connsiteX3" fmla="*/ 0 w 2825184"/>
              <a:gd name="connsiteY3" fmla="*/ 407913 h 407913"/>
              <a:gd name="connsiteX4" fmla="*/ 0 w 282518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84" h="407913">
                <a:moveTo>
                  <a:pt x="0" y="0"/>
                </a:moveTo>
                <a:lnTo>
                  <a:pt x="2825184" y="0"/>
                </a:lnTo>
                <a:lnTo>
                  <a:pt x="282518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60960" rIns="60960" bIns="6096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STRING</a:t>
            </a:r>
          </a:p>
        </p:txBody>
      </p:sp>
      <p:sp>
        <p:nvSpPr>
          <p:cNvPr id="12" name="Freeform 11" descr=" 45">
            <a:extLst>
              <a:ext uri="{FF2B5EF4-FFF2-40B4-BE49-F238E27FC236}">
                <a16:creationId xmlns:a16="http://schemas.microsoft.com/office/drawing/2014/main" id="{1A1947F0-5934-D740-B2DE-7F72E7F261BE}"/>
              </a:ext>
            </a:extLst>
          </p:cNvPr>
          <p:cNvSpPr/>
          <p:nvPr/>
        </p:nvSpPr>
        <p:spPr>
          <a:xfrm>
            <a:off x="1594030" y="1840081"/>
            <a:ext cx="1886910" cy="273590"/>
          </a:xfrm>
          <a:custGeom>
            <a:avLst/>
            <a:gdLst>
              <a:gd name="connsiteX0" fmla="*/ 0 w 2970734"/>
              <a:gd name="connsiteY0" fmla="*/ 0 h 407913"/>
              <a:gd name="connsiteX1" fmla="*/ 2970734 w 2970734"/>
              <a:gd name="connsiteY1" fmla="*/ 0 h 407913"/>
              <a:gd name="connsiteX2" fmla="*/ 2970734 w 2970734"/>
              <a:gd name="connsiteY2" fmla="*/ 407913 h 407913"/>
              <a:gd name="connsiteX3" fmla="*/ 0 w 2970734"/>
              <a:gd name="connsiteY3" fmla="*/ 407913 h 407913"/>
              <a:gd name="connsiteX4" fmla="*/ 0 w 2970734"/>
              <a:gd name="connsiteY4" fmla="*/ 0 h 40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0734" h="407913">
                <a:moveTo>
                  <a:pt x="0" y="0"/>
                </a:moveTo>
                <a:lnTo>
                  <a:pt x="2970734" y="0"/>
                </a:lnTo>
                <a:lnTo>
                  <a:pt x="2970734" y="407913"/>
                </a:lnTo>
                <a:lnTo>
                  <a:pt x="0" y="40791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LIST</a:t>
            </a:r>
          </a:p>
        </p:txBody>
      </p:sp>
      <p:sp>
        <p:nvSpPr>
          <p:cNvPr id="19" name="Freeform 18" descr=" 47">
            <a:extLst>
              <a:ext uri="{FF2B5EF4-FFF2-40B4-BE49-F238E27FC236}">
                <a16:creationId xmlns:a16="http://schemas.microsoft.com/office/drawing/2014/main" id="{032E1A35-0BEE-5B49-BDAA-11E8BDB81E6B}"/>
              </a:ext>
            </a:extLst>
          </p:cNvPr>
          <p:cNvSpPr/>
          <p:nvPr/>
        </p:nvSpPr>
        <p:spPr>
          <a:xfrm>
            <a:off x="1586430" y="3021646"/>
            <a:ext cx="1886910" cy="273844"/>
          </a:xfrm>
          <a:custGeom>
            <a:avLst/>
            <a:gdLst>
              <a:gd name="connsiteX0" fmla="*/ 0 w 2952438"/>
              <a:gd name="connsiteY0" fmla="*/ 0 h 423744"/>
              <a:gd name="connsiteX1" fmla="*/ 2952438 w 2952438"/>
              <a:gd name="connsiteY1" fmla="*/ 0 h 423744"/>
              <a:gd name="connsiteX2" fmla="*/ 2952438 w 2952438"/>
              <a:gd name="connsiteY2" fmla="*/ 423744 h 423744"/>
              <a:gd name="connsiteX3" fmla="*/ 0 w 2952438"/>
              <a:gd name="connsiteY3" fmla="*/ 423744 h 423744"/>
              <a:gd name="connsiteX4" fmla="*/ 0 w 2952438"/>
              <a:gd name="connsiteY4" fmla="*/ 0 h 4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438" h="423744">
                <a:moveTo>
                  <a:pt x="0" y="0"/>
                </a:moveTo>
                <a:lnTo>
                  <a:pt x="2952438" y="0"/>
                </a:lnTo>
                <a:lnTo>
                  <a:pt x="2952438" y="423744"/>
                </a:lnTo>
                <a:lnTo>
                  <a:pt x="0" y="4237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DICTIONARY</a:t>
            </a:r>
          </a:p>
        </p:txBody>
      </p:sp>
      <p:sp>
        <p:nvSpPr>
          <p:cNvPr id="14" name="Freeform 13" descr=" 49">
            <a:extLst>
              <a:ext uri="{FF2B5EF4-FFF2-40B4-BE49-F238E27FC236}">
                <a16:creationId xmlns:a16="http://schemas.microsoft.com/office/drawing/2014/main" id="{CF3F747D-6713-BF46-A3E2-D7A1111803D9}"/>
              </a:ext>
            </a:extLst>
          </p:cNvPr>
          <p:cNvSpPr/>
          <p:nvPr/>
        </p:nvSpPr>
        <p:spPr>
          <a:xfrm>
            <a:off x="1586430" y="2457500"/>
            <a:ext cx="1886910" cy="260731"/>
          </a:xfrm>
          <a:custGeom>
            <a:avLst/>
            <a:gdLst>
              <a:gd name="connsiteX0" fmla="*/ 0 w 2868105"/>
              <a:gd name="connsiteY0" fmla="*/ 0 h 399355"/>
              <a:gd name="connsiteX1" fmla="*/ 2868105 w 2868105"/>
              <a:gd name="connsiteY1" fmla="*/ 0 h 399355"/>
              <a:gd name="connsiteX2" fmla="*/ 2868105 w 2868105"/>
              <a:gd name="connsiteY2" fmla="*/ 399355 h 399355"/>
              <a:gd name="connsiteX3" fmla="*/ 0 w 2868105"/>
              <a:gd name="connsiteY3" fmla="*/ 399355 h 399355"/>
              <a:gd name="connsiteX4" fmla="*/ 0 w 2868105"/>
              <a:gd name="connsiteY4" fmla="*/ 0 h 3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8105" h="399355">
                <a:moveTo>
                  <a:pt x="0" y="0"/>
                </a:moveTo>
                <a:lnTo>
                  <a:pt x="2868105" y="0"/>
                </a:lnTo>
                <a:lnTo>
                  <a:pt x="2868105" y="399355"/>
                </a:lnTo>
                <a:lnTo>
                  <a:pt x="0" y="3993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TUPLE</a:t>
            </a:r>
          </a:p>
        </p:txBody>
      </p:sp>
      <p:sp>
        <p:nvSpPr>
          <p:cNvPr id="22" name="Freeform 21" descr=" 51">
            <a:extLst>
              <a:ext uri="{FF2B5EF4-FFF2-40B4-BE49-F238E27FC236}">
                <a16:creationId xmlns:a16="http://schemas.microsoft.com/office/drawing/2014/main" id="{D6C4ADE1-F160-4D4B-92B3-20D49F93FA58}"/>
              </a:ext>
            </a:extLst>
          </p:cNvPr>
          <p:cNvSpPr/>
          <p:nvPr/>
        </p:nvSpPr>
        <p:spPr>
          <a:xfrm>
            <a:off x="1573127" y="3572500"/>
            <a:ext cx="1886910" cy="273845"/>
          </a:xfrm>
          <a:custGeom>
            <a:avLst/>
            <a:gdLst>
              <a:gd name="connsiteX0" fmla="*/ 0 w 1880709"/>
              <a:gd name="connsiteY0" fmla="*/ 0 h 463740"/>
              <a:gd name="connsiteX1" fmla="*/ 1880709 w 1880709"/>
              <a:gd name="connsiteY1" fmla="*/ 0 h 463740"/>
              <a:gd name="connsiteX2" fmla="*/ 1880709 w 1880709"/>
              <a:gd name="connsiteY2" fmla="*/ 463740 h 463740"/>
              <a:gd name="connsiteX3" fmla="*/ 0 w 1880709"/>
              <a:gd name="connsiteY3" fmla="*/ 463740 h 463740"/>
              <a:gd name="connsiteX4" fmla="*/ 0 w 1880709"/>
              <a:gd name="connsiteY4" fmla="*/ 0 h 4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709" h="463740">
                <a:moveTo>
                  <a:pt x="0" y="0"/>
                </a:moveTo>
                <a:lnTo>
                  <a:pt x="1880709" y="0"/>
                </a:lnTo>
                <a:lnTo>
                  <a:pt x="1880709" y="463740"/>
                </a:lnTo>
                <a:lnTo>
                  <a:pt x="0" y="4637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SET</a:t>
            </a:r>
          </a:p>
        </p:txBody>
      </p:sp>
      <p:cxnSp>
        <p:nvCxnSpPr>
          <p:cNvPr id="5" name="Straight Arrow Connector 4" descr=" 11">
            <a:extLst>
              <a:ext uri="{FF2B5EF4-FFF2-40B4-BE49-F238E27FC236}">
                <a16:creationId xmlns:a16="http://schemas.microsoft.com/office/drawing/2014/main" id="{A136DC92-E48D-2340-8225-326942470148}"/>
              </a:ext>
            </a:extLst>
          </p:cNvPr>
          <p:cNvCxnSpPr>
            <a:cxnSpLocks/>
          </p:cNvCxnSpPr>
          <p:nvPr/>
        </p:nvCxnSpPr>
        <p:spPr>
          <a:xfrm>
            <a:off x="3494805" y="927023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 descr=" 38">
            <a:extLst>
              <a:ext uri="{FF2B5EF4-FFF2-40B4-BE49-F238E27FC236}">
                <a16:creationId xmlns:a16="http://schemas.microsoft.com/office/drawing/2014/main" id="{952983A3-D880-0144-8A8F-87CCD2603D7F}"/>
              </a:ext>
            </a:extLst>
          </p:cNvPr>
          <p:cNvCxnSpPr>
            <a:cxnSpLocks/>
          </p:cNvCxnSpPr>
          <p:nvPr/>
        </p:nvCxnSpPr>
        <p:spPr>
          <a:xfrm>
            <a:off x="3494805" y="1427069"/>
            <a:ext cx="361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 descr=" 39">
            <a:extLst>
              <a:ext uri="{FF2B5EF4-FFF2-40B4-BE49-F238E27FC236}">
                <a16:creationId xmlns:a16="http://schemas.microsoft.com/office/drawing/2014/main" id="{71CF6698-482F-F042-9CEE-DEE66138FFA9}"/>
              </a:ext>
            </a:extLst>
          </p:cNvPr>
          <p:cNvCxnSpPr>
            <a:cxnSpLocks/>
          </p:cNvCxnSpPr>
          <p:nvPr/>
        </p:nvCxnSpPr>
        <p:spPr>
          <a:xfrm>
            <a:off x="3487868" y="1976876"/>
            <a:ext cx="368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 descr=" 53">
            <a:extLst>
              <a:ext uri="{FF2B5EF4-FFF2-40B4-BE49-F238E27FC236}">
                <a16:creationId xmlns:a16="http://schemas.microsoft.com/office/drawing/2014/main" id="{1C00BDFC-EA50-C04D-A32E-260596C90859}"/>
              </a:ext>
            </a:extLst>
          </p:cNvPr>
          <p:cNvCxnSpPr>
            <a:cxnSpLocks/>
          </p:cNvCxnSpPr>
          <p:nvPr/>
        </p:nvCxnSpPr>
        <p:spPr>
          <a:xfrm>
            <a:off x="3480940" y="2588006"/>
            <a:ext cx="374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 descr=" 54">
            <a:extLst>
              <a:ext uri="{FF2B5EF4-FFF2-40B4-BE49-F238E27FC236}">
                <a16:creationId xmlns:a16="http://schemas.microsoft.com/office/drawing/2014/main" id="{FEFDDAB9-30C2-F640-9DB6-E4BFB03830A7}"/>
              </a:ext>
            </a:extLst>
          </p:cNvPr>
          <p:cNvCxnSpPr>
            <a:cxnSpLocks/>
          </p:cNvCxnSpPr>
          <p:nvPr/>
        </p:nvCxnSpPr>
        <p:spPr>
          <a:xfrm>
            <a:off x="3487867" y="3158568"/>
            <a:ext cx="36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 descr=" 55">
            <a:extLst>
              <a:ext uri="{FF2B5EF4-FFF2-40B4-BE49-F238E27FC236}">
                <a16:creationId xmlns:a16="http://schemas.microsoft.com/office/drawing/2014/main" id="{EBD436CD-5640-5742-8953-FF396D7B5E9F}"/>
              </a:ext>
            </a:extLst>
          </p:cNvPr>
          <p:cNvCxnSpPr>
            <a:cxnSpLocks/>
          </p:cNvCxnSpPr>
          <p:nvPr/>
        </p:nvCxnSpPr>
        <p:spPr>
          <a:xfrm>
            <a:off x="3466467" y="4260277"/>
            <a:ext cx="38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 12">
            <a:extLst>
              <a:ext uri="{FF2B5EF4-FFF2-40B4-BE49-F238E27FC236}">
                <a16:creationId xmlns:a16="http://schemas.microsoft.com/office/drawing/2014/main" id="{B50DA94C-042D-6A48-84E8-F69E82F2EB12}"/>
              </a:ext>
            </a:extLst>
          </p:cNvPr>
          <p:cNvSpPr txBox="1"/>
          <p:nvPr/>
        </p:nvSpPr>
        <p:spPr>
          <a:xfrm>
            <a:off x="3855627" y="773772"/>
            <a:ext cx="4258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Numeric values </a:t>
            </a:r>
            <a:r>
              <a:rPr lang="en-US" sz="1400" dirty="0"/>
              <a:t>(e.g., Integers, real numbers, complex)</a:t>
            </a:r>
          </a:p>
        </p:txBody>
      </p:sp>
      <p:sp>
        <p:nvSpPr>
          <p:cNvPr id="9" name="TextBox 8" descr=" 15">
            <a:extLst>
              <a:ext uri="{FF2B5EF4-FFF2-40B4-BE49-F238E27FC236}">
                <a16:creationId xmlns:a16="http://schemas.microsoft.com/office/drawing/2014/main" id="{993757F2-A146-7A48-81F6-786804B6E286}"/>
              </a:ext>
            </a:extLst>
          </p:cNvPr>
          <p:cNvSpPr txBox="1"/>
          <p:nvPr/>
        </p:nvSpPr>
        <p:spPr>
          <a:xfrm>
            <a:off x="3799988" y="1278043"/>
            <a:ext cx="43780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Contiguous set </a:t>
            </a:r>
            <a:r>
              <a:rPr lang="en-US" sz="1400" dirty="0"/>
              <a:t>of </a:t>
            </a:r>
            <a:r>
              <a:rPr lang="en-US" sz="1400" i="1" dirty="0">
                <a:solidFill>
                  <a:srgbClr val="FF0000"/>
                </a:solidFill>
              </a:rPr>
              <a:t>characters</a:t>
            </a:r>
            <a:r>
              <a:rPr lang="en-US" sz="1400" dirty="0"/>
              <a:t> in </a:t>
            </a:r>
            <a:r>
              <a:rPr lang="en-US" sz="1400" u="sng" dirty="0"/>
              <a:t>quotation marks</a:t>
            </a:r>
            <a:r>
              <a:rPr lang="en-US" sz="1400" dirty="0"/>
              <a:t> (‘Hello’)</a:t>
            </a:r>
          </a:p>
        </p:txBody>
      </p:sp>
      <p:sp>
        <p:nvSpPr>
          <p:cNvPr id="10" name="TextBox 9" descr=" 17">
            <a:extLst>
              <a:ext uri="{FF2B5EF4-FFF2-40B4-BE49-F238E27FC236}">
                <a16:creationId xmlns:a16="http://schemas.microsoft.com/office/drawing/2014/main" id="{2A7A93AB-E0BF-9B42-9EBC-BB76064B8F82}"/>
              </a:ext>
            </a:extLst>
          </p:cNvPr>
          <p:cNvSpPr txBox="1"/>
          <p:nvPr/>
        </p:nvSpPr>
        <p:spPr>
          <a:xfrm>
            <a:off x="3534104" y="1701130"/>
            <a:ext cx="46715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Compound data type </a:t>
            </a:r>
            <a:r>
              <a:rPr lang="en-US" sz="1400" dirty="0"/>
              <a:t>: composed of </a:t>
            </a:r>
            <a:r>
              <a:rPr lang="en-US" sz="1400" i="1" u="sng" dirty="0"/>
              <a:t>items</a:t>
            </a:r>
            <a:r>
              <a:rPr lang="en-US" sz="1400" dirty="0"/>
              <a:t> in square bracket[], separated by commas [‘</a:t>
            </a:r>
            <a:r>
              <a:rPr lang="en-US" sz="1400" dirty="0" err="1"/>
              <a:t>abc</a:t>
            </a:r>
            <a:r>
              <a:rPr lang="en-US" sz="1400" dirty="0"/>
              <a:t>’,  5,  10.5,  ‘</a:t>
            </a:r>
            <a:r>
              <a:rPr lang="en-US" sz="1400" dirty="0" err="1"/>
              <a:t>xyz</a:t>
            </a:r>
            <a:r>
              <a:rPr lang="en-US" sz="1400" dirty="0"/>
              <a:t>’]</a:t>
            </a:r>
          </a:p>
        </p:txBody>
      </p:sp>
      <p:sp>
        <p:nvSpPr>
          <p:cNvPr id="21" name="TextBox 20" descr=" 18">
            <a:extLst>
              <a:ext uri="{FF2B5EF4-FFF2-40B4-BE49-F238E27FC236}">
                <a16:creationId xmlns:a16="http://schemas.microsoft.com/office/drawing/2014/main" id="{B26304B7-C7A8-AC48-BFE9-7347102C4CD0}"/>
              </a:ext>
            </a:extLst>
          </p:cNvPr>
          <p:cNvSpPr txBox="1"/>
          <p:nvPr/>
        </p:nvSpPr>
        <p:spPr>
          <a:xfrm>
            <a:off x="3855896" y="2985468"/>
            <a:ext cx="417021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Dictionaries</a:t>
            </a:r>
            <a:r>
              <a:rPr lang="en-US" sz="1400" dirty="0"/>
              <a:t> consist of key-value pairs {1001: "John", 1002: "Jane”}</a:t>
            </a:r>
          </a:p>
        </p:txBody>
      </p:sp>
      <p:sp>
        <p:nvSpPr>
          <p:cNvPr id="15" name="TextBox 14" descr=" 20">
            <a:extLst>
              <a:ext uri="{FF2B5EF4-FFF2-40B4-BE49-F238E27FC236}">
                <a16:creationId xmlns:a16="http://schemas.microsoft.com/office/drawing/2014/main" id="{51FDEA4D-40AE-814B-8B2F-800C8CBB39A3}"/>
              </a:ext>
            </a:extLst>
          </p:cNvPr>
          <p:cNvSpPr txBox="1"/>
          <p:nvPr/>
        </p:nvSpPr>
        <p:spPr>
          <a:xfrm>
            <a:off x="3855896" y="2346104"/>
            <a:ext cx="4378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Similar to the list</a:t>
            </a:r>
            <a:r>
              <a:rPr lang="en-US" sz="1400" dirty="0"/>
              <a:t>, however, tuples are </a:t>
            </a:r>
            <a:r>
              <a:rPr lang="en-US" sz="1500" b="1" dirty="0"/>
              <a:t>enclosed within parenthesis </a:t>
            </a:r>
            <a:r>
              <a:rPr lang="en-US" sz="1400" dirty="0">
                <a:solidFill>
                  <a:srgbClr val="FF0000"/>
                </a:solidFill>
              </a:rPr>
              <a:t>(</a:t>
            </a:r>
            <a:r>
              <a:rPr lang="en-US" sz="1400" dirty="0"/>
              <a:t> ‘</a:t>
            </a:r>
            <a:r>
              <a:rPr lang="en-US" sz="1400" dirty="0" err="1"/>
              <a:t>abc</a:t>
            </a:r>
            <a:r>
              <a:rPr lang="en-US" sz="1400" dirty="0"/>
              <a:t>’, 786, 2.23, ‘john’ 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6" name="Left Brace 15" descr=" 25">
            <a:extLst>
              <a:ext uri="{FF2B5EF4-FFF2-40B4-BE49-F238E27FC236}">
                <a16:creationId xmlns:a16="http://schemas.microsoft.com/office/drawing/2014/main" id="{A381945A-9B5E-8C43-8D7E-1C66507A30E6}"/>
              </a:ext>
            </a:extLst>
          </p:cNvPr>
          <p:cNvSpPr/>
          <p:nvPr/>
        </p:nvSpPr>
        <p:spPr>
          <a:xfrm>
            <a:off x="1303258" y="1181799"/>
            <a:ext cx="269869" cy="16359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 descr=" 56">
            <a:extLst>
              <a:ext uri="{FF2B5EF4-FFF2-40B4-BE49-F238E27FC236}">
                <a16:creationId xmlns:a16="http://schemas.microsoft.com/office/drawing/2014/main" id="{DA7CA02B-4E99-9A4A-8AD8-621EDB830035}"/>
              </a:ext>
            </a:extLst>
          </p:cNvPr>
          <p:cNvSpPr/>
          <p:nvPr/>
        </p:nvSpPr>
        <p:spPr>
          <a:xfrm>
            <a:off x="1564601" y="4123355"/>
            <a:ext cx="1886910" cy="273845"/>
          </a:xfrm>
          <a:custGeom>
            <a:avLst/>
            <a:gdLst>
              <a:gd name="connsiteX0" fmla="*/ 0 w 1880709"/>
              <a:gd name="connsiteY0" fmla="*/ 0 h 463740"/>
              <a:gd name="connsiteX1" fmla="*/ 1880709 w 1880709"/>
              <a:gd name="connsiteY1" fmla="*/ 0 h 463740"/>
              <a:gd name="connsiteX2" fmla="*/ 1880709 w 1880709"/>
              <a:gd name="connsiteY2" fmla="*/ 463740 h 463740"/>
              <a:gd name="connsiteX3" fmla="*/ 0 w 1880709"/>
              <a:gd name="connsiteY3" fmla="*/ 463740 h 463740"/>
              <a:gd name="connsiteX4" fmla="*/ 0 w 1880709"/>
              <a:gd name="connsiteY4" fmla="*/ 0 h 4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709" h="463740">
                <a:moveTo>
                  <a:pt x="0" y="0"/>
                </a:moveTo>
                <a:lnTo>
                  <a:pt x="1880709" y="0"/>
                </a:lnTo>
                <a:lnTo>
                  <a:pt x="1880709" y="463740"/>
                </a:lnTo>
                <a:lnTo>
                  <a:pt x="0" y="4637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81" tIns="50800" rIns="50800" bIns="508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Boolean</a:t>
            </a:r>
          </a:p>
        </p:txBody>
      </p:sp>
      <p:sp>
        <p:nvSpPr>
          <p:cNvPr id="18" name="TextBox 17" descr=" 27">
            <a:extLst>
              <a:ext uri="{FF2B5EF4-FFF2-40B4-BE49-F238E27FC236}">
                <a16:creationId xmlns:a16="http://schemas.microsoft.com/office/drawing/2014/main" id="{53E81994-0B99-7E47-AD63-5FCC96D9007C}"/>
              </a:ext>
            </a:extLst>
          </p:cNvPr>
          <p:cNvSpPr txBox="1"/>
          <p:nvPr/>
        </p:nvSpPr>
        <p:spPr>
          <a:xfrm>
            <a:off x="965973" y="1270663"/>
            <a:ext cx="150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Q</a:t>
            </a:r>
          </a:p>
          <a:p>
            <a:r>
              <a:rPr lang="en-US" sz="1200" dirty="0"/>
              <a:t>U</a:t>
            </a:r>
          </a:p>
          <a:p>
            <a:r>
              <a:rPr lang="en-US" sz="1200" dirty="0"/>
              <a:t>E</a:t>
            </a:r>
          </a:p>
          <a:p>
            <a:r>
              <a:rPr lang="en-US" sz="1200" dirty="0"/>
              <a:t>N</a:t>
            </a:r>
          </a:p>
          <a:p>
            <a:r>
              <a:rPr lang="en-US" sz="1200" dirty="0"/>
              <a:t>C</a:t>
            </a:r>
          </a:p>
          <a:p>
            <a:r>
              <a:rPr lang="en-US" sz="1200" dirty="0"/>
              <a:t>E</a:t>
            </a:r>
          </a:p>
        </p:txBody>
      </p:sp>
      <p:sp>
        <p:nvSpPr>
          <p:cNvPr id="17" name="TextBox 16" descr=" 57">
            <a:extLst>
              <a:ext uri="{FF2B5EF4-FFF2-40B4-BE49-F238E27FC236}">
                <a16:creationId xmlns:a16="http://schemas.microsoft.com/office/drawing/2014/main" id="{F24B79F9-EA7F-BF46-A67A-5DFB4D770647}"/>
              </a:ext>
            </a:extLst>
          </p:cNvPr>
          <p:cNvSpPr txBox="1"/>
          <p:nvPr/>
        </p:nvSpPr>
        <p:spPr>
          <a:xfrm>
            <a:off x="1107558" y="1634545"/>
            <a:ext cx="15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type</a:t>
            </a:r>
          </a:p>
        </p:txBody>
      </p:sp>
      <p:sp>
        <p:nvSpPr>
          <p:cNvPr id="24" name="TextBox 23" descr=" 24">
            <a:extLst>
              <a:ext uri="{FF2B5EF4-FFF2-40B4-BE49-F238E27FC236}">
                <a16:creationId xmlns:a16="http://schemas.microsoft.com/office/drawing/2014/main" id="{53BBC269-808B-DE43-8712-2EE0D963449E}"/>
              </a:ext>
            </a:extLst>
          </p:cNvPr>
          <p:cNvSpPr txBox="1"/>
          <p:nvPr/>
        </p:nvSpPr>
        <p:spPr>
          <a:xfrm>
            <a:off x="3841369" y="3478590"/>
            <a:ext cx="4671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Collection of unordered data type : </a:t>
            </a:r>
            <a:r>
              <a:rPr lang="en-US" sz="1400" dirty="0" err="1"/>
              <a:t>iterable</a:t>
            </a:r>
            <a:r>
              <a:rPr lang="en-US" sz="1400" dirty="0"/>
              <a:t>, mutable/changeable, without </a:t>
            </a:r>
            <a:r>
              <a:rPr lang="en-US" sz="1400" dirty="0" err="1"/>
              <a:t>duplicacy</a:t>
            </a:r>
            <a:endParaRPr lang="en-US" sz="1400" dirty="0"/>
          </a:p>
        </p:txBody>
      </p:sp>
      <p:cxnSp>
        <p:nvCxnSpPr>
          <p:cNvPr id="23" name="Straight Arrow Connector 22" descr=" 26">
            <a:extLst>
              <a:ext uri="{FF2B5EF4-FFF2-40B4-BE49-F238E27FC236}">
                <a16:creationId xmlns:a16="http://schemas.microsoft.com/office/drawing/2014/main" id="{66631309-DD64-B74F-84F2-F2446A375DC0}"/>
              </a:ext>
            </a:extLst>
          </p:cNvPr>
          <p:cNvCxnSpPr>
            <a:cxnSpLocks/>
          </p:cNvCxnSpPr>
          <p:nvPr/>
        </p:nvCxnSpPr>
        <p:spPr>
          <a:xfrm>
            <a:off x="3473340" y="3709422"/>
            <a:ext cx="36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 descr=" 28">
            <a:extLst>
              <a:ext uri="{FF2B5EF4-FFF2-40B4-BE49-F238E27FC236}">
                <a16:creationId xmlns:a16="http://schemas.microsoft.com/office/drawing/2014/main" id="{C421667F-8E13-9945-B9D9-D81356E638AC}"/>
              </a:ext>
            </a:extLst>
          </p:cNvPr>
          <p:cNvSpPr txBox="1"/>
          <p:nvPr/>
        </p:nvSpPr>
        <p:spPr>
          <a:xfrm>
            <a:off x="3870852" y="4106388"/>
            <a:ext cx="417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(T) or False (F)</a:t>
            </a:r>
          </a:p>
        </p:txBody>
      </p:sp>
    </p:spTree>
    <p:extLst>
      <p:ext uri="{BB962C8B-B14F-4D97-AF65-F5344CB8AC3E}">
        <p14:creationId xmlns:p14="http://schemas.microsoft.com/office/powerpoint/2010/main" val="39814396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pic>
        <p:nvPicPr>
          <p:cNvPr id="10" name="Picture 9" descr=" 10">
            <a:extLst>
              <a:ext uri="{FF2B5EF4-FFF2-40B4-BE49-F238E27FC236}">
                <a16:creationId xmlns:a16="http://schemas.microsoft.com/office/drawing/2014/main" id="{BC0B196E-1EBA-CF4A-8730-05160B07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Rectangle 10" descr=" 11">
            <a:extLst>
              <a:ext uri="{FF2B5EF4-FFF2-40B4-BE49-F238E27FC236}">
                <a16:creationId xmlns:a16="http://schemas.microsoft.com/office/drawing/2014/main" id="{EDAACFD1-3A6A-354B-BFE3-052A2BFA51D5}"/>
              </a:ext>
            </a:extLst>
          </p:cNvPr>
          <p:cNvSpPr/>
          <p:nvPr/>
        </p:nvSpPr>
        <p:spPr>
          <a:xfrm>
            <a:off x="1111640" y="3369413"/>
            <a:ext cx="1835028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 descr=" 43">
            <a:extLst>
              <a:ext uri="{FF2B5EF4-FFF2-40B4-BE49-F238E27FC236}">
                <a16:creationId xmlns:a16="http://schemas.microsoft.com/office/drawing/2014/main" id="{78FED903-18B3-CF4F-AE83-251D05F067FE}"/>
              </a:ext>
            </a:extLst>
          </p:cNvPr>
          <p:cNvSpPr txBox="1"/>
          <p:nvPr/>
        </p:nvSpPr>
        <p:spPr>
          <a:xfrm>
            <a:off x="3132480" y="423526"/>
            <a:ext cx="5643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effectLst/>
                <a:latin typeface="+mj-lt"/>
              </a:rPr>
              <a:t>Program Flow Control in Python</a:t>
            </a:r>
            <a:endParaRPr lang="en-US" sz="3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70908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9198F0DE-7C1C-C345-9FB0-458088F93C9A}"/>
              </a:ext>
            </a:extLst>
          </p:cNvPr>
          <p:cNvSpPr txBox="1"/>
          <p:nvPr/>
        </p:nvSpPr>
        <p:spPr>
          <a:xfrm>
            <a:off x="3478746" y="919772"/>
            <a:ext cx="119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</a:t>
            </a:r>
          </a:p>
          <a:p>
            <a:pPr algn="ctr"/>
            <a:r>
              <a:rPr lang="en-US" dirty="0"/>
              <a:t>making</a:t>
            </a:r>
          </a:p>
        </p:txBody>
      </p:sp>
      <p:pic>
        <p:nvPicPr>
          <p:cNvPr id="10" name="Picture 9" descr=" 10">
            <a:extLst>
              <a:ext uri="{FF2B5EF4-FFF2-40B4-BE49-F238E27FC236}">
                <a16:creationId xmlns:a16="http://schemas.microsoft.com/office/drawing/2014/main" id="{BC0B196E-1EBA-CF4A-8730-05160B07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Rectangle 10" descr=" 11">
            <a:extLst>
              <a:ext uri="{FF2B5EF4-FFF2-40B4-BE49-F238E27FC236}">
                <a16:creationId xmlns:a16="http://schemas.microsoft.com/office/drawing/2014/main" id="{EDAACFD1-3A6A-354B-BFE3-052A2BFA51D5}"/>
              </a:ext>
            </a:extLst>
          </p:cNvPr>
          <p:cNvSpPr/>
          <p:nvPr/>
        </p:nvSpPr>
        <p:spPr>
          <a:xfrm>
            <a:off x="1111640" y="3369413"/>
            <a:ext cx="1835028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descr=" 9">
            <a:extLst>
              <a:ext uri="{FF2B5EF4-FFF2-40B4-BE49-F238E27FC236}">
                <a16:creationId xmlns:a16="http://schemas.microsoft.com/office/drawing/2014/main" id="{9F9444F7-701A-B54F-9894-C1C6DC8E8706}"/>
              </a:ext>
            </a:extLst>
          </p:cNvPr>
          <p:cNvSpPr/>
          <p:nvPr/>
        </p:nvSpPr>
        <p:spPr>
          <a:xfrm rot="18897243">
            <a:off x="4011929" y="1760740"/>
            <a:ext cx="189914" cy="18991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12">
            <a:extLst>
              <a:ext uri="{FF2B5EF4-FFF2-40B4-BE49-F238E27FC236}">
                <a16:creationId xmlns:a16="http://schemas.microsoft.com/office/drawing/2014/main" id="{3B2F3561-9CA7-B14F-A153-4367A98BCBDB}"/>
              </a:ext>
            </a:extLst>
          </p:cNvPr>
          <p:cNvSpPr txBox="1"/>
          <p:nvPr/>
        </p:nvSpPr>
        <p:spPr>
          <a:xfrm>
            <a:off x="3961800" y="1700765"/>
            <a:ext cx="378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</a:t>
            </a:r>
          </a:p>
        </p:txBody>
      </p:sp>
      <p:sp>
        <p:nvSpPr>
          <p:cNvPr id="9" name="TextBox 8" descr=" 14">
            <a:extLst>
              <a:ext uri="{FF2B5EF4-FFF2-40B4-BE49-F238E27FC236}">
                <a16:creationId xmlns:a16="http://schemas.microsoft.com/office/drawing/2014/main" id="{C59D6A1C-719C-9D4C-B97F-4AB60C369147}"/>
              </a:ext>
            </a:extLst>
          </p:cNvPr>
          <p:cNvSpPr txBox="1"/>
          <p:nvPr/>
        </p:nvSpPr>
        <p:spPr>
          <a:xfrm>
            <a:off x="3622729" y="2140911"/>
            <a:ext cx="994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Evaluate</a:t>
            </a:r>
          </a:p>
          <a:p>
            <a:pPr algn="ctr"/>
            <a:r>
              <a:rPr lang="en-US" sz="1000" dirty="0"/>
              <a:t>expressions</a:t>
            </a:r>
          </a:p>
        </p:txBody>
      </p:sp>
      <p:sp>
        <p:nvSpPr>
          <p:cNvPr id="12" name="Rectangle 11" descr=" 15">
            <a:extLst>
              <a:ext uri="{FF2B5EF4-FFF2-40B4-BE49-F238E27FC236}">
                <a16:creationId xmlns:a16="http://schemas.microsoft.com/office/drawing/2014/main" id="{B2D64705-0F3C-EC44-B5F1-2273C22A1677}"/>
              </a:ext>
            </a:extLst>
          </p:cNvPr>
          <p:cNvSpPr/>
          <p:nvPr/>
        </p:nvSpPr>
        <p:spPr>
          <a:xfrm>
            <a:off x="3782387" y="2156758"/>
            <a:ext cx="674914" cy="35387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 descr=" 17">
            <a:extLst>
              <a:ext uri="{FF2B5EF4-FFF2-40B4-BE49-F238E27FC236}">
                <a16:creationId xmlns:a16="http://schemas.microsoft.com/office/drawing/2014/main" id="{5393E810-B6BF-E142-9339-DD008EAC5A9D}"/>
              </a:ext>
            </a:extLst>
          </p:cNvPr>
          <p:cNvCxnSpPr>
            <a:cxnSpLocks/>
          </p:cNvCxnSpPr>
          <p:nvPr/>
        </p:nvCxnSpPr>
        <p:spPr>
          <a:xfrm flipH="1">
            <a:off x="4106886" y="1986876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 descr=" 24">
            <a:extLst>
              <a:ext uri="{FF2B5EF4-FFF2-40B4-BE49-F238E27FC236}">
                <a16:creationId xmlns:a16="http://schemas.microsoft.com/office/drawing/2014/main" id="{0DD14C2B-EC05-2B41-94B8-C04AE05B3B5A}"/>
              </a:ext>
            </a:extLst>
          </p:cNvPr>
          <p:cNvCxnSpPr>
            <a:cxnSpLocks/>
          </p:cNvCxnSpPr>
          <p:nvPr/>
        </p:nvCxnSpPr>
        <p:spPr>
          <a:xfrm flipH="1">
            <a:off x="4106885" y="1542693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25">
            <a:extLst>
              <a:ext uri="{FF2B5EF4-FFF2-40B4-BE49-F238E27FC236}">
                <a16:creationId xmlns:a16="http://schemas.microsoft.com/office/drawing/2014/main" id="{16F20B98-6127-774F-9961-A1574DC7DA76}"/>
              </a:ext>
            </a:extLst>
          </p:cNvPr>
          <p:cNvCxnSpPr>
            <a:cxnSpLocks/>
          </p:cNvCxnSpPr>
          <p:nvPr/>
        </p:nvCxnSpPr>
        <p:spPr>
          <a:xfrm flipH="1">
            <a:off x="4087189" y="2503932"/>
            <a:ext cx="1" cy="484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 26">
            <a:extLst>
              <a:ext uri="{FF2B5EF4-FFF2-40B4-BE49-F238E27FC236}">
                <a16:creationId xmlns:a16="http://schemas.microsoft.com/office/drawing/2014/main" id="{19B10267-1F1E-6A4A-B58E-488683DBF39F}"/>
              </a:ext>
            </a:extLst>
          </p:cNvPr>
          <p:cNvCxnSpPr>
            <a:cxnSpLocks/>
          </p:cNvCxnSpPr>
          <p:nvPr/>
        </p:nvCxnSpPr>
        <p:spPr>
          <a:xfrm>
            <a:off x="3717673" y="1854653"/>
            <a:ext cx="0" cy="788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 28">
            <a:extLst>
              <a:ext uri="{FF2B5EF4-FFF2-40B4-BE49-F238E27FC236}">
                <a16:creationId xmlns:a16="http://schemas.microsoft.com/office/drawing/2014/main" id="{28BFEC48-06D6-E648-A6DE-251054279F51}"/>
              </a:ext>
            </a:extLst>
          </p:cNvPr>
          <p:cNvCxnSpPr>
            <a:cxnSpLocks/>
          </p:cNvCxnSpPr>
          <p:nvPr/>
        </p:nvCxnSpPr>
        <p:spPr>
          <a:xfrm>
            <a:off x="3709819" y="2632401"/>
            <a:ext cx="370308" cy="10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32">
            <a:extLst>
              <a:ext uri="{FF2B5EF4-FFF2-40B4-BE49-F238E27FC236}">
                <a16:creationId xmlns:a16="http://schemas.microsoft.com/office/drawing/2014/main" id="{C7AEB906-7530-7648-AD10-34346239A5CE}"/>
              </a:ext>
            </a:extLst>
          </p:cNvPr>
          <p:cNvCxnSpPr>
            <a:cxnSpLocks/>
          </p:cNvCxnSpPr>
          <p:nvPr/>
        </p:nvCxnSpPr>
        <p:spPr>
          <a:xfrm>
            <a:off x="3709819" y="1854653"/>
            <a:ext cx="275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 descr=" 31">
            <a:extLst>
              <a:ext uri="{FF2B5EF4-FFF2-40B4-BE49-F238E27FC236}">
                <a16:creationId xmlns:a16="http://schemas.microsoft.com/office/drawing/2014/main" id="{F34F0224-016C-1146-BC93-355FEFFC4912}"/>
              </a:ext>
            </a:extLst>
          </p:cNvPr>
          <p:cNvSpPr txBox="1"/>
          <p:nvPr/>
        </p:nvSpPr>
        <p:spPr>
          <a:xfrm>
            <a:off x="4054759" y="1886942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</a:t>
            </a:r>
          </a:p>
        </p:txBody>
      </p:sp>
      <p:sp>
        <p:nvSpPr>
          <p:cNvPr id="20" name="TextBox 19" descr=" 39">
            <a:extLst>
              <a:ext uri="{FF2B5EF4-FFF2-40B4-BE49-F238E27FC236}">
                <a16:creationId xmlns:a16="http://schemas.microsoft.com/office/drawing/2014/main" id="{CEDFEA15-68E8-AC4D-89C0-6A81B4AD989F}"/>
              </a:ext>
            </a:extLst>
          </p:cNvPr>
          <p:cNvSpPr txBox="1"/>
          <p:nvPr/>
        </p:nvSpPr>
        <p:spPr>
          <a:xfrm>
            <a:off x="3589647" y="1597196"/>
            <a:ext cx="572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</a:t>
            </a:r>
          </a:p>
        </p:txBody>
      </p:sp>
      <p:sp>
        <p:nvSpPr>
          <p:cNvPr id="43" name="TextBox 42" descr=" 43">
            <a:extLst>
              <a:ext uri="{FF2B5EF4-FFF2-40B4-BE49-F238E27FC236}">
                <a16:creationId xmlns:a16="http://schemas.microsoft.com/office/drawing/2014/main" id="{78FED903-18B3-CF4F-AE83-251D05F067FE}"/>
              </a:ext>
            </a:extLst>
          </p:cNvPr>
          <p:cNvSpPr txBox="1"/>
          <p:nvPr/>
        </p:nvSpPr>
        <p:spPr>
          <a:xfrm>
            <a:off x="3132480" y="423526"/>
            <a:ext cx="5643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effectLst/>
                <a:latin typeface="+mj-lt"/>
              </a:rPr>
              <a:t>Program Flow Control in Python</a:t>
            </a:r>
            <a:endParaRPr lang="en-US" sz="3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9419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9198F0DE-7C1C-C345-9FB0-458088F93C9A}"/>
              </a:ext>
            </a:extLst>
          </p:cNvPr>
          <p:cNvSpPr txBox="1"/>
          <p:nvPr/>
        </p:nvSpPr>
        <p:spPr>
          <a:xfrm>
            <a:off x="3478746" y="919772"/>
            <a:ext cx="119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</a:t>
            </a:r>
          </a:p>
          <a:p>
            <a:pPr algn="ctr"/>
            <a:r>
              <a:rPr lang="en-US" dirty="0"/>
              <a:t>making</a:t>
            </a:r>
          </a:p>
        </p:txBody>
      </p:sp>
      <p:sp>
        <p:nvSpPr>
          <p:cNvPr id="35" name="TextBox 34" descr=" 38">
            <a:extLst>
              <a:ext uri="{FF2B5EF4-FFF2-40B4-BE49-F238E27FC236}">
                <a16:creationId xmlns:a16="http://schemas.microsoft.com/office/drawing/2014/main" id="{C261FFD5-8D5B-7F4C-9E62-55D12E9DFC49}"/>
              </a:ext>
            </a:extLst>
          </p:cNvPr>
          <p:cNvSpPr txBox="1"/>
          <p:nvPr/>
        </p:nvSpPr>
        <p:spPr>
          <a:xfrm>
            <a:off x="5065783" y="909437"/>
            <a:ext cx="3136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Loops: </a:t>
            </a:r>
            <a:r>
              <a:rPr lang="en-US" sz="1400" dirty="0"/>
              <a:t>sequentially evaluation of </a:t>
            </a:r>
          </a:p>
          <a:p>
            <a:r>
              <a:rPr lang="en-US" sz="1400" dirty="0"/>
              <a:t>                 </a:t>
            </a:r>
            <a:r>
              <a:rPr lang="en-US" sz="1400" b="1" dirty="0"/>
              <a:t>block of code </a:t>
            </a:r>
            <a:r>
              <a:rPr lang="en-US" sz="1400" i="1" dirty="0"/>
              <a:t>multiple times</a:t>
            </a:r>
            <a:r>
              <a:rPr lang="en-US" sz="1400" dirty="0"/>
              <a:t>   </a:t>
            </a:r>
          </a:p>
        </p:txBody>
      </p:sp>
      <p:pic>
        <p:nvPicPr>
          <p:cNvPr id="10" name="Picture 9" descr=" 10">
            <a:extLst>
              <a:ext uri="{FF2B5EF4-FFF2-40B4-BE49-F238E27FC236}">
                <a16:creationId xmlns:a16="http://schemas.microsoft.com/office/drawing/2014/main" id="{BC0B196E-1EBA-CF4A-8730-05160B07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Rectangle 10" descr=" 11">
            <a:extLst>
              <a:ext uri="{FF2B5EF4-FFF2-40B4-BE49-F238E27FC236}">
                <a16:creationId xmlns:a16="http://schemas.microsoft.com/office/drawing/2014/main" id="{EDAACFD1-3A6A-354B-BFE3-052A2BFA51D5}"/>
              </a:ext>
            </a:extLst>
          </p:cNvPr>
          <p:cNvSpPr/>
          <p:nvPr/>
        </p:nvSpPr>
        <p:spPr>
          <a:xfrm>
            <a:off x="1111640" y="3369413"/>
            <a:ext cx="1835028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descr=" 9">
            <a:extLst>
              <a:ext uri="{FF2B5EF4-FFF2-40B4-BE49-F238E27FC236}">
                <a16:creationId xmlns:a16="http://schemas.microsoft.com/office/drawing/2014/main" id="{9F9444F7-701A-B54F-9894-C1C6DC8E8706}"/>
              </a:ext>
            </a:extLst>
          </p:cNvPr>
          <p:cNvSpPr/>
          <p:nvPr/>
        </p:nvSpPr>
        <p:spPr>
          <a:xfrm rot="18897243">
            <a:off x="4011929" y="1760740"/>
            <a:ext cx="189914" cy="18991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12">
            <a:extLst>
              <a:ext uri="{FF2B5EF4-FFF2-40B4-BE49-F238E27FC236}">
                <a16:creationId xmlns:a16="http://schemas.microsoft.com/office/drawing/2014/main" id="{3B2F3561-9CA7-B14F-A153-4367A98BCBDB}"/>
              </a:ext>
            </a:extLst>
          </p:cNvPr>
          <p:cNvSpPr txBox="1"/>
          <p:nvPr/>
        </p:nvSpPr>
        <p:spPr>
          <a:xfrm>
            <a:off x="3961800" y="1700765"/>
            <a:ext cx="378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</a:t>
            </a:r>
          </a:p>
        </p:txBody>
      </p:sp>
      <p:sp>
        <p:nvSpPr>
          <p:cNvPr id="9" name="TextBox 8" descr=" 14">
            <a:extLst>
              <a:ext uri="{FF2B5EF4-FFF2-40B4-BE49-F238E27FC236}">
                <a16:creationId xmlns:a16="http://schemas.microsoft.com/office/drawing/2014/main" id="{C59D6A1C-719C-9D4C-B97F-4AB60C369147}"/>
              </a:ext>
            </a:extLst>
          </p:cNvPr>
          <p:cNvSpPr txBox="1"/>
          <p:nvPr/>
        </p:nvSpPr>
        <p:spPr>
          <a:xfrm>
            <a:off x="3622729" y="2140911"/>
            <a:ext cx="994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Evaluate</a:t>
            </a:r>
          </a:p>
          <a:p>
            <a:pPr algn="ctr"/>
            <a:r>
              <a:rPr lang="en-US" sz="1000" dirty="0"/>
              <a:t>expressions</a:t>
            </a:r>
          </a:p>
        </p:txBody>
      </p:sp>
      <p:sp>
        <p:nvSpPr>
          <p:cNvPr id="12" name="Rectangle 11" descr=" 15">
            <a:extLst>
              <a:ext uri="{FF2B5EF4-FFF2-40B4-BE49-F238E27FC236}">
                <a16:creationId xmlns:a16="http://schemas.microsoft.com/office/drawing/2014/main" id="{B2D64705-0F3C-EC44-B5F1-2273C22A1677}"/>
              </a:ext>
            </a:extLst>
          </p:cNvPr>
          <p:cNvSpPr/>
          <p:nvPr/>
        </p:nvSpPr>
        <p:spPr>
          <a:xfrm>
            <a:off x="3782387" y="2156758"/>
            <a:ext cx="674914" cy="35387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 descr=" 17">
            <a:extLst>
              <a:ext uri="{FF2B5EF4-FFF2-40B4-BE49-F238E27FC236}">
                <a16:creationId xmlns:a16="http://schemas.microsoft.com/office/drawing/2014/main" id="{5393E810-B6BF-E142-9339-DD008EAC5A9D}"/>
              </a:ext>
            </a:extLst>
          </p:cNvPr>
          <p:cNvCxnSpPr>
            <a:cxnSpLocks/>
          </p:cNvCxnSpPr>
          <p:nvPr/>
        </p:nvCxnSpPr>
        <p:spPr>
          <a:xfrm flipH="1">
            <a:off x="4106886" y="1986876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 descr=" 24">
            <a:extLst>
              <a:ext uri="{FF2B5EF4-FFF2-40B4-BE49-F238E27FC236}">
                <a16:creationId xmlns:a16="http://schemas.microsoft.com/office/drawing/2014/main" id="{0DD14C2B-EC05-2B41-94B8-C04AE05B3B5A}"/>
              </a:ext>
            </a:extLst>
          </p:cNvPr>
          <p:cNvCxnSpPr>
            <a:cxnSpLocks/>
          </p:cNvCxnSpPr>
          <p:nvPr/>
        </p:nvCxnSpPr>
        <p:spPr>
          <a:xfrm flipH="1">
            <a:off x="4106885" y="1542693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25">
            <a:extLst>
              <a:ext uri="{FF2B5EF4-FFF2-40B4-BE49-F238E27FC236}">
                <a16:creationId xmlns:a16="http://schemas.microsoft.com/office/drawing/2014/main" id="{16F20B98-6127-774F-9961-A1574DC7DA76}"/>
              </a:ext>
            </a:extLst>
          </p:cNvPr>
          <p:cNvCxnSpPr>
            <a:cxnSpLocks/>
          </p:cNvCxnSpPr>
          <p:nvPr/>
        </p:nvCxnSpPr>
        <p:spPr>
          <a:xfrm flipH="1">
            <a:off x="4087189" y="2503932"/>
            <a:ext cx="1" cy="484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 26">
            <a:extLst>
              <a:ext uri="{FF2B5EF4-FFF2-40B4-BE49-F238E27FC236}">
                <a16:creationId xmlns:a16="http://schemas.microsoft.com/office/drawing/2014/main" id="{19B10267-1F1E-6A4A-B58E-488683DBF39F}"/>
              </a:ext>
            </a:extLst>
          </p:cNvPr>
          <p:cNvCxnSpPr>
            <a:cxnSpLocks/>
          </p:cNvCxnSpPr>
          <p:nvPr/>
        </p:nvCxnSpPr>
        <p:spPr>
          <a:xfrm>
            <a:off x="3717673" y="1854653"/>
            <a:ext cx="0" cy="788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 28">
            <a:extLst>
              <a:ext uri="{FF2B5EF4-FFF2-40B4-BE49-F238E27FC236}">
                <a16:creationId xmlns:a16="http://schemas.microsoft.com/office/drawing/2014/main" id="{28BFEC48-06D6-E648-A6DE-251054279F51}"/>
              </a:ext>
            </a:extLst>
          </p:cNvPr>
          <p:cNvCxnSpPr>
            <a:cxnSpLocks/>
          </p:cNvCxnSpPr>
          <p:nvPr/>
        </p:nvCxnSpPr>
        <p:spPr>
          <a:xfrm>
            <a:off x="3709819" y="2632401"/>
            <a:ext cx="370308" cy="10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32">
            <a:extLst>
              <a:ext uri="{FF2B5EF4-FFF2-40B4-BE49-F238E27FC236}">
                <a16:creationId xmlns:a16="http://schemas.microsoft.com/office/drawing/2014/main" id="{C7AEB906-7530-7648-AD10-34346239A5CE}"/>
              </a:ext>
            </a:extLst>
          </p:cNvPr>
          <p:cNvCxnSpPr>
            <a:cxnSpLocks/>
          </p:cNvCxnSpPr>
          <p:nvPr/>
        </p:nvCxnSpPr>
        <p:spPr>
          <a:xfrm>
            <a:off x="3709819" y="1854653"/>
            <a:ext cx="275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 descr=" 31">
            <a:extLst>
              <a:ext uri="{FF2B5EF4-FFF2-40B4-BE49-F238E27FC236}">
                <a16:creationId xmlns:a16="http://schemas.microsoft.com/office/drawing/2014/main" id="{F34F0224-016C-1146-BC93-355FEFFC4912}"/>
              </a:ext>
            </a:extLst>
          </p:cNvPr>
          <p:cNvSpPr txBox="1"/>
          <p:nvPr/>
        </p:nvSpPr>
        <p:spPr>
          <a:xfrm>
            <a:off x="4054759" y="1886942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</a:t>
            </a:r>
          </a:p>
        </p:txBody>
      </p:sp>
      <p:sp>
        <p:nvSpPr>
          <p:cNvPr id="20" name="TextBox 19" descr=" 39">
            <a:extLst>
              <a:ext uri="{FF2B5EF4-FFF2-40B4-BE49-F238E27FC236}">
                <a16:creationId xmlns:a16="http://schemas.microsoft.com/office/drawing/2014/main" id="{CEDFEA15-68E8-AC4D-89C0-6A81B4AD989F}"/>
              </a:ext>
            </a:extLst>
          </p:cNvPr>
          <p:cNvSpPr txBox="1"/>
          <p:nvPr/>
        </p:nvSpPr>
        <p:spPr>
          <a:xfrm>
            <a:off x="3589647" y="1597196"/>
            <a:ext cx="572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</a:t>
            </a:r>
          </a:p>
        </p:txBody>
      </p:sp>
      <p:cxnSp>
        <p:nvCxnSpPr>
          <p:cNvPr id="21" name="Straight Connector 20" descr=" 41">
            <a:extLst>
              <a:ext uri="{FF2B5EF4-FFF2-40B4-BE49-F238E27FC236}">
                <a16:creationId xmlns:a16="http://schemas.microsoft.com/office/drawing/2014/main" id="{C501979B-6CC9-8847-9223-29A5DE2194F0}"/>
              </a:ext>
            </a:extLst>
          </p:cNvPr>
          <p:cNvCxnSpPr>
            <a:cxnSpLocks/>
          </p:cNvCxnSpPr>
          <p:nvPr/>
        </p:nvCxnSpPr>
        <p:spPr>
          <a:xfrm>
            <a:off x="6311444" y="1469238"/>
            <a:ext cx="1" cy="121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 descr=" 47">
            <a:extLst>
              <a:ext uri="{FF2B5EF4-FFF2-40B4-BE49-F238E27FC236}">
                <a16:creationId xmlns:a16="http://schemas.microsoft.com/office/drawing/2014/main" id="{59986867-C20C-5145-BF1D-03FD8333FCA5}"/>
              </a:ext>
            </a:extLst>
          </p:cNvPr>
          <p:cNvSpPr/>
          <p:nvPr/>
        </p:nvSpPr>
        <p:spPr>
          <a:xfrm rot="18897243">
            <a:off x="6102076" y="1652661"/>
            <a:ext cx="418482" cy="4181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 descr=" 42">
            <a:extLst>
              <a:ext uri="{FF2B5EF4-FFF2-40B4-BE49-F238E27FC236}">
                <a16:creationId xmlns:a16="http://schemas.microsoft.com/office/drawing/2014/main" id="{FE534728-AE58-6147-A456-1EBD8884EF19}"/>
              </a:ext>
            </a:extLst>
          </p:cNvPr>
          <p:cNvSpPr txBox="1"/>
          <p:nvPr/>
        </p:nvSpPr>
        <p:spPr>
          <a:xfrm>
            <a:off x="5993777" y="1725151"/>
            <a:ext cx="1134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condition</a:t>
            </a:r>
          </a:p>
        </p:txBody>
      </p:sp>
      <p:cxnSp>
        <p:nvCxnSpPr>
          <p:cNvPr id="24" name="Straight Connector 23" descr=" 51">
            <a:extLst>
              <a:ext uri="{FF2B5EF4-FFF2-40B4-BE49-F238E27FC236}">
                <a16:creationId xmlns:a16="http://schemas.microsoft.com/office/drawing/2014/main" id="{9D8D4737-AF3C-C742-B385-D029B1682E1A}"/>
              </a:ext>
            </a:extLst>
          </p:cNvPr>
          <p:cNvCxnSpPr>
            <a:cxnSpLocks/>
          </p:cNvCxnSpPr>
          <p:nvPr/>
        </p:nvCxnSpPr>
        <p:spPr>
          <a:xfrm flipV="1">
            <a:off x="6603591" y="1854489"/>
            <a:ext cx="378441" cy="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 descr=" 52">
            <a:extLst>
              <a:ext uri="{FF2B5EF4-FFF2-40B4-BE49-F238E27FC236}">
                <a16:creationId xmlns:a16="http://schemas.microsoft.com/office/drawing/2014/main" id="{D7FF4848-275A-FB48-BBEE-2171D3A00D57}"/>
              </a:ext>
            </a:extLst>
          </p:cNvPr>
          <p:cNvCxnSpPr>
            <a:cxnSpLocks/>
          </p:cNvCxnSpPr>
          <p:nvPr/>
        </p:nvCxnSpPr>
        <p:spPr>
          <a:xfrm>
            <a:off x="6302616" y="2149102"/>
            <a:ext cx="0" cy="186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 descr=" 55">
            <a:extLst>
              <a:ext uri="{FF2B5EF4-FFF2-40B4-BE49-F238E27FC236}">
                <a16:creationId xmlns:a16="http://schemas.microsoft.com/office/drawing/2014/main" id="{85719E5E-E6F9-E844-B912-DC3CCB5C2E11}"/>
              </a:ext>
            </a:extLst>
          </p:cNvPr>
          <p:cNvSpPr txBox="1"/>
          <p:nvPr/>
        </p:nvSpPr>
        <p:spPr>
          <a:xfrm>
            <a:off x="5949713" y="2343992"/>
            <a:ext cx="695357" cy="4616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block of code</a:t>
            </a:r>
          </a:p>
        </p:txBody>
      </p:sp>
      <p:sp>
        <p:nvSpPr>
          <p:cNvPr id="27" name="TextBox 26" descr=" 56">
            <a:extLst>
              <a:ext uri="{FF2B5EF4-FFF2-40B4-BE49-F238E27FC236}">
                <a16:creationId xmlns:a16="http://schemas.microsoft.com/office/drawing/2014/main" id="{0054AD9D-C3C0-0A4F-8DE4-27B443A5CE3C}"/>
              </a:ext>
            </a:extLst>
          </p:cNvPr>
          <p:cNvSpPr txBox="1"/>
          <p:nvPr/>
        </p:nvSpPr>
        <p:spPr>
          <a:xfrm>
            <a:off x="5725136" y="2103741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satisfies</a:t>
            </a:r>
          </a:p>
        </p:txBody>
      </p:sp>
      <p:sp>
        <p:nvSpPr>
          <p:cNvPr id="28" name="TextBox 27" descr=" 57">
            <a:extLst>
              <a:ext uri="{FF2B5EF4-FFF2-40B4-BE49-F238E27FC236}">
                <a16:creationId xmlns:a16="http://schemas.microsoft.com/office/drawing/2014/main" id="{1D690239-9F8C-5845-A436-A70230974D06}"/>
              </a:ext>
            </a:extLst>
          </p:cNvPr>
          <p:cNvSpPr txBox="1"/>
          <p:nvPr/>
        </p:nvSpPr>
        <p:spPr>
          <a:xfrm>
            <a:off x="6514415" y="1590140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 satisfies</a:t>
            </a:r>
          </a:p>
        </p:txBody>
      </p:sp>
      <p:cxnSp>
        <p:nvCxnSpPr>
          <p:cNvPr id="29" name="Straight Connector 28" descr=" 59">
            <a:extLst>
              <a:ext uri="{FF2B5EF4-FFF2-40B4-BE49-F238E27FC236}">
                <a16:creationId xmlns:a16="http://schemas.microsoft.com/office/drawing/2014/main" id="{834A8E17-AD50-C441-8EA1-D32C6971BB1E}"/>
              </a:ext>
            </a:extLst>
          </p:cNvPr>
          <p:cNvCxnSpPr>
            <a:cxnSpLocks/>
          </p:cNvCxnSpPr>
          <p:nvPr/>
        </p:nvCxnSpPr>
        <p:spPr>
          <a:xfrm>
            <a:off x="6976046" y="1847233"/>
            <a:ext cx="3839" cy="1070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 descr=" 60">
            <a:extLst>
              <a:ext uri="{FF2B5EF4-FFF2-40B4-BE49-F238E27FC236}">
                <a16:creationId xmlns:a16="http://schemas.microsoft.com/office/drawing/2014/main" id="{CD9500D5-49EE-BC47-AEAC-E5611C583A5D}"/>
              </a:ext>
            </a:extLst>
          </p:cNvPr>
          <p:cNvCxnSpPr>
            <a:cxnSpLocks/>
          </p:cNvCxnSpPr>
          <p:nvPr/>
        </p:nvCxnSpPr>
        <p:spPr>
          <a:xfrm>
            <a:off x="6296933" y="2811806"/>
            <a:ext cx="0" cy="241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 descr=" 62">
            <a:extLst>
              <a:ext uri="{FF2B5EF4-FFF2-40B4-BE49-F238E27FC236}">
                <a16:creationId xmlns:a16="http://schemas.microsoft.com/office/drawing/2014/main" id="{E8ECD0E1-E453-0B40-AEC0-6AA179A95188}"/>
              </a:ext>
            </a:extLst>
          </p:cNvPr>
          <p:cNvCxnSpPr>
            <a:cxnSpLocks/>
          </p:cNvCxnSpPr>
          <p:nvPr/>
        </p:nvCxnSpPr>
        <p:spPr>
          <a:xfrm flipH="1">
            <a:off x="6311318" y="2917948"/>
            <a:ext cx="6843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 descr=" 67">
            <a:extLst>
              <a:ext uri="{FF2B5EF4-FFF2-40B4-BE49-F238E27FC236}">
                <a16:creationId xmlns:a16="http://schemas.microsoft.com/office/drawing/2014/main" id="{DC42E7CA-47EE-6342-AB16-378BD4E7135A}"/>
              </a:ext>
            </a:extLst>
          </p:cNvPr>
          <p:cNvCxnSpPr>
            <a:cxnSpLocks/>
          </p:cNvCxnSpPr>
          <p:nvPr/>
        </p:nvCxnSpPr>
        <p:spPr>
          <a:xfrm flipH="1">
            <a:off x="5549958" y="2574824"/>
            <a:ext cx="399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 descr=" 69">
            <a:extLst>
              <a:ext uri="{FF2B5EF4-FFF2-40B4-BE49-F238E27FC236}">
                <a16:creationId xmlns:a16="http://schemas.microsoft.com/office/drawing/2014/main" id="{8C7E692C-9EE0-DF48-9033-79257A6153CF}"/>
              </a:ext>
            </a:extLst>
          </p:cNvPr>
          <p:cNvCxnSpPr>
            <a:cxnSpLocks/>
          </p:cNvCxnSpPr>
          <p:nvPr/>
        </p:nvCxnSpPr>
        <p:spPr>
          <a:xfrm>
            <a:off x="5547811" y="1861747"/>
            <a:ext cx="9757" cy="714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 descr=" 71">
            <a:extLst>
              <a:ext uri="{FF2B5EF4-FFF2-40B4-BE49-F238E27FC236}">
                <a16:creationId xmlns:a16="http://schemas.microsoft.com/office/drawing/2014/main" id="{FFCCF743-0941-7348-B288-FE6E19E0A269}"/>
              </a:ext>
            </a:extLst>
          </p:cNvPr>
          <p:cNvCxnSpPr>
            <a:cxnSpLocks/>
          </p:cNvCxnSpPr>
          <p:nvPr/>
        </p:nvCxnSpPr>
        <p:spPr>
          <a:xfrm>
            <a:off x="5546540" y="1861747"/>
            <a:ext cx="461751" cy="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 descr=" 43">
            <a:extLst>
              <a:ext uri="{FF2B5EF4-FFF2-40B4-BE49-F238E27FC236}">
                <a16:creationId xmlns:a16="http://schemas.microsoft.com/office/drawing/2014/main" id="{78FED903-18B3-CF4F-AE83-251D05F067FE}"/>
              </a:ext>
            </a:extLst>
          </p:cNvPr>
          <p:cNvSpPr txBox="1"/>
          <p:nvPr/>
        </p:nvSpPr>
        <p:spPr>
          <a:xfrm>
            <a:off x="3132480" y="423526"/>
            <a:ext cx="5643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effectLst/>
                <a:latin typeface="+mj-lt"/>
              </a:rPr>
              <a:t>Program Flow Control in Python</a:t>
            </a:r>
            <a:endParaRPr lang="en-US" sz="3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9675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9198F0DE-7C1C-C345-9FB0-458088F93C9A}"/>
              </a:ext>
            </a:extLst>
          </p:cNvPr>
          <p:cNvSpPr txBox="1"/>
          <p:nvPr/>
        </p:nvSpPr>
        <p:spPr>
          <a:xfrm>
            <a:off x="3478746" y="919772"/>
            <a:ext cx="119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</a:t>
            </a:r>
          </a:p>
          <a:p>
            <a:pPr algn="ctr"/>
            <a:r>
              <a:rPr lang="en-US" dirty="0"/>
              <a:t>making</a:t>
            </a:r>
          </a:p>
        </p:txBody>
      </p:sp>
      <p:sp>
        <p:nvSpPr>
          <p:cNvPr id="35" name="TextBox 34" descr=" 38">
            <a:extLst>
              <a:ext uri="{FF2B5EF4-FFF2-40B4-BE49-F238E27FC236}">
                <a16:creationId xmlns:a16="http://schemas.microsoft.com/office/drawing/2014/main" id="{C261FFD5-8D5B-7F4C-9E62-55D12E9DFC49}"/>
              </a:ext>
            </a:extLst>
          </p:cNvPr>
          <p:cNvSpPr txBox="1"/>
          <p:nvPr/>
        </p:nvSpPr>
        <p:spPr>
          <a:xfrm>
            <a:off x="5065783" y="909437"/>
            <a:ext cx="3136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Loops: </a:t>
            </a:r>
            <a:r>
              <a:rPr lang="en-US" sz="1400" dirty="0"/>
              <a:t>sequentially evaluation of </a:t>
            </a:r>
          </a:p>
          <a:p>
            <a:r>
              <a:rPr lang="en-US" sz="1400" dirty="0"/>
              <a:t>                 </a:t>
            </a:r>
            <a:r>
              <a:rPr lang="en-US" sz="1400" b="1" dirty="0"/>
              <a:t>block of code </a:t>
            </a:r>
            <a:r>
              <a:rPr lang="en-US" sz="1400" i="1" dirty="0"/>
              <a:t>multiple times</a:t>
            </a:r>
            <a:r>
              <a:rPr lang="en-US" sz="1400" dirty="0"/>
              <a:t>   </a:t>
            </a:r>
          </a:p>
        </p:txBody>
      </p:sp>
      <p:pic>
        <p:nvPicPr>
          <p:cNvPr id="10" name="Picture 9" descr=" 10">
            <a:extLst>
              <a:ext uri="{FF2B5EF4-FFF2-40B4-BE49-F238E27FC236}">
                <a16:creationId xmlns:a16="http://schemas.microsoft.com/office/drawing/2014/main" id="{BC0B196E-1EBA-CF4A-8730-05160B07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Rectangle 10" descr=" 11">
            <a:extLst>
              <a:ext uri="{FF2B5EF4-FFF2-40B4-BE49-F238E27FC236}">
                <a16:creationId xmlns:a16="http://schemas.microsoft.com/office/drawing/2014/main" id="{EDAACFD1-3A6A-354B-BFE3-052A2BFA51D5}"/>
              </a:ext>
            </a:extLst>
          </p:cNvPr>
          <p:cNvSpPr/>
          <p:nvPr/>
        </p:nvSpPr>
        <p:spPr>
          <a:xfrm>
            <a:off x="1111640" y="3369413"/>
            <a:ext cx="1835028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descr=" 9">
            <a:extLst>
              <a:ext uri="{FF2B5EF4-FFF2-40B4-BE49-F238E27FC236}">
                <a16:creationId xmlns:a16="http://schemas.microsoft.com/office/drawing/2014/main" id="{9F9444F7-701A-B54F-9894-C1C6DC8E8706}"/>
              </a:ext>
            </a:extLst>
          </p:cNvPr>
          <p:cNvSpPr/>
          <p:nvPr/>
        </p:nvSpPr>
        <p:spPr>
          <a:xfrm rot="18897243">
            <a:off x="4011929" y="1760740"/>
            <a:ext cx="189914" cy="18991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12">
            <a:extLst>
              <a:ext uri="{FF2B5EF4-FFF2-40B4-BE49-F238E27FC236}">
                <a16:creationId xmlns:a16="http://schemas.microsoft.com/office/drawing/2014/main" id="{3B2F3561-9CA7-B14F-A153-4367A98BCBDB}"/>
              </a:ext>
            </a:extLst>
          </p:cNvPr>
          <p:cNvSpPr txBox="1"/>
          <p:nvPr/>
        </p:nvSpPr>
        <p:spPr>
          <a:xfrm>
            <a:off x="3961800" y="1700765"/>
            <a:ext cx="378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</a:t>
            </a:r>
          </a:p>
        </p:txBody>
      </p:sp>
      <p:sp>
        <p:nvSpPr>
          <p:cNvPr id="9" name="TextBox 8" descr=" 14">
            <a:extLst>
              <a:ext uri="{FF2B5EF4-FFF2-40B4-BE49-F238E27FC236}">
                <a16:creationId xmlns:a16="http://schemas.microsoft.com/office/drawing/2014/main" id="{C59D6A1C-719C-9D4C-B97F-4AB60C369147}"/>
              </a:ext>
            </a:extLst>
          </p:cNvPr>
          <p:cNvSpPr txBox="1"/>
          <p:nvPr/>
        </p:nvSpPr>
        <p:spPr>
          <a:xfrm>
            <a:off x="3622729" y="2140911"/>
            <a:ext cx="994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Evaluate</a:t>
            </a:r>
          </a:p>
          <a:p>
            <a:pPr algn="ctr"/>
            <a:r>
              <a:rPr lang="en-US" sz="1000" dirty="0"/>
              <a:t>expressions</a:t>
            </a:r>
          </a:p>
        </p:txBody>
      </p:sp>
      <p:sp>
        <p:nvSpPr>
          <p:cNvPr id="12" name="Rectangle 11" descr=" 15">
            <a:extLst>
              <a:ext uri="{FF2B5EF4-FFF2-40B4-BE49-F238E27FC236}">
                <a16:creationId xmlns:a16="http://schemas.microsoft.com/office/drawing/2014/main" id="{B2D64705-0F3C-EC44-B5F1-2273C22A1677}"/>
              </a:ext>
            </a:extLst>
          </p:cNvPr>
          <p:cNvSpPr/>
          <p:nvPr/>
        </p:nvSpPr>
        <p:spPr>
          <a:xfrm>
            <a:off x="3782387" y="2156758"/>
            <a:ext cx="674914" cy="35387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 descr=" 17">
            <a:extLst>
              <a:ext uri="{FF2B5EF4-FFF2-40B4-BE49-F238E27FC236}">
                <a16:creationId xmlns:a16="http://schemas.microsoft.com/office/drawing/2014/main" id="{5393E810-B6BF-E142-9339-DD008EAC5A9D}"/>
              </a:ext>
            </a:extLst>
          </p:cNvPr>
          <p:cNvCxnSpPr>
            <a:cxnSpLocks/>
          </p:cNvCxnSpPr>
          <p:nvPr/>
        </p:nvCxnSpPr>
        <p:spPr>
          <a:xfrm flipH="1">
            <a:off x="4106886" y="1986876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 descr=" 24">
            <a:extLst>
              <a:ext uri="{FF2B5EF4-FFF2-40B4-BE49-F238E27FC236}">
                <a16:creationId xmlns:a16="http://schemas.microsoft.com/office/drawing/2014/main" id="{0DD14C2B-EC05-2B41-94B8-C04AE05B3B5A}"/>
              </a:ext>
            </a:extLst>
          </p:cNvPr>
          <p:cNvCxnSpPr>
            <a:cxnSpLocks/>
          </p:cNvCxnSpPr>
          <p:nvPr/>
        </p:nvCxnSpPr>
        <p:spPr>
          <a:xfrm flipH="1">
            <a:off x="4106885" y="1542693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25">
            <a:extLst>
              <a:ext uri="{FF2B5EF4-FFF2-40B4-BE49-F238E27FC236}">
                <a16:creationId xmlns:a16="http://schemas.microsoft.com/office/drawing/2014/main" id="{16F20B98-6127-774F-9961-A1574DC7DA76}"/>
              </a:ext>
            </a:extLst>
          </p:cNvPr>
          <p:cNvCxnSpPr>
            <a:cxnSpLocks/>
          </p:cNvCxnSpPr>
          <p:nvPr/>
        </p:nvCxnSpPr>
        <p:spPr>
          <a:xfrm flipH="1">
            <a:off x="4087189" y="2503932"/>
            <a:ext cx="1" cy="484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 26">
            <a:extLst>
              <a:ext uri="{FF2B5EF4-FFF2-40B4-BE49-F238E27FC236}">
                <a16:creationId xmlns:a16="http://schemas.microsoft.com/office/drawing/2014/main" id="{19B10267-1F1E-6A4A-B58E-488683DBF39F}"/>
              </a:ext>
            </a:extLst>
          </p:cNvPr>
          <p:cNvCxnSpPr>
            <a:cxnSpLocks/>
          </p:cNvCxnSpPr>
          <p:nvPr/>
        </p:nvCxnSpPr>
        <p:spPr>
          <a:xfrm>
            <a:off x="3717673" y="1854653"/>
            <a:ext cx="0" cy="788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 28">
            <a:extLst>
              <a:ext uri="{FF2B5EF4-FFF2-40B4-BE49-F238E27FC236}">
                <a16:creationId xmlns:a16="http://schemas.microsoft.com/office/drawing/2014/main" id="{28BFEC48-06D6-E648-A6DE-251054279F51}"/>
              </a:ext>
            </a:extLst>
          </p:cNvPr>
          <p:cNvCxnSpPr>
            <a:cxnSpLocks/>
          </p:cNvCxnSpPr>
          <p:nvPr/>
        </p:nvCxnSpPr>
        <p:spPr>
          <a:xfrm>
            <a:off x="3709819" y="2632401"/>
            <a:ext cx="370308" cy="10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32">
            <a:extLst>
              <a:ext uri="{FF2B5EF4-FFF2-40B4-BE49-F238E27FC236}">
                <a16:creationId xmlns:a16="http://schemas.microsoft.com/office/drawing/2014/main" id="{C7AEB906-7530-7648-AD10-34346239A5CE}"/>
              </a:ext>
            </a:extLst>
          </p:cNvPr>
          <p:cNvCxnSpPr>
            <a:cxnSpLocks/>
          </p:cNvCxnSpPr>
          <p:nvPr/>
        </p:nvCxnSpPr>
        <p:spPr>
          <a:xfrm>
            <a:off x="3709819" y="1854653"/>
            <a:ext cx="275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 descr=" 31">
            <a:extLst>
              <a:ext uri="{FF2B5EF4-FFF2-40B4-BE49-F238E27FC236}">
                <a16:creationId xmlns:a16="http://schemas.microsoft.com/office/drawing/2014/main" id="{F34F0224-016C-1146-BC93-355FEFFC4912}"/>
              </a:ext>
            </a:extLst>
          </p:cNvPr>
          <p:cNvSpPr txBox="1"/>
          <p:nvPr/>
        </p:nvSpPr>
        <p:spPr>
          <a:xfrm>
            <a:off x="4054759" y="1886942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</a:t>
            </a:r>
          </a:p>
        </p:txBody>
      </p:sp>
      <p:sp>
        <p:nvSpPr>
          <p:cNvPr id="20" name="TextBox 19" descr=" 39">
            <a:extLst>
              <a:ext uri="{FF2B5EF4-FFF2-40B4-BE49-F238E27FC236}">
                <a16:creationId xmlns:a16="http://schemas.microsoft.com/office/drawing/2014/main" id="{CEDFEA15-68E8-AC4D-89C0-6A81B4AD989F}"/>
              </a:ext>
            </a:extLst>
          </p:cNvPr>
          <p:cNvSpPr txBox="1"/>
          <p:nvPr/>
        </p:nvSpPr>
        <p:spPr>
          <a:xfrm>
            <a:off x="3589647" y="1597196"/>
            <a:ext cx="572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</a:t>
            </a:r>
          </a:p>
        </p:txBody>
      </p:sp>
      <p:cxnSp>
        <p:nvCxnSpPr>
          <p:cNvPr id="21" name="Straight Connector 20" descr=" 41">
            <a:extLst>
              <a:ext uri="{FF2B5EF4-FFF2-40B4-BE49-F238E27FC236}">
                <a16:creationId xmlns:a16="http://schemas.microsoft.com/office/drawing/2014/main" id="{C501979B-6CC9-8847-9223-29A5DE2194F0}"/>
              </a:ext>
            </a:extLst>
          </p:cNvPr>
          <p:cNvCxnSpPr>
            <a:cxnSpLocks/>
          </p:cNvCxnSpPr>
          <p:nvPr/>
        </p:nvCxnSpPr>
        <p:spPr>
          <a:xfrm>
            <a:off x="6311444" y="1469238"/>
            <a:ext cx="1" cy="121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 descr=" 47">
            <a:extLst>
              <a:ext uri="{FF2B5EF4-FFF2-40B4-BE49-F238E27FC236}">
                <a16:creationId xmlns:a16="http://schemas.microsoft.com/office/drawing/2014/main" id="{59986867-C20C-5145-BF1D-03FD8333FCA5}"/>
              </a:ext>
            </a:extLst>
          </p:cNvPr>
          <p:cNvSpPr/>
          <p:nvPr/>
        </p:nvSpPr>
        <p:spPr>
          <a:xfrm rot="18897243">
            <a:off x="6102076" y="1652661"/>
            <a:ext cx="418482" cy="4181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 descr=" 42">
            <a:extLst>
              <a:ext uri="{FF2B5EF4-FFF2-40B4-BE49-F238E27FC236}">
                <a16:creationId xmlns:a16="http://schemas.microsoft.com/office/drawing/2014/main" id="{FE534728-AE58-6147-A456-1EBD8884EF19}"/>
              </a:ext>
            </a:extLst>
          </p:cNvPr>
          <p:cNvSpPr txBox="1"/>
          <p:nvPr/>
        </p:nvSpPr>
        <p:spPr>
          <a:xfrm>
            <a:off x="5993777" y="1725151"/>
            <a:ext cx="1134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condition</a:t>
            </a:r>
          </a:p>
        </p:txBody>
      </p:sp>
      <p:cxnSp>
        <p:nvCxnSpPr>
          <p:cNvPr id="24" name="Straight Connector 23" descr=" 51">
            <a:extLst>
              <a:ext uri="{FF2B5EF4-FFF2-40B4-BE49-F238E27FC236}">
                <a16:creationId xmlns:a16="http://schemas.microsoft.com/office/drawing/2014/main" id="{9D8D4737-AF3C-C742-B385-D029B1682E1A}"/>
              </a:ext>
            </a:extLst>
          </p:cNvPr>
          <p:cNvCxnSpPr>
            <a:cxnSpLocks/>
          </p:cNvCxnSpPr>
          <p:nvPr/>
        </p:nvCxnSpPr>
        <p:spPr>
          <a:xfrm flipV="1">
            <a:off x="6603591" y="1854489"/>
            <a:ext cx="378441" cy="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 descr=" 52">
            <a:extLst>
              <a:ext uri="{FF2B5EF4-FFF2-40B4-BE49-F238E27FC236}">
                <a16:creationId xmlns:a16="http://schemas.microsoft.com/office/drawing/2014/main" id="{D7FF4848-275A-FB48-BBEE-2171D3A00D57}"/>
              </a:ext>
            </a:extLst>
          </p:cNvPr>
          <p:cNvCxnSpPr>
            <a:cxnSpLocks/>
          </p:cNvCxnSpPr>
          <p:nvPr/>
        </p:nvCxnSpPr>
        <p:spPr>
          <a:xfrm>
            <a:off x="6302616" y="2149102"/>
            <a:ext cx="0" cy="186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 descr=" 55">
            <a:extLst>
              <a:ext uri="{FF2B5EF4-FFF2-40B4-BE49-F238E27FC236}">
                <a16:creationId xmlns:a16="http://schemas.microsoft.com/office/drawing/2014/main" id="{85719E5E-E6F9-E844-B912-DC3CCB5C2E11}"/>
              </a:ext>
            </a:extLst>
          </p:cNvPr>
          <p:cNvSpPr txBox="1"/>
          <p:nvPr/>
        </p:nvSpPr>
        <p:spPr>
          <a:xfrm>
            <a:off x="5949713" y="2343992"/>
            <a:ext cx="695357" cy="4616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block of code</a:t>
            </a:r>
          </a:p>
        </p:txBody>
      </p:sp>
      <p:sp>
        <p:nvSpPr>
          <p:cNvPr id="27" name="TextBox 26" descr=" 56">
            <a:extLst>
              <a:ext uri="{FF2B5EF4-FFF2-40B4-BE49-F238E27FC236}">
                <a16:creationId xmlns:a16="http://schemas.microsoft.com/office/drawing/2014/main" id="{0054AD9D-C3C0-0A4F-8DE4-27B443A5CE3C}"/>
              </a:ext>
            </a:extLst>
          </p:cNvPr>
          <p:cNvSpPr txBox="1"/>
          <p:nvPr/>
        </p:nvSpPr>
        <p:spPr>
          <a:xfrm>
            <a:off x="5725136" y="2103741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satisfies</a:t>
            </a:r>
          </a:p>
        </p:txBody>
      </p:sp>
      <p:sp>
        <p:nvSpPr>
          <p:cNvPr id="28" name="TextBox 27" descr=" 57">
            <a:extLst>
              <a:ext uri="{FF2B5EF4-FFF2-40B4-BE49-F238E27FC236}">
                <a16:creationId xmlns:a16="http://schemas.microsoft.com/office/drawing/2014/main" id="{1D690239-9F8C-5845-A436-A70230974D06}"/>
              </a:ext>
            </a:extLst>
          </p:cNvPr>
          <p:cNvSpPr txBox="1"/>
          <p:nvPr/>
        </p:nvSpPr>
        <p:spPr>
          <a:xfrm>
            <a:off x="6514415" y="1590140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 satisfies</a:t>
            </a:r>
          </a:p>
        </p:txBody>
      </p:sp>
      <p:cxnSp>
        <p:nvCxnSpPr>
          <p:cNvPr id="29" name="Straight Connector 28" descr=" 59">
            <a:extLst>
              <a:ext uri="{FF2B5EF4-FFF2-40B4-BE49-F238E27FC236}">
                <a16:creationId xmlns:a16="http://schemas.microsoft.com/office/drawing/2014/main" id="{834A8E17-AD50-C441-8EA1-D32C6971BB1E}"/>
              </a:ext>
            </a:extLst>
          </p:cNvPr>
          <p:cNvCxnSpPr>
            <a:cxnSpLocks/>
          </p:cNvCxnSpPr>
          <p:nvPr/>
        </p:nvCxnSpPr>
        <p:spPr>
          <a:xfrm>
            <a:off x="6976046" y="1847233"/>
            <a:ext cx="3839" cy="1070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 descr=" 60">
            <a:extLst>
              <a:ext uri="{FF2B5EF4-FFF2-40B4-BE49-F238E27FC236}">
                <a16:creationId xmlns:a16="http://schemas.microsoft.com/office/drawing/2014/main" id="{CD9500D5-49EE-BC47-AEAC-E5611C583A5D}"/>
              </a:ext>
            </a:extLst>
          </p:cNvPr>
          <p:cNvCxnSpPr>
            <a:cxnSpLocks/>
          </p:cNvCxnSpPr>
          <p:nvPr/>
        </p:nvCxnSpPr>
        <p:spPr>
          <a:xfrm>
            <a:off x="6296933" y="2811806"/>
            <a:ext cx="0" cy="241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 descr=" 62">
            <a:extLst>
              <a:ext uri="{FF2B5EF4-FFF2-40B4-BE49-F238E27FC236}">
                <a16:creationId xmlns:a16="http://schemas.microsoft.com/office/drawing/2014/main" id="{E8ECD0E1-E453-0B40-AEC0-6AA179A95188}"/>
              </a:ext>
            </a:extLst>
          </p:cNvPr>
          <p:cNvCxnSpPr>
            <a:cxnSpLocks/>
          </p:cNvCxnSpPr>
          <p:nvPr/>
        </p:nvCxnSpPr>
        <p:spPr>
          <a:xfrm flipH="1">
            <a:off x="6311318" y="2917948"/>
            <a:ext cx="6843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 descr=" 67">
            <a:extLst>
              <a:ext uri="{FF2B5EF4-FFF2-40B4-BE49-F238E27FC236}">
                <a16:creationId xmlns:a16="http://schemas.microsoft.com/office/drawing/2014/main" id="{DC42E7CA-47EE-6342-AB16-378BD4E7135A}"/>
              </a:ext>
            </a:extLst>
          </p:cNvPr>
          <p:cNvCxnSpPr>
            <a:cxnSpLocks/>
          </p:cNvCxnSpPr>
          <p:nvPr/>
        </p:nvCxnSpPr>
        <p:spPr>
          <a:xfrm flipH="1">
            <a:off x="5549958" y="2574824"/>
            <a:ext cx="399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 descr=" 69">
            <a:extLst>
              <a:ext uri="{FF2B5EF4-FFF2-40B4-BE49-F238E27FC236}">
                <a16:creationId xmlns:a16="http://schemas.microsoft.com/office/drawing/2014/main" id="{8C7E692C-9EE0-DF48-9033-79257A6153CF}"/>
              </a:ext>
            </a:extLst>
          </p:cNvPr>
          <p:cNvCxnSpPr>
            <a:cxnSpLocks/>
          </p:cNvCxnSpPr>
          <p:nvPr/>
        </p:nvCxnSpPr>
        <p:spPr>
          <a:xfrm>
            <a:off x="5547811" y="1861747"/>
            <a:ext cx="9757" cy="714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 descr=" 71">
            <a:extLst>
              <a:ext uri="{FF2B5EF4-FFF2-40B4-BE49-F238E27FC236}">
                <a16:creationId xmlns:a16="http://schemas.microsoft.com/office/drawing/2014/main" id="{FFCCF743-0941-7348-B288-FE6E19E0A269}"/>
              </a:ext>
            </a:extLst>
          </p:cNvPr>
          <p:cNvCxnSpPr>
            <a:cxnSpLocks/>
          </p:cNvCxnSpPr>
          <p:nvPr/>
        </p:nvCxnSpPr>
        <p:spPr>
          <a:xfrm>
            <a:off x="5546540" y="1861747"/>
            <a:ext cx="461751" cy="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 descr=" 4">
            <a:extLst>
              <a:ext uri="{FF2B5EF4-FFF2-40B4-BE49-F238E27FC236}">
                <a16:creationId xmlns:a16="http://schemas.microsoft.com/office/drawing/2014/main" id="{0C115CAC-E1B6-B640-A6AE-A3FBEC1CFF5E}"/>
              </a:ext>
            </a:extLst>
          </p:cNvPr>
          <p:cNvGrpSpPr/>
          <p:nvPr/>
        </p:nvGrpSpPr>
        <p:grpSpPr>
          <a:xfrm>
            <a:off x="4676176" y="3045908"/>
            <a:ext cx="3695362" cy="369332"/>
            <a:chOff x="4698036" y="3187164"/>
            <a:chExt cx="3695362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480051E-2019-474D-A46B-31D25FFBA310}"/>
                </a:ext>
              </a:extLst>
            </p:cNvPr>
            <p:cNvSpPr txBox="1"/>
            <p:nvPr/>
          </p:nvSpPr>
          <p:spPr>
            <a:xfrm>
              <a:off x="4698036" y="3187164"/>
              <a:ext cx="202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Control </a:t>
              </a:r>
              <a:r>
                <a:rPr lang="en-US" b="1" dirty="0"/>
                <a:t>statements</a:t>
              </a:r>
              <a:r>
                <a:rPr lang="en-US" sz="1600" b="1" dirty="0"/>
                <a:t>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F772A7-5EE9-BE4D-9E8F-CCBB459CC010}"/>
                </a:ext>
              </a:extLst>
            </p:cNvPr>
            <p:cNvSpPr txBox="1"/>
            <p:nvPr/>
          </p:nvSpPr>
          <p:spPr>
            <a:xfrm>
              <a:off x="6514415" y="3240244"/>
              <a:ext cx="1878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>
                  <a:solidFill>
                    <a:srgbClr val="FF0000"/>
                  </a:solidFill>
                </a:rPr>
                <a:t>break</a:t>
              </a:r>
              <a:r>
                <a:rPr lang="en-US" sz="1400" dirty="0"/>
                <a:t>, </a:t>
              </a:r>
              <a:r>
                <a:rPr lang="en-US" sz="1400" b="1" dirty="0">
                  <a:solidFill>
                    <a:srgbClr val="00B050"/>
                  </a:solidFill>
                </a:rPr>
                <a:t>continue</a:t>
              </a:r>
              <a:r>
                <a:rPr lang="en-US" sz="1400" dirty="0"/>
                <a:t>, </a:t>
              </a:r>
              <a:r>
                <a:rPr lang="en-US" sz="1400" b="1" dirty="0">
                  <a:solidFill>
                    <a:srgbClr val="FFFF00"/>
                  </a:solidFill>
                </a:rPr>
                <a:t>pass</a:t>
              </a:r>
            </a:p>
          </p:txBody>
        </p:sp>
      </p:grpSp>
      <p:sp>
        <p:nvSpPr>
          <p:cNvPr id="43" name="TextBox 42" descr=" 43">
            <a:extLst>
              <a:ext uri="{FF2B5EF4-FFF2-40B4-BE49-F238E27FC236}">
                <a16:creationId xmlns:a16="http://schemas.microsoft.com/office/drawing/2014/main" id="{78FED903-18B3-CF4F-AE83-251D05F067FE}"/>
              </a:ext>
            </a:extLst>
          </p:cNvPr>
          <p:cNvSpPr txBox="1"/>
          <p:nvPr/>
        </p:nvSpPr>
        <p:spPr>
          <a:xfrm>
            <a:off x="3132480" y="423526"/>
            <a:ext cx="5643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effectLst/>
                <a:latin typeface="+mj-lt"/>
              </a:rPr>
              <a:t>Program Flow Control in Python</a:t>
            </a:r>
            <a:endParaRPr lang="en-US" sz="3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1074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9198F0DE-7C1C-C345-9FB0-458088F93C9A}"/>
              </a:ext>
            </a:extLst>
          </p:cNvPr>
          <p:cNvSpPr txBox="1"/>
          <p:nvPr/>
        </p:nvSpPr>
        <p:spPr>
          <a:xfrm>
            <a:off x="3478746" y="919772"/>
            <a:ext cx="119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</a:t>
            </a:r>
          </a:p>
          <a:p>
            <a:pPr algn="ctr"/>
            <a:r>
              <a:rPr lang="en-US" dirty="0"/>
              <a:t>making</a:t>
            </a:r>
          </a:p>
        </p:txBody>
      </p:sp>
      <p:sp>
        <p:nvSpPr>
          <p:cNvPr id="35" name="TextBox 34" descr=" 38">
            <a:extLst>
              <a:ext uri="{FF2B5EF4-FFF2-40B4-BE49-F238E27FC236}">
                <a16:creationId xmlns:a16="http://schemas.microsoft.com/office/drawing/2014/main" id="{C261FFD5-8D5B-7F4C-9E62-55D12E9DFC49}"/>
              </a:ext>
            </a:extLst>
          </p:cNvPr>
          <p:cNvSpPr txBox="1"/>
          <p:nvPr/>
        </p:nvSpPr>
        <p:spPr>
          <a:xfrm>
            <a:off x="5065783" y="909437"/>
            <a:ext cx="3136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Loops: </a:t>
            </a:r>
            <a:r>
              <a:rPr lang="en-US" sz="1400" dirty="0"/>
              <a:t>sequentially evaluation of </a:t>
            </a:r>
          </a:p>
          <a:p>
            <a:r>
              <a:rPr lang="en-US" sz="1400" dirty="0"/>
              <a:t>                 </a:t>
            </a:r>
            <a:r>
              <a:rPr lang="en-US" sz="1400" b="1" dirty="0"/>
              <a:t>block of code </a:t>
            </a:r>
            <a:r>
              <a:rPr lang="en-US" sz="1400" i="1" dirty="0"/>
              <a:t>multiple times</a:t>
            </a:r>
            <a:r>
              <a:rPr lang="en-US" sz="1400" dirty="0"/>
              <a:t>   </a:t>
            </a:r>
          </a:p>
        </p:txBody>
      </p:sp>
      <p:pic>
        <p:nvPicPr>
          <p:cNvPr id="10" name="Picture 9" descr=" 10">
            <a:extLst>
              <a:ext uri="{FF2B5EF4-FFF2-40B4-BE49-F238E27FC236}">
                <a16:creationId xmlns:a16="http://schemas.microsoft.com/office/drawing/2014/main" id="{BC0B196E-1EBA-CF4A-8730-05160B07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Rectangle 10" descr=" 11">
            <a:extLst>
              <a:ext uri="{FF2B5EF4-FFF2-40B4-BE49-F238E27FC236}">
                <a16:creationId xmlns:a16="http://schemas.microsoft.com/office/drawing/2014/main" id="{EDAACFD1-3A6A-354B-BFE3-052A2BFA51D5}"/>
              </a:ext>
            </a:extLst>
          </p:cNvPr>
          <p:cNvSpPr/>
          <p:nvPr/>
        </p:nvSpPr>
        <p:spPr>
          <a:xfrm>
            <a:off x="1111640" y="3369413"/>
            <a:ext cx="1835028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 descr=" 7">
            <a:extLst>
              <a:ext uri="{FF2B5EF4-FFF2-40B4-BE49-F238E27FC236}">
                <a16:creationId xmlns:a16="http://schemas.microsoft.com/office/drawing/2014/main" id="{C053A24C-9ABC-BE4C-8730-E7268A0CF312}"/>
              </a:ext>
            </a:extLst>
          </p:cNvPr>
          <p:cNvSpPr txBox="1"/>
          <p:nvPr/>
        </p:nvSpPr>
        <p:spPr>
          <a:xfrm>
            <a:off x="3259787" y="3857374"/>
            <a:ext cx="1838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Arial" panose="020B0604020202020204" pitchFamily="34" charset="0"/>
              </a:rPr>
              <a:t>operators</a:t>
            </a:r>
            <a:endParaRPr lang="en-US" sz="2400" b="1" dirty="0"/>
          </a:p>
        </p:txBody>
      </p:sp>
      <p:sp>
        <p:nvSpPr>
          <p:cNvPr id="7" name="Rectangle 6" descr=" 9">
            <a:extLst>
              <a:ext uri="{FF2B5EF4-FFF2-40B4-BE49-F238E27FC236}">
                <a16:creationId xmlns:a16="http://schemas.microsoft.com/office/drawing/2014/main" id="{9F9444F7-701A-B54F-9894-C1C6DC8E8706}"/>
              </a:ext>
            </a:extLst>
          </p:cNvPr>
          <p:cNvSpPr/>
          <p:nvPr/>
        </p:nvSpPr>
        <p:spPr>
          <a:xfrm rot="18897243">
            <a:off x="4011929" y="1760740"/>
            <a:ext cx="189914" cy="18991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12">
            <a:extLst>
              <a:ext uri="{FF2B5EF4-FFF2-40B4-BE49-F238E27FC236}">
                <a16:creationId xmlns:a16="http://schemas.microsoft.com/office/drawing/2014/main" id="{3B2F3561-9CA7-B14F-A153-4367A98BCBDB}"/>
              </a:ext>
            </a:extLst>
          </p:cNvPr>
          <p:cNvSpPr txBox="1"/>
          <p:nvPr/>
        </p:nvSpPr>
        <p:spPr>
          <a:xfrm>
            <a:off x="3961800" y="1700765"/>
            <a:ext cx="378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</a:t>
            </a:r>
          </a:p>
        </p:txBody>
      </p:sp>
      <p:sp>
        <p:nvSpPr>
          <p:cNvPr id="9" name="TextBox 8" descr=" 14">
            <a:extLst>
              <a:ext uri="{FF2B5EF4-FFF2-40B4-BE49-F238E27FC236}">
                <a16:creationId xmlns:a16="http://schemas.microsoft.com/office/drawing/2014/main" id="{C59D6A1C-719C-9D4C-B97F-4AB60C369147}"/>
              </a:ext>
            </a:extLst>
          </p:cNvPr>
          <p:cNvSpPr txBox="1"/>
          <p:nvPr/>
        </p:nvSpPr>
        <p:spPr>
          <a:xfrm>
            <a:off x="3622729" y="2140911"/>
            <a:ext cx="994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Evaluate</a:t>
            </a:r>
          </a:p>
          <a:p>
            <a:pPr algn="ctr"/>
            <a:r>
              <a:rPr lang="en-US" sz="1000" dirty="0"/>
              <a:t>expressions</a:t>
            </a:r>
          </a:p>
        </p:txBody>
      </p:sp>
      <p:sp>
        <p:nvSpPr>
          <p:cNvPr id="12" name="Rectangle 11" descr=" 15">
            <a:extLst>
              <a:ext uri="{FF2B5EF4-FFF2-40B4-BE49-F238E27FC236}">
                <a16:creationId xmlns:a16="http://schemas.microsoft.com/office/drawing/2014/main" id="{B2D64705-0F3C-EC44-B5F1-2273C22A1677}"/>
              </a:ext>
            </a:extLst>
          </p:cNvPr>
          <p:cNvSpPr/>
          <p:nvPr/>
        </p:nvSpPr>
        <p:spPr>
          <a:xfrm>
            <a:off x="3782387" y="2156758"/>
            <a:ext cx="674914" cy="35387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 descr=" 17">
            <a:extLst>
              <a:ext uri="{FF2B5EF4-FFF2-40B4-BE49-F238E27FC236}">
                <a16:creationId xmlns:a16="http://schemas.microsoft.com/office/drawing/2014/main" id="{5393E810-B6BF-E142-9339-DD008EAC5A9D}"/>
              </a:ext>
            </a:extLst>
          </p:cNvPr>
          <p:cNvCxnSpPr>
            <a:cxnSpLocks/>
          </p:cNvCxnSpPr>
          <p:nvPr/>
        </p:nvCxnSpPr>
        <p:spPr>
          <a:xfrm flipH="1">
            <a:off x="4106886" y="1986876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 descr=" 24">
            <a:extLst>
              <a:ext uri="{FF2B5EF4-FFF2-40B4-BE49-F238E27FC236}">
                <a16:creationId xmlns:a16="http://schemas.microsoft.com/office/drawing/2014/main" id="{0DD14C2B-EC05-2B41-94B8-C04AE05B3B5A}"/>
              </a:ext>
            </a:extLst>
          </p:cNvPr>
          <p:cNvCxnSpPr>
            <a:cxnSpLocks/>
          </p:cNvCxnSpPr>
          <p:nvPr/>
        </p:nvCxnSpPr>
        <p:spPr>
          <a:xfrm flipH="1">
            <a:off x="4106885" y="1542693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25">
            <a:extLst>
              <a:ext uri="{FF2B5EF4-FFF2-40B4-BE49-F238E27FC236}">
                <a16:creationId xmlns:a16="http://schemas.microsoft.com/office/drawing/2014/main" id="{16F20B98-6127-774F-9961-A1574DC7DA76}"/>
              </a:ext>
            </a:extLst>
          </p:cNvPr>
          <p:cNvCxnSpPr>
            <a:cxnSpLocks/>
          </p:cNvCxnSpPr>
          <p:nvPr/>
        </p:nvCxnSpPr>
        <p:spPr>
          <a:xfrm flipH="1">
            <a:off x="4087189" y="2503932"/>
            <a:ext cx="1" cy="484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 26">
            <a:extLst>
              <a:ext uri="{FF2B5EF4-FFF2-40B4-BE49-F238E27FC236}">
                <a16:creationId xmlns:a16="http://schemas.microsoft.com/office/drawing/2014/main" id="{19B10267-1F1E-6A4A-B58E-488683DBF39F}"/>
              </a:ext>
            </a:extLst>
          </p:cNvPr>
          <p:cNvCxnSpPr>
            <a:cxnSpLocks/>
          </p:cNvCxnSpPr>
          <p:nvPr/>
        </p:nvCxnSpPr>
        <p:spPr>
          <a:xfrm>
            <a:off x="3717673" y="1854653"/>
            <a:ext cx="0" cy="788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 28">
            <a:extLst>
              <a:ext uri="{FF2B5EF4-FFF2-40B4-BE49-F238E27FC236}">
                <a16:creationId xmlns:a16="http://schemas.microsoft.com/office/drawing/2014/main" id="{28BFEC48-06D6-E648-A6DE-251054279F51}"/>
              </a:ext>
            </a:extLst>
          </p:cNvPr>
          <p:cNvCxnSpPr>
            <a:cxnSpLocks/>
          </p:cNvCxnSpPr>
          <p:nvPr/>
        </p:nvCxnSpPr>
        <p:spPr>
          <a:xfrm>
            <a:off x="3709819" y="2632401"/>
            <a:ext cx="370308" cy="10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32">
            <a:extLst>
              <a:ext uri="{FF2B5EF4-FFF2-40B4-BE49-F238E27FC236}">
                <a16:creationId xmlns:a16="http://schemas.microsoft.com/office/drawing/2014/main" id="{C7AEB906-7530-7648-AD10-34346239A5CE}"/>
              </a:ext>
            </a:extLst>
          </p:cNvPr>
          <p:cNvCxnSpPr>
            <a:cxnSpLocks/>
          </p:cNvCxnSpPr>
          <p:nvPr/>
        </p:nvCxnSpPr>
        <p:spPr>
          <a:xfrm>
            <a:off x="3709819" y="1854653"/>
            <a:ext cx="275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 descr=" 31">
            <a:extLst>
              <a:ext uri="{FF2B5EF4-FFF2-40B4-BE49-F238E27FC236}">
                <a16:creationId xmlns:a16="http://schemas.microsoft.com/office/drawing/2014/main" id="{F34F0224-016C-1146-BC93-355FEFFC4912}"/>
              </a:ext>
            </a:extLst>
          </p:cNvPr>
          <p:cNvSpPr txBox="1"/>
          <p:nvPr/>
        </p:nvSpPr>
        <p:spPr>
          <a:xfrm>
            <a:off x="4054759" y="1886942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</a:t>
            </a:r>
          </a:p>
        </p:txBody>
      </p:sp>
      <p:sp>
        <p:nvSpPr>
          <p:cNvPr id="20" name="TextBox 19" descr=" 39">
            <a:extLst>
              <a:ext uri="{FF2B5EF4-FFF2-40B4-BE49-F238E27FC236}">
                <a16:creationId xmlns:a16="http://schemas.microsoft.com/office/drawing/2014/main" id="{CEDFEA15-68E8-AC4D-89C0-6A81B4AD989F}"/>
              </a:ext>
            </a:extLst>
          </p:cNvPr>
          <p:cNvSpPr txBox="1"/>
          <p:nvPr/>
        </p:nvSpPr>
        <p:spPr>
          <a:xfrm>
            <a:off x="3589647" y="1597196"/>
            <a:ext cx="572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</a:t>
            </a:r>
          </a:p>
        </p:txBody>
      </p:sp>
      <p:cxnSp>
        <p:nvCxnSpPr>
          <p:cNvPr id="21" name="Straight Connector 20" descr=" 41">
            <a:extLst>
              <a:ext uri="{FF2B5EF4-FFF2-40B4-BE49-F238E27FC236}">
                <a16:creationId xmlns:a16="http://schemas.microsoft.com/office/drawing/2014/main" id="{C501979B-6CC9-8847-9223-29A5DE2194F0}"/>
              </a:ext>
            </a:extLst>
          </p:cNvPr>
          <p:cNvCxnSpPr>
            <a:cxnSpLocks/>
          </p:cNvCxnSpPr>
          <p:nvPr/>
        </p:nvCxnSpPr>
        <p:spPr>
          <a:xfrm>
            <a:off x="6311444" y="1469238"/>
            <a:ext cx="1" cy="121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 descr=" 47">
            <a:extLst>
              <a:ext uri="{FF2B5EF4-FFF2-40B4-BE49-F238E27FC236}">
                <a16:creationId xmlns:a16="http://schemas.microsoft.com/office/drawing/2014/main" id="{59986867-C20C-5145-BF1D-03FD8333FCA5}"/>
              </a:ext>
            </a:extLst>
          </p:cNvPr>
          <p:cNvSpPr/>
          <p:nvPr/>
        </p:nvSpPr>
        <p:spPr>
          <a:xfrm rot="18897243">
            <a:off x="6102076" y="1652661"/>
            <a:ext cx="418482" cy="4181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 descr=" 42">
            <a:extLst>
              <a:ext uri="{FF2B5EF4-FFF2-40B4-BE49-F238E27FC236}">
                <a16:creationId xmlns:a16="http://schemas.microsoft.com/office/drawing/2014/main" id="{FE534728-AE58-6147-A456-1EBD8884EF19}"/>
              </a:ext>
            </a:extLst>
          </p:cNvPr>
          <p:cNvSpPr txBox="1"/>
          <p:nvPr/>
        </p:nvSpPr>
        <p:spPr>
          <a:xfrm>
            <a:off x="5993777" y="1725151"/>
            <a:ext cx="1134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condition</a:t>
            </a:r>
          </a:p>
        </p:txBody>
      </p:sp>
      <p:cxnSp>
        <p:nvCxnSpPr>
          <p:cNvPr id="24" name="Straight Connector 23" descr=" 51">
            <a:extLst>
              <a:ext uri="{FF2B5EF4-FFF2-40B4-BE49-F238E27FC236}">
                <a16:creationId xmlns:a16="http://schemas.microsoft.com/office/drawing/2014/main" id="{9D8D4737-AF3C-C742-B385-D029B1682E1A}"/>
              </a:ext>
            </a:extLst>
          </p:cNvPr>
          <p:cNvCxnSpPr>
            <a:cxnSpLocks/>
          </p:cNvCxnSpPr>
          <p:nvPr/>
        </p:nvCxnSpPr>
        <p:spPr>
          <a:xfrm flipV="1">
            <a:off x="6603591" y="1854489"/>
            <a:ext cx="378441" cy="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 descr=" 52">
            <a:extLst>
              <a:ext uri="{FF2B5EF4-FFF2-40B4-BE49-F238E27FC236}">
                <a16:creationId xmlns:a16="http://schemas.microsoft.com/office/drawing/2014/main" id="{D7FF4848-275A-FB48-BBEE-2171D3A00D57}"/>
              </a:ext>
            </a:extLst>
          </p:cNvPr>
          <p:cNvCxnSpPr>
            <a:cxnSpLocks/>
          </p:cNvCxnSpPr>
          <p:nvPr/>
        </p:nvCxnSpPr>
        <p:spPr>
          <a:xfrm>
            <a:off x="6302616" y="2149102"/>
            <a:ext cx="0" cy="186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 descr=" 55">
            <a:extLst>
              <a:ext uri="{FF2B5EF4-FFF2-40B4-BE49-F238E27FC236}">
                <a16:creationId xmlns:a16="http://schemas.microsoft.com/office/drawing/2014/main" id="{85719E5E-E6F9-E844-B912-DC3CCB5C2E11}"/>
              </a:ext>
            </a:extLst>
          </p:cNvPr>
          <p:cNvSpPr txBox="1"/>
          <p:nvPr/>
        </p:nvSpPr>
        <p:spPr>
          <a:xfrm>
            <a:off x="5949713" y="2343992"/>
            <a:ext cx="695357" cy="4616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block of code</a:t>
            </a:r>
          </a:p>
        </p:txBody>
      </p:sp>
      <p:sp>
        <p:nvSpPr>
          <p:cNvPr id="27" name="TextBox 26" descr=" 56">
            <a:extLst>
              <a:ext uri="{FF2B5EF4-FFF2-40B4-BE49-F238E27FC236}">
                <a16:creationId xmlns:a16="http://schemas.microsoft.com/office/drawing/2014/main" id="{0054AD9D-C3C0-0A4F-8DE4-27B443A5CE3C}"/>
              </a:ext>
            </a:extLst>
          </p:cNvPr>
          <p:cNvSpPr txBox="1"/>
          <p:nvPr/>
        </p:nvSpPr>
        <p:spPr>
          <a:xfrm>
            <a:off x="5725136" y="2103741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satisfies</a:t>
            </a:r>
          </a:p>
        </p:txBody>
      </p:sp>
      <p:sp>
        <p:nvSpPr>
          <p:cNvPr id="28" name="TextBox 27" descr=" 57">
            <a:extLst>
              <a:ext uri="{FF2B5EF4-FFF2-40B4-BE49-F238E27FC236}">
                <a16:creationId xmlns:a16="http://schemas.microsoft.com/office/drawing/2014/main" id="{1D690239-9F8C-5845-A436-A70230974D06}"/>
              </a:ext>
            </a:extLst>
          </p:cNvPr>
          <p:cNvSpPr txBox="1"/>
          <p:nvPr/>
        </p:nvSpPr>
        <p:spPr>
          <a:xfrm>
            <a:off x="6514415" y="1590140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 satisfies</a:t>
            </a:r>
          </a:p>
        </p:txBody>
      </p:sp>
      <p:cxnSp>
        <p:nvCxnSpPr>
          <p:cNvPr id="29" name="Straight Connector 28" descr=" 59">
            <a:extLst>
              <a:ext uri="{FF2B5EF4-FFF2-40B4-BE49-F238E27FC236}">
                <a16:creationId xmlns:a16="http://schemas.microsoft.com/office/drawing/2014/main" id="{834A8E17-AD50-C441-8EA1-D32C6971BB1E}"/>
              </a:ext>
            </a:extLst>
          </p:cNvPr>
          <p:cNvCxnSpPr>
            <a:cxnSpLocks/>
          </p:cNvCxnSpPr>
          <p:nvPr/>
        </p:nvCxnSpPr>
        <p:spPr>
          <a:xfrm>
            <a:off x="6976046" y="1847233"/>
            <a:ext cx="3839" cy="1070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 descr=" 60">
            <a:extLst>
              <a:ext uri="{FF2B5EF4-FFF2-40B4-BE49-F238E27FC236}">
                <a16:creationId xmlns:a16="http://schemas.microsoft.com/office/drawing/2014/main" id="{CD9500D5-49EE-BC47-AEAC-E5611C583A5D}"/>
              </a:ext>
            </a:extLst>
          </p:cNvPr>
          <p:cNvCxnSpPr>
            <a:cxnSpLocks/>
          </p:cNvCxnSpPr>
          <p:nvPr/>
        </p:nvCxnSpPr>
        <p:spPr>
          <a:xfrm>
            <a:off x="6296933" y="2811806"/>
            <a:ext cx="0" cy="241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 descr=" 62">
            <a:extLst>
              <a:ext uri="{FF2B5EF4-FFF2-40B4-BE49-F238E27FC236}">
                <a16:creationId xmlns:a16="http://schemas.microsoft.com/office/drawing/2014/main" id="{E8ECD0E1-E453-0B40-AEC0-6AA179A95188}"/>
              </a:ext>
            </a:extLst>
          </p:cNvPr>
          <p:cNvCxnSpPr>
            <a:cxnSpLocks/>
          </p:cNvCxnSpPr>
          <p:nvPr/>
        </p:nvCxnSpPr>
        <p:spPr>
          <a:xfrm flipH="1">
            <a:off x="6311318" y="2917948"/>
            <a:ext cx="6843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 descr=" 67">
            <a:extLst>
              <a:ext uri="{FF2B5EF4-FFF2-40B4-BE49-F238E27FC236}">
                <a16:creationId xmlns:a16="http://schemas.microsoft.com/office/drawing/2014/main" id="{DC42E7CA-47EE-6342-AB16-378BD4E7135A}"/>
              </a:ext>
            </a:extLst>
          </p:cNvPr>
          <p:cNvCxnSpPr>
            <a:cxnSpLocks/>
          </p:cNvCxnSpPr>
          <p:nvPr/>
        </p:nvCxnSpPr>
        <p:spPr>
          <a:xfrm flipH="1">
            <a:off x="5549958" y="2574824"/>
            <a:ext cx="399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 descr=" 69">
            <a:extLst>
              <a:ext uri="{FF2B5EF4-FFF2-40B4-BE49-F238E27FC236}">
                <a16:creationId xmlns:a16="http://schemas.microsoft.com/office/drawing/2014/main" id="{8C7E692C-9EE0-DF48-9033-79257A6153CF}"/>
              </a:ext>
            </a:extLst>
          </p:cNvPr>
          <p:cNvCxnSpPr>
            <a:cxnSpLocks/>
          </p:cNvCxnSpPr>
          <p:nvPr/>
        </p:nvCxnSpPr>
        <p:spPr>
          <a:xfrm>
            <a:off x="5547811" y="1861747"/>
            <a:ext cx="9757" cy="714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 descr=" 71">
            <a:extLst>
              <a:ext uri="{FF2B5EF4-FFF2-40B4-BE49-F238E27FC236}">
                <a16:creationId xmlns:a16="http://schemas.microsoft.com/office/drawing/2014/main" id="{FFCCF743-0941-7348-B288-FE6E19E0A269}"/>
              </a:ext>
            </a:extLst>
          </p:cNvPr>
          <p:cNvCxnSpPr>
            <a:cxnSpLocks/>
          </p:cNvCxnSpPr>
          <p:nvPr/>
        </p:nvCxnSpPr>
        <p:spPr>
          <a:xfrm>
            <a:off x="5546540" y="1861747"/>
            <a:ext cx="461751" cy="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 descr=" 4">
            <a:extLst>
              <a:ext uri="{FF2B5EF4-FFF2-40B4-BE49-F238E27FC236}">
                <a16:creationId xmlns:a16="http://schemas.microsoft.com/office/drawing/2014/main" id="{0C115CAC-E1B6-B640-A6AE-A3FBEC1CFF5E}"/>
              </a:ext>
            </a:extLst>
          </p:cNvPr>
          <p:cNvGrpSpPr/>
          <p:nvPr/>
        </p:nvGrpSpPr>
        <p:grpSpPr>
          <a:xfrm>
            <a:off x="4676176" y="3045908"/>
            <a:ext cx="3695362" cy="369332"/>
            <a:chOff x="4698036" y="3187164"/>
            <a:chExt cx="3695362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480051E-2019-474D-A46B-31D25FFBA310}"/>
                </a:ext>
              </a:extLst>
            </p:cNvPr>
            <p:cNvSpPr txBox="1"/>
            <p:nvPr/>
          </p:nvSpPr>
          <p:spPr>
            <a:xfrm>
              <a:off x="4698036" y="3187164"/>
              <a:ext cx="202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Control </a:t>
              </a:r>
              <a:r>
                <a:rPr lang="en-US" b="1" dirty="0"/>
                <a:t>statements</a:t>
              </a:r>
              <a:r>
                <a:rPr lang="en-US" sz="1600" b="1" dirty="0"/>
                <a:t>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F772A7-5EE9-BE4D-9E8F-CCBB459CC010}"/>
                </a:ext>
              </a:extLst>
            </p:cNvPr>
            <p:cNvSpPr txBox="1"/>
            <p:nvPr/>
          </p:nvSpPr>
          <p:spPr>
            <a:xfrm>
              <a:off x="6514415" y="3240244"/>
              <a:ext cx="1878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>
                  <a:solidFill>
                    <a:srgbClr val="FF0000"/>
                  </a:solidFill>
                </a:rPr>
                <a:t>break</a:t>
              </a:r>
              <a:r>
                <a:rPr lang="en-US" sz="1400" dirty="0"/>
                <a:t>, </a:t>
              </a:r>
              <a:r>
                <a:rPr lang="en-US" sz="1400" b="1" dirty="0">
                  <a:solidFill>
                    <a:srgbClr val="00B050"/>
                  </a:solidFill>
                </a:rPr>
                <a:t>continue</a:t>
              </a:r>
              <a:r>
                <a:rPr lang="en-US" sz="1400" dirty="0"/>
                <a:t>, </a:t>
              </a:r>
              <a:r>
                <a:rPr lang="en-US" sz="1400" b="1" dirty="0">
                  <a:solidFill>
                    <a:srgbClr val="FFFF00"/>
                  </a:solidFill>
                </a:rPr>
                <a:t>pass</a:t>
              </a:r>
            </a:p>
          </p:txBody>
        </p:sp>
      </p:grpSp>
      <p:sp>
        <p:nvSpPr>
          <p:cNvPr id="43" name="TextBox 42" descr=" 43">
            <a:extLst>
              <a:ext uri="{FF2B5EF4-FFF2-40B4-BE49-F238E27FC236}">
                <a16:creationId xmlns:a16="http://schemas.microsoft.com/office/drawing/2014/main" id="{78FED903-18B3-CF4F-AE83-251D05F067FE}"/>
              </a:ext>
            </a:extLst>
          </p:cNvPr>
          <p:cNvSpPr txBox="1"/>
          <p:nvPr/>
        </p:nvSpPr>
        <p:spPr>
          <a:xfrm>
            <a:off x="3132480" y="423526"/>
            <a:ext cx="5643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effectLst/>
                <a:latin typeface="+mj-lt"/>
              </a:rPr>
              <a:t>Program Flow Control in Python</a:t>
            </a:r>
            <a:endParaRPr lang="en-US" sz="3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8283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9198F0DE-7C1C-C345-9FB0-458088F93C9A}"/>
              </a:ext>
            </a:extLst>
          </p:cNvPr>
          <p:cNvSpPr txBox="1"/>
          <p:nvPr/>
        </p:nvSpPr>
        <p:spPr>
          <a:xfrm>
            <a:off x="3478746" y="919772"/>
            <a:ext cx="119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</a:t>
            </a:r>
          </a:p>
          <a:p>
            <a:pPr algn="ctr"/>
            <a:r>
              <a:rPr lang="en-US" dirty="0"/>
              <a:t>making</a:t>
            </a:r>
          </a:p>
        </p:txBody>
      </p:sp>
      <p:sp>
        <p:nvSpPr>
          <p:cNvPr id="35" name="TextBox 34" descr=" 38">
            <a:extLst>
              <a:ext uri="{FF2B5EF4-FFF2-40B4-BE49-F238E27FC236}">
                <a16:creationId xmlns:a16="http://schemas.microsoft.com/office/drawing/2014/main" id="{C261FFD5-8D5B-7F4C-9E62-55D12E9DFC49}"/>
              </a:ext>
            </a:extLst>
          </p:cNvPr>
          <p:cNvSpPr txBox="1"/>
          <p:nvPr/>
        </p:nvSpPr>
        <p:spPr>
          <a:xfrm>
            <a:off x="5065783" y="909437"/>
            <a:ext cx="3136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Loops: </a:t>
            </a:r>
            <a:r>
              <a:rPr lang="en-US" sz="1400" dirty="0"/>
              <a:t>sequentially evaluation of </a:t>
            </a:r>
          </a:p>
          <a:p>
            <a:r>
              <a:rPr lang="en-US" sz="1400" dirty="0"/>
              <a:t>                 </a:t>
            </a:r>
            <a:r>
              <a:rPr lang="en-US" sz="1400" b="1" dirty="0"/>
              <a:t>block of code </a:t>
            </a:r>
            <a:r>
              <a:rPr lang="en-US" sz="1400" i="1" dirty="0"/>
              <a:t>multiple times</a:t>
            </a:r>
            <a:r>
              <a:rPr lang="en-US" sz="1400" dirty="0"/>
              <a:t>   </a:t>
            </a:r>
          </a:p>
        </p:txBody>
      </p:sp>
      <p:pic>
        <p:nvPicPr>
          <p:cNvPr id="10" name="Picture 9" descr=" 10">
            <a:extLst>
              <a:ext uri="{FF2B5EF4-FFF2-40B4-BE49-F238E27FC236}">
                <a16:creationId xmlns:a16="http://schemas.microsoft.com/office/drawing/2014/main" id="{BC0B196E-1EBA-CF4A-8730-05160B07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96" y="786380"/>
            <a:ext cx="2190486" cy="36161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Rectangle 10" descr=" 11">
            <a:extLst>
              <a:ext uri="{FF2B5EF4-FFF2-40B4-BE49-F238E27FC236}">
                <a16:creationId xmlns:a16="http://schemas.microsoft.com/office/drawing/2014/main" id="{EDAACFD1-3A6A-354B-BFE3-052A2BFA51D5}"/>
              </a:ext>
            </a:extLst>
          </p:cNvPr>
          <p:cNvSpPr/>
          <p:nvPr/>
        </p:nvSpPr>
        <p:spPr>
          <a:xfrm>
            <a:off x="1111640" y="3369413"/>
            <a:ext cx="1835028" cy="102113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 descr=" 7">
            <a:extLst>
              <a:ext uri="{FF2B5EF4-FFF2-40B4-BE49-F238E27FC236}">
                <a16:creationId xmlns:a16="http://schemas.microsoft.com/office/drawing/2014/main" id="{C053A24C-9ABC-BE4C-8730-E7268A0CF312}"/>
              </a:ext>
            </a:extLst>
          </p:cNvPr>
          <p:cNvSpPr txBox="1"/>
          <p:nvPr/>
        </p:nvSpPr>
        <p:spPr>
          <a:xfrm>
            <a:off x="3259787" y="3857374"/>
            <a:ext cx="1838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Arial" panose="020B0604020202020204" pitchFamily="34" charset="0"/>
              </a:rPr>
              <a:t>operators</a:t>
            </a:r>
            <a:endParaRPr lang="en-US" sz="2400" b="1" dirty="0"/>
          </a:p>
        </p:txBody>
      </p:sp>
      <p:sp>
        <p:nvSpPr>
          <p:cNvPr id="7" name="Rectangle 6" descr=" 9">
            <a:extLst>
              <a:ext uri="{FF2B5EF4-FFF2-40B4-BE49-F238E27FC236}">
                <a16:creationId xmlns:a16="http://schemas.microsoft.com/office/drawing/2014/main" id="{9F9444F7-701A-B54F-9894-C1C6DC8E8706}"/>
              </a:ext>
            </a:extLst>
          </p:cNvPr>
          <p:cNvSpPr/>
          <p:nvPr/>
        </p:nvSpPr>
        <p:spPr>
          <a:xfrm rot="18897243">
            <a:off x="4011929" y="1760740"/>
            <a:ext cx="189914" cy="18991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12">
            <a:extLst>
              <a:ext uri="{FF2B5EF4-FFF2-40B4-BE49-F238E27FC236}">
                <a16:creationId xmlns:a16="http://schemas.microsoft.com/office/drawing/2014/main" id="{3B2F3561-9CA7-B14F-A153-4367A98BCBDB}"/>
              </a:ext>
            </a:extLst>
          </p:cNvPr>
          <p:cNvSpPr txBox="1"/>
          <p:nvPr/>
        </p:nvSpPr>
        <p:spPr>
          <a:xfrm>
            <a:off x="3961800" y="1700765"/>
            <a:ext cx="378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</a:t>
            </a:r>
          </a:p>
        </p:txBody>
      </p:sp>
      <p:sp>
        <p:nvSpPr>
          <p:cNvPr id="9" name="TextBox 8" descr=" 14">
            <a:extLst>
              <a:ext uri="{FF2B5EF4-FFF2-40B4-BE49-F238E27FC236}">
                <a16:creationId xmlns:a16="http://schemas.microsoft.com/office/drawing/2014/main" id="{C59D6A1C-719C-9D4C-B97F-4AB60C369147}"/>
              </a:ext>
            </a:extLst>
          </p:cNvPr>
          <p:cNvSpPr txBox="1"/>
          <p:nvPr/>
        </p:nvSpPr>
        <p:spPr>
          <a:xfrm>
            <a:off x="3622729" y="2140911"/>
            <a:ext cx="994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Evaluate</a:t>
            </a:r>
          </a:p>
          <a:p>
            <a:pPr algn="ctr"/>
            <a:r>
              <a:rPr lang="en-US" sz="1000" dirty="0"/>
              <a:t>expressions</a:t>
            </a:r>
          </a:p>
        </p:txBody>
      </p:sp>
      <p:sp>
        <p:nvSpPr>
          <p:cNvPr id="12" name="Rectangle 11" descr=" 15">
            <a:extLst>
              <a:ext uri="{FF2B5EF4-FFF2-40B4-BE49-F238E27FC236}">
                <a16:creationId xmlns:a16="http://schemas.microsoft.com/office/drawing/2014/main" id="{B2D64705-0F3C-EC44-B5F1-2273C22A1677}"/>
              </a:ext>
            </a:extLst>
          </p:cNvPr>
          <p:cNvSpPr/>
          <p:nvPr/>
        </p:nvSpPr>
        <p:spPr>
          <a:xfrm>
            <a:off x="3782387" y="2156758"/>
            <a:ext cx="674914" cy="35387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 descr=" 17">
            <a:extLst>
              <a:ext uri="{FF2B5EF4-FFF2-40B4-BE49-F238E27FC236}">
                <a16:creationId xmlns:a16="http://schemas.microsoft.com/office/drawing/2014/main" id="{5393E810-B6BF-E142-9339-DD008EAC5A9D}"/>
              </a:ext>
            </a:extLst>
          </p:cNvPr>
          <p:cNvCxnSpPr>
            <a:cxnSpLocks/>
          </p:cNvCxnSpPr>
          <p:nvPr/>
        </p:nvCxnSpPr>
        <p:spPr>
          <a:xfrm flipH="1">
            <a:off x="4106886" y="1986876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 descr=" 24">
            <a:extLst>
              <a:ext uri="{FF2B5EF4-FFF2-40B4-BE49-F238E27FC236}">
                <a16:creationId xmlns:a16="http://schemas.microsoft.com/office/drawing/2014/main" id="{0DD14C2B-EC05-2B41-94B8-C04AE05B3B5A}"/>
              </a:ext>
            </a:extLst>
          </p:cNvPr>
          <p:cNvCxnSpPr>
            <a:cxnSpLocks/>
          </p:cNvCxnSpPr>
          <p:nvPr/>
        </p:nvCxnSpPr>
        <p:spPr>
          <a:xfrm flipH="1">
            <a:off x="4106885" y="1542693"/>
            <a:ext cx="1" cy="179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 25">
            <a:extLst>
              <a:ext uri="{FF2B5EF4-FFF2-40B4-BE49-F238E27FC236}">
                <a16:creationId xmlns:a16="http://schemas.microsoft.com/office/drawing/2014/main" id="{16F20B98-6127-774F-9961-A1574DC7DA76}"/>
              </a:ext>
            </a:extLst>
          </p:cNvPr>
          <p:cNvCxnSpPr>
            <a:cxnSpLocks/>
          </p:cNvCxnSpPr>
          <p:nvPr/>
        </p:nvCxnSpPr>
        <p:spPr>
          <a:xfrm flipH="1">
            <a:off x="4087189" y="2503932"/>
            <a:ext cx="1" cy="484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 26">
            <a:extLst>
              <a:ext uri="{FF2B5EF4-FFF2-40B4-BE49-F238E27FC236}">
                <a16:creationId xmlns:a16="http://schemas.microsoft.com/office/drawing/2014/main" id="{19B10267-1F1E-6A4A-B58E-488683DBF39F}"/>
              </a:ext>
            </a:extLst>
          </p:cNvPr>
          <p:cNvCxnSpPr>
            <a:cxnSpLocks/>
          </p:cNvCxnSpPr>
          <p:nvPr/>
        </p:nvCxnSpPr>
        <p:spPr>
          <a:xfrm>
            <a:off x="3717673" y="1854653"/>
            <a:ext cx="0" cy="788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 28">
            <a:extLst>
              <a:ext uri="{FF2B5EF4-FFF2-40B4-BE49-F238E27FC236}">
                <a16:creationId xmlns:a16="http://schemas.microsoft.com/office/drawing/2014/main" id="{28BFEC48-06D6-E648-A6DE-251054279F51}"/>
              </a:ext>
            </a:extLst>
          </p:cNvPr>
          <p:cNvCxnSpPr>
            <a:cxnSpLocks/>
          </p:cNvCxnSpPr>
          <p:nvPr/>
        </p:nvCxnSpPr>
        <p:spPr>
          <a:xfrm>
            <a:off x="3709819" y="2632401"/>
            <a:ext cx="370308" cy="10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 32">
            <a:extLst>
              <a:ext uri="{FF2B5EF4-FFF2-40B4-BE49-F238E27FC236}">
                <a16:creationId xmlns:a16="http://schemas.microsoft.com/office/drawing/2014/main" id="{C7AEB906-7530-7648-AD10-34346239A5CE}"/>
              </a:ext>
            </a:extLst>
          </p:cNvPr>
          <p:cNvCxnSpPr>
            <a:cxnSpLocks/>
          </p:cNvCxnSpPr>
          <p:nvPr/>
        </p:nvCxnSpPr>
        <p:spPr>
          <a:xfrm>
            <a:off x="3709819" y="1854653"/>
            <a:ext cx="275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 descr=" 31">
            <a:extLst>
              <a:ext uri="{FF2B5EF4-FFF2-40B4-BE49-F238E27FC236}">
                <a16:creationId xmlns:a16="http://schemas.microsoft.com/office/drawing/2014/main" id="{F34F0224-016C-1146-BC93-355FEFFC4912}"/>
              </a:ext>
            </a:extLst>
          </p:cNvPr>
          <p:cNvSpPr txBox="1"/>
          <p:nvPr/>
        </p:nvSpPr>
        <p:spPr>
          <a:xfrm>
            <a:off x="4054759" y="1886942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</a:t>
            </a:r>
          </a:p>
        </p:txBody>
      </p:sp>
      <p:sp>
        <p:nvSpPr>
          <p:cNvPr id="20" name="TextBox 19" descr=" 39">
            <a:extLst>
              <a:ext uri="{FF2B5EF4-FFF2-40B4-BE49-F238E27FC236}">
                <a16:creationId xmlns:a16="http://schemas.microsoft.com/office/drawing/2014/main" id="{CEDFEA15-68E8-AC4D-89C0-6A81B4AD989F}"/>
              </a:ext>
            </a:extLst>
          </p:cNvPr>
          <p:cNvSpPr txBox="1"/>
          <p:nvPr/>
        </p:nvSpPr>
        <p:spPr>
          <a:xfrm>
            <a:off x="3589647" y="1597196"/>
            <a:ext cx="572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</a:t>
            </a:r>
          </a:p>
        </p:txBody>
      </p:sp>
      <p:cxnSp>
        <p:nvCxnSpPr>
          <p:cNvPr id="21" name="Straight Connector 20" descr=" 41">
            <a:extLst>
              <a:ext uri="{FF2B5EF4-FFF2-40B4-BE49-F238E27FC236}">
                <a16:creationId xmlns:a16="http://schemas.microsoft.com/office/drawing/2014/main" id="{C501979B-6CC9-8847-9223-29A5DE2194F0}"/>
              </a:ext>
            </a:extLst>
          </p:cNvPr>
          <p:cNvCxnSpPr>
            <a:cxnSpLocks/>
          </p:cNvCxnSpPr>
          <p:nvPr/>
        </p:nvCxnSpPr>
        <p:spPr>
          <a:xfrm>
            <a:off x="6311444" y="1469238"/>
            <a:ext cx="1" cy="121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 descr=" 47">
            <a:extLst>
              <a:ext uri="{FF2B5EF4-FFF2-40B4-BE49-F238E27FC236}">
                <a16:creationId xmlns:a16="http://schemas.microsoft.com/office/drawing/2014/main" id="{59986867-C20C-5145-BF1D-03FD8333FCA5}"/>
              </a:ext>
            </a:extLst>
          </p:cNvPr>
          <p:cNvSpPr/>
          <p:nvPr/>
        </p:nvSpPr>
        <p:spPr>
          <a:xfrm rot="18897243">
            <a:off x="6102076" y="1652661"/>
            <a:ext cx="418482" cy="4181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 descr=" 42">
            <a:extLst>
              <a:ext uri="{FF2B5EF4-FFF2-40B4-BE49-F238E27FC236}">
                <a16:creationId xmlns:a16="http://schemas.microsoft.com/office/drawing/2014/main" id="{FE534728-AE58-6147-A456-1EBD8884EF19}"/>
              </a:ext>
            </a:extLst>
          </p:cNvPr>
          <p:cNvSpPr txBox="1"/>
          <p:nvPr/>
        </p:nvSpPr>
        <p:spPr>
          <a:xfrm>
            <a:off x="5993777" y="1725151"/>
            <a:ext cx="1134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condition</a:t>
            </a:r>
          </a:p>
        </p:txBody>
      </p:sp>
      <p:cxnSp>
        <p:nvCxnSpPr>
          <p:cNvPr id="24" name="Straight Connector 23" descr=" 51">
            <a:extLst>
              <a:ext uri="{FF2B5EF4-FFF2-40B4-BE49-F238E27FC236}">
                <a16:creationId xmlns:a16="http://schemas.microsoft.com/office/drawing/2014/main" id="{9D8D4737-AF3C-C742-B385-D029B1682E1A}"/>
              </a:ext>
            </a:extLst>
          </p:cNvPr>
          <p:cNvCxnSpPr>
            <a:cxnSpLocks/>
          </p:cNvCxnSpPr>
          <p:nvPr/>
        </p:nvCxnSpPr>
        <p:spPr>
          <a:xfrm flipV="1">
            <a:off x="6603591" y="1854489"/>
            <a:ext cx="378441" cy="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 descr=" 52">
            <a:extLst>
              <a:ext uri="{FF2B5EF4-FFF2-40B4-BE49-F238E27FC236}">
                <a16:creationId xmlns:a16="http://schemas.microsoft.com/office/drawing/2014/main" id="{D7FF4848-275A-FB48-BBEE-2171D3A00D57}"/>
              </a:ext>
            </a:extLst>
          </p:cNvPr>
          <p:cNvCxnSpPr>
            <a:cxnSpLocks/>
          </p:cNvCxnSpPr>
          <p:nvPr/>
        </p:nvCxnSpPr>
        <p:spPr>
          <a:xfrm>
            <a:off x="6302616" y="2149102"/>
            <a:ext cx="0" cy="186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 descr=" 55">
            <a:extLst>
              <a:ext uri="{FF2B5EF4-FFF2-40B4-BE49-F238E27FC236}">
                <a16:creationId xmlns:a16="http://schemas.microsoft.com/office/drawing/2014/main" id="{85719E5E-E6F9-E844-B912-DC3CCB5C2E11}"/>
              </a:ext>
            </a:extLst>
          </p:cNvPr>
          <p:cNvSpPr txBox="1"/>
          <p:nvPr/>
        </p:nvSpPr>
        <p:spPr>
          <a:xfrm>
            <a:off x="5949713" y="2343992"/>
            <a:ext cx="695357" cy="4616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block of code</a:t>
            </a:r>
          </a:p>
        </p:txBody>
      </p:sp>
      <p:sp>
        <p:nvSpPr>
          <p:cNvPr id="27" name="TextBox 26" descr=" 56">
            <a:extLst>
              <a:ext uri="{FF2B5EF4-FFF2-40B4-BE49-F238E27FC236}">
                <a16:creationId xmlns:a16="http://schemas.microsoft.com/office/drawing/2014/main" id="{0054AD9D-C3C0-0A4F-8DE4-27B443A5CE3C}"/>
              </a:ext>
            </a:extLst>
          </p:cNvPr>
          <p:cNvSpPr txBox="1"/>
          <p:nvPr/>
        </p:nvSpPr>
        <p:spPr>
          <a:xfrm>
            <a:off x="5725136" y="2103741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satisfies</a:t>
            </a:r>
          </a:p>
        </p:txBody>
      </p:sp>
      <p:sp>
        <p:nvSpPr>
          <p:cNvPr id="28" name="TextBox 27" descr=" 57">
            <a:extLst>
              <a:ext uri="{FF2B5EF4-FFF2-40B4-BE49-F238E27FC236}">
                <a16:creationId xmlns:a16="http://schemas.microsoft.com/office/drawing/2014/main" id="{1D690239-9F8C-5845-A436-A70230974D06}"/>
              </a:ext>
            </a:extLst>
          </p:cNvPr>
          <p:cNvSpPr txBox="1"/>
          <p:nvPr/>
        </p:nvSpPr>
        <p:spPr>
          <a:xfrm>
            <a:off x="6514415" y="1590140"/>
            <a:ext cx="986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 satisfies</a:t>
            </a:r>
          </a:p>
        </p:txBody>
      </p:sp>
      <p:cxnSp>
        <p:nvCxnSpPr>
          <p:cNvPr id="29" name="Straight Connector 28" descr=" 59">
            <a:extLst>
              <a:ext uri="{FF2B5EF4-FFF2-40B4-BE49-F238E27FC236}">
                <a16:creationId xmlns:a16="http://schemas.microsoft.com/office/drawing/2014/main" id="{834A8E17-AD50-C441-8EA1-D32C6971BB1E}"/>
              </a:ext>
            </a:extLst>
          </p:cNvPr>
          <p:cNvCxnSpPr>
            <a:cxnSpLocks/>
          </p:cNvCxnSpPr>
          <p:nvPr/>
        </p:nvCxnSpPr>
        <p:spPr>
          <a:xfrm>
            <a:off x="6976046" y="1847233"/>
            <a:ext cx="3839" cy="1070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 descr=" 60">
            <a:extLst>
              <a:ext uri="{FF2B5EF4-FFF2-40B4-BE49-F238E27FC236}">
                <a16:creationId xmlns:a16="http://schemas.microsoft.com/office/drawing/2014/main" id="{CD9500D5-49EE-BC47-AEAC-E5611C583A5D}"/>
              </a:ext>
            </a:extLst>
          </p:cNvPr>
          <p:cNvCxnSpPr>
            <a:cxnSpLocks/>
          </p:cNvCxnSpPr>
          <p:nvPr/>
        </p:nvCxnSpPr>
        <p:spPr>
          <a:xfrm>
            <a:off x="6296933" y="2811806"/>
            <a:ext cx="0" cy="241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 descr=" 62">
            <a:extLst>
              <a:ext uri="{FF2B5EF4-FFF2-40B4-BE49-F238E27FC236}">
                <a16:creationId xmlns:a16="http://schemas.microsoft.com/office/drawing/2014/main" id="{E8ECD0E1-E453-0B40-AEC0-6AA179A95188}"/>
              </a:ext>
            </a:extLst>
          </p:cNvPr>
          <p:cNvCxnSpPr>
            <a:cxnSpLocks/>
          </p:cNvCxnSpPr>
          <p:nvPr/>
        </p:nvCxnSpPr>
        <p:spPr>
          <a:xfrm flipH="1">
            <a:off x="6311318" y="2917948"/>
            <a:ext cx="6843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 descr=" 67">
            <a:extLst>
              <a:ext uri="{FF2B5EF4-FFF2-40B4-BE49-F238E27FC236}">
                <a16:creationId xmlns:a16="http://schemas.microsoft.com/office/drawing/2014/main" id="{DC42E7CA-47EE-6342-AB16-378BD4E7135A}"/>
              </a:ext>
            </a:extLst>
          </p:cNvPr>
          <p:cNvCxnSpPr>
            <a:cxnSpLocks/>
          </p:cNvCxnSpPr>
          <p:nvPr/>
        </p:nvCxnSpPr>
        <p:spPr>
          <a:xfrm flipH="1">
            <a:off x="5549958" y="2574824"/>
            <a:ext cx="399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 descr=" 69">
            <a:extLst>
              <a:ext uri="{FF2B5EF4-FFF2-40B4-BE49-F238E27FC236}">
                <a16:creationId xmlns:a16="http://schemas.microsoft.com/office/drawing/2014/main" id="{8C7E692C-9EE0-DF48-9033-79257A6153CF}"/>
              </a:ext>
            </a:extLst>
          </p:cNvPr>
          <p:cNvCxnSpPr>
            <a:cxnSpLocks/>
          </p:cNvCxnSpPr>
          <p:nvPr/>
        </p:nvCxnSpPr>
        <p:spPr>
          <a:xfrm>
            <a:off x="5547811" y="1861747"/>
            <a:ext cx="9757" cy="714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 descr=" 71">
            <a:extLst>
              <a:ext uri="{FF2B5EF4-FFF2-40B4-BE49-F238E27FC236}">
                <a16:creationId xmlns:a16="http://schemas.microsoft.com/office/drawing/2014/main" id="{FFCCF743-0941-7348-B288-FE6E19E0A269}"/>
              </a:ext>
            </a:extLst>
          </p:cNvPr>
          <p:cNvCxnSpPr>
            <a:cxnSpLocks/>
          </p:cNvCxnSpPr>
          <p:nvPr/>
        </p:nvCxnSpPr>
        <p:spPr>
          <a:xfrm>
            <a:off x="5546540" y="1861747"/>
            <a:ext cx="461751" cy="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 descr=" 4">
            <a:extLst>
              <a:ext uri="{FF2B5EF4-FFF2-40B4-BE49-F238E27FC236}">
                <a16:creationId xmlns:a16="http://schemas.microsoft.com/office/drawing/2014/main" id="{0C115CAC-E1B6-B640-A6AE-A3FBEC1CFF5E}"/>
              </a:ext>
            </a:extLst>
          </p:cNvPr>
          <p:cNvGrpSpPr/>
          <p:nvPr/>
        </p:nvGrpSpPr>
        <p:grpSpPr>
          <a:xfrm>
            <a:off x="4676176" y="3045908"/>
            <a:ext cx="3695362" cy="369332"/>
            <a:chOff x="4698036" y="3187164"/>
            <a:chExt cx="3695362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480051E-2019-474D-A46B-31D25FFBA310}"/>
                </a:ext>
              </a:extLst>
            </p:cNvPr>
            <p:cNvSpPr txBox="1"/>
            <p:nvPr/>
          </p:nvSpPr>
          <p:spPr>
            <a:xfrm>
              <a:off x="4698036" y="3187164"/>
              <a:ext cx="202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Control </a:t>
              </a:r>
              <a:r>
                <a:rPr lang="en-US" b="1" dirty="0"/>
                <a:t>statements</a:t>
              </a:r>
              <a:r>
                <a:rPr lang="en-US" sz="1600" b="1" dirty="0"/>
                <a:t>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F772A7-5EE9-BE4D-9E8F-CCBB459CC010}"/>
                </a:ext>
              </a:extLst>
            </p:cNvPr>
            <p:cNvSpPr txBox="1"/>
            <p:nvPr/>
          </p:nvSpPr>
          <p:spPr>
            <a:xfrm>
              <a:off x="6514415" y="3240244"/>
              <a:ext cx="1878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>
                  <a:solidFill>
                    <a:srgbClr val="FF0000"/>
                  </a:solidFill>
                </a:rPr>
                <a:t>break</a:t>
              </a:r>
              <a:r>
                <a:rPr lang="en-US" sz="1400" dirty="0"/>
                <a:t>, </a:t>
              </a:r>
              <a:r>
                <a:rPr lang="en-US" sz="1400" b="1" dirty="0">
                  <a:solidFill>
                    <a:srgbClr val="00B050"/>
                  </a:solidFill>
                </a:rPr>
                <a:t>continue</a:t>
              </a:r>
              <a:r>
                <a:rPr lang="en-US" sz="1400" dirty="0"/>
                <a:t>, </a:t>
              </a:r>
              <a:r>
                <a:rPr lang="en-US" sz="1400" b="1" dirty="0">
                  <a:solidFill>
                    <a:srgbClr val="FFFF00"/>
                  </a:solidFill>
                </a:rPr>
                <a:t>pass</a:t>
              </a:r>
            </a:p>
          </p:txBody>
        </p:sp>
      </p:grpSp>
      <p:grpSp>
        <p:nvGrpSpPr>
          <p:cNvPr id="40" name="Group 39" descr=" 2">
            <a:extLst>
              <a:ext uri="{FF2B5EF4-FFF2-40B4-BE49-F238E27FC236}">
                <a16:creationId xmlns:a16="http://schemas.microsoft.com/office/drawing/2014/main" id="{CA979F39-0FCE-8545-8EB2-B8F2B9FD811B}"/>
              </a:ext>
            </a:extLst>
          </p:cNvPr>
          <p:cNvGrpSpPr/>
          <p:nvPr/>
        </p:nvGrpSpPr>
        <p:grpSpPr>
          <a:xfrm>
            <a:off x="4958713" y="3705372"/>
            <a:ext cx="3098696" cy="837864"/>
            <a:chOff x="4958713" y="3705372"/>
            <a:chExt cx="3098696" cy="83786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2AD3F9-816A-2540-A240-C839042BA1DE}"/>
                </a:ext>
              </a:extLst>
            </p:cNvPr>
            <p:cNvSpPr txBox="1"/>
            <p:nvPr/>
          </p:nvSpPr>
          <p:spPr>
            <a:xfrm>
              <a:off x="4958713" y="3713908"/>
              <a:ext cx="2774846" cy="829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9D39C52-6039-CF49-B8F2-FA8B49756087}"/>
                </a:ext>
              </a:extLst>
            </p:cNvPr>
            <p:cNvGrpSpPr/>
            <p:nvPr/>
          </p:nvGrpSpPr>
          <p:grpSpPr>
            <a:xfrm>
              <a:off x="5068246" y="3705372"/>
              <a:ext cx="2989163" cy="798333"/>
              <a:chOff x="4293318" y="3712690"/>
              <a:chExt cx="2989163" cy="79833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2D3E6DA-D5F9-0740-9FF6-AD696EB56DDA}"/>
                  </a:ext>
                </a:extLst>
              </p:cNvPr>
              <p:cNvSpPr txBox="1"/>
              <p:nvPr/>
            </p:nvSpPr>
            <p:spPr>
              <a:xfrm>
                <a:off x="4293318" y="3712690"/>
                <a:ext cx="29891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Arithmetic operators (+, - , * , / , % , ….)</a:t>
                </a:r>
              </a:p>
              <a:p>
                <a:endParaRPr lang="en-US" sz="12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5945836-B6A7-2C40-BC4C-4D52DB9DB489}"/>
                  </a:ext>
                </a:extLst>
              </p:cNvPr>
              <p:cNvSpPr txBox="1"/>
              <p:nvPr/>
            </p:nvSpPr>
            <p:spPr>
              <a:xfrm>
                <a:off x="4293318" y="3864692"/>
                <a:ext cx="29891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Assignment operators (=, +=, -=,*=,……)</a:t>
                </a:r>
              </a:p>
              <a:p>
                <a:r>
                  <a:rPr lang="en-US" sz="1200" dirty="0"/>
                  <a:t>Comparison operators (==, !=, &gt;, &lt;,…….)</a:t>
                </a:r>
              </a:p>
              <a:p>
                <a:r>
                  <a:rPr lang="en-US" sz="1200" dirty="0"/>
                  <a:t>Logical operators (and, or, not ),…..</a:t>
                </a:r>
              </a:p>
            </p:txBody>
          </p:sp>
        </p:grpSp>
      </p:grpSp>
      <p:sp>
        <p:nvSpPr>
          <p:cNvPr id="43" name="TextBox 42" descr=" 43">
            <a:extLst>
              <a:ext uri="{FF2B5EF4-FFF2-40B4-BE49-F238E27FC236}">
                <a16:creationId xmlns:a16="http://schemas.microsoft.com/office/drawing/2014/main" id="{78FED903-18B3-CF4F-AE83-251D05F067FE}"/>
              </a:ext>
            </a:extLst>
          </p:cNvPr>
          <p:cNvSpPr txBox="1"/>
          <p:nvPr/>
        </p:nvSpPr>
        <p:spPr>
          <a:xfrm>
            <a:off x="3132480" y="423526"/>
            <a:ext cx="5643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effectLst/>
                <a:latin typeface="+mj-lt"/>
              </a:rPr>
              <a:t>Program Flow Control in Python</a:t>
            </a:r>
            <a:endParaRPr lang="en-US" sz="3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21942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3801373" y="464900"/>
            <a:ext cx="49829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Methods and Functions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1" cy="3548300"/>
            <a:chOff x="3446913" y="1026389"/>
            <a:chExt cx="2250173" cy="31689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898256"/>
            <a:ext cx="2305910" cy="110471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393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3801373" y="464900"/>
            <a:ext cx="49829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Methods and Functions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1" cy="3548300"/>
            <a:chOff x="3446913" y="1026389"/>
            <a:chExt cx="2250173" cy="31689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898256"/>
            <a:ext cx="2305910" cy="110471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2">
            <a:extLst>
              <a:ext uri="{FF2B5EF4-FFF2-40B4-BE49-F238E27FC236}">
                <a16:creationId xmlns:a16="http://schemas.microsoft.com/office/drawing/2014/main" id="{9DA26167-6B54-7944-AF42-B52FC4328D23}"/>
              </a:ext>
            </a:extLst>
          </p:cNvPr>
          <p:cNvSpPr txBox="1"/>
          <p:nvPr/>
        </p:nvSpPr>
        <p:spPr>
          <a:xfrm>
            <a:off x="3670183" y="1331669"/>
            <a:ext cx="4485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 Function </a:t>
            </a:r>
            <a:r>
              <a:rPr lang="en-US" dirty="0"/>
              <a:t>is a block of </a:t>
            </a:r>
            <a:r>
              <a:rPr lang="en-US" u="sng" dirty="0"/>
              <a:t>reusable code</a:t>
            </a:r>
            <a:r>
              <a:rPr lang="en-US" dirty="0"/>
              <a:t>, which can be called to perform certain actions (</a:t>
            </a:r>
            <a:r>
              <a:rPr lang="en-US" i="1" dirty="0">
                <a:solidFill>
                  <a:srgbClr val="FF0000"/>
                </a:solidFill>
              </a:rPr>
              <a:t>multiple times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3693701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3801373" y="464900"/>
            <a:ext cx="49829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Methods and Functions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1" cy="3548300"/>
            <a:chOff x="3446913" y="1026389"/>
            <a:chExt cx="2250173" cy="31689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898256"/>
            <a:ext cx="2305910" cy="110471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 descr=" 2">
            <a:extLst>
              <a:ext uri="{FF2B5EF4-FFF2-40B4-BE49-F238E27FC236}">
                <a16:creationId xmlns:a16="http://schemas.microsoft.com/office/drawing/2014/main" id="{9DA26167-6B54-7944-AF42-B52FC4328D23}"/>
              </a:ext>
            </a:extLst>
          </p:cNvPr>
          <p:cNvSpPr txBox="1"/>
          <p:nvPr/>
        </p:nvSpPr>
        <p:spPr>
          <a:xfrm>
            <a:off x="3670183" y="1331669"/>
            <a:ext cx="4485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 Function </a:t>
            </a:r>
            <a:r>
              <a:rPr lang="en-US" dirty="0"/>
              <a:t>is a block of </a:t>
            </a:r>
            <a:r>
              <a:rPr lang="en-US" u="sng" dirty="0"/>
              <a:t>reusable code</a:t>
            </a:r>
            <a:r>
              <a:rPr lang="en-US" dirty="0"/>
              <a:t>, which can be called to perform certain actions (</a:t>
            </a:r>
            <a:r>
              <a:rPr lang="en-US" i="1" dirty="0">
                <a:solidFill>
                  <a:srgbClr val="FF0000"/>
                </a:solidFill>
              </a:rPr>
              <a:t>multiple times</a:t>
            </a:r>
            <a:r>
              <a:rPr lang="en-US" dirty="0"/>
              <a:t>). </a:t>
            </a:r>
          </a:p>
        </p:txBody>
      </p:sp>
      <p:sp>
        <p:nvSpPr>
          <p:cNvPr id="9" name="TextBox 8" descr=" 8">
            <a:extLst>
              <a:ext uri="{FF2B5EF4-FFF2-40B4-BE49-F238E27FC236}">
                <a16:creationId xmlns:a16="http://schemas.microsoft.com/office/drawing/2014/main" id="{3FF3649E-49AD-0945-9565-9F4A94CF7239}"/>
              </a:ext>
            </a:extLst>
          </p:cNvPr>
          <p:cNvSpPr txBox="1"/>
          <p:nvPr/>
        </p:nvSpPr>
        <p:spPr>
          <a:xfrm>
            <a:off x="3885301" y="2616470"/>
            <a:ext cx="412917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Two types:</a:t>
            </a:r>
          </a:p>
          <a:p>
            <a:endParaRPr lang="en-US" dirty="0"/>
          </a:p>
          <a:p>
            <a:r>
              <a:rPr lang="en-US" dirty="0"/>
              <a:t>    Built-in functions              e.g., print ()</a:t>
            </a:r>
          </a:p>
          <a:p>
            <a:endParaRPr lang="en-US" dirty="0"/>
          </a:p>
          <a:p>
            <a:r>
              <a:rPr lang="en-US" dirty="0"/>
              <a:t>    user-defined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298628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1" cy="3548300"/>
            <a:chOff x="3446913" y="1026389"/>
            <a:chExt cx="2250173" cy="31689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1979567"/>
            <a:ext cx="2305910" cy="110471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 descr=" 9">
            <a:extLst>
              <a:ext uri="{FF2B5EF4-FFF2-40B4-BE49-F238E27FC236}">
                <a16:creationId xmlns:a16="http://schemas.microsoft.com/office/drawing/2014/main" id="{0C75FB9B-4D0B-CB42-893B-6A374366F419}"/>
              </a:ext>
            </a:extLst>
          </p:cNvPr>
          <p:cNvSpPr txBox="1"/>
          <p:nvPr/>
        </p:nvSpPr>
        <p:spPr>
          <a:xfrm>
            <a:off x="3728538" y="446901"/>
            <a:ext cx="4639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Reading and Writing files</a:t>
            </a:r>
          </a:p>
        </p:txBody>
      </p:sp>
    </p:spTree>
    <p:extLst>
      <p:ext uri="{BB962C8B-B14F-4D97-AF65-F5344CB8AC3E}">
        <p14:creationId xmlns:p14="http://schemas.microsoft.com/office/powerpoint/2010/main" val="21746310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1" cy="3548300"/>
            <a:chOff x="3446913" y="1026389"/>
            <a:chExt cx="2250173" cy="31689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1979567"/>
            <a:ext cx="2305910" cy="110471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 descr=" 9">
            <a:extLst>
              <a:ext uri="{FF2B5EF4-FFF2-40B4-BE49-F238E27FC236}">
                <a16:creationId xmlns:a16="http://schemas.microsoft.com/office/drawing/2014/main" id="{0C75FB9B-4D0B-CB42-893B-6A374366F419}"/>
              </a:ext>
            </a:extLst>
          </p:cNvPr>
          <p:cNvSpPr txBox="1"/>
          <p:nvPr/>
        </p:nvSpPr>
        <p:spPr>
          <a:xfrm>
            <a:off x="3728538" y="446901"/>
            <a:ext cx="4639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Reading and Writing files</a:t>
            </a:r>
          </a:p>
        </p:txBody>
      </p:sp>
      <p:sp>
        <p:nvSpPr>
          <p:cNvPr id="8" name="TextBox 7" descr=" 2">
            <a:extLst>
              <a:ext uri="{FF2B5EF4-FFF2-40B4-BE49-F238E27FC236}">
                <a16:creationId xmlns:a16="http://schemas.microsoft.com/office/drawing/2014/main" id="{9D7B092A-8F34-E643-A9B8-8323CF3F3316}"/>
              </a:ext>
            </a:extLst>
          </p:cNvPr>
          <p:cNvSpPr txBox="1"/>
          <p:nvPr/>
        </p:nvSpPr>
        <p:spPr>
          <a:xfrm>
            <a:off x="3714963" y="1000899"/>
            <a:ext cx="43871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While working with computers, users interact with computer by giving some inputs and obtaining results.</a:t>
            </a:r>
          </a:p>
          <a:p>
            <a:endParaRPr lang="en-US" sz="1600" dirty="0"/>
          </a:p>
          <a:p>
            <a:pPr algn="ctr"/>
            <a:r>
              <a:rPr lang="en-US" dirty="0">
                <a:solidFill>
                  <a:srgbClr val="00B050"/>
                </a:solidFill>
              </a:rPr>
              <a:t>In this course, we will cover how to read data from files, and write to files  </a:t>
            </a:r>
          </a:p>
        </p:txBody>
      </p:sp>
    </p:spTree>
    <p:extLst>
      <p:ext uri="{BB962C8B-B14F-4D97-AF65-F5344CB8AC3E}">
        <p14:creationId xmlns:p14="http://schemas.microsoft.com/office/powerpoint/2010/main" val="35042870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1" cy="3548300"/>
            <a:chOff x="3446913" y="1026389"/>
            <a:chExt cx="2250173" cy="31689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7807" y="3318164"/>
              <a:ext cx="2249279" cy="87716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1979567"/>
            <a:ext cx="2305910" cy="110471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 descr=" 9">
            <a:extLst>
              <a:ext uri="{FF2B5EF4-FFF2-40B4-BE49-F238E27FC236}">
                <a16:creationId xmlns:a16="http://schemas.microsoft.com/office/drawing/2014/main" id="{0C75FB9B-4D0B-CB42-893B-6A374366F419}"/>
              </a:ext>
            </a:extLst>
          </p:cNvPr>
          <p:cNvSpPr txBox="1"/>
          <p:nvPr/>
        </p:nvSpPr>
        <p:spPr>
          <a:xfrm>
            <a:off x="3728538" y="446901"/>
            <a:ext cx="4639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Reading and Writing files</a:t>
            </a:r>
          </a:p>
        </p:txBody>
      </p:sp>
      <p:sp>
        <p:nvSpPr>
          <p:cNvPr id="8" name="TextBox 7" descr=" 2">
            <a:extLst>
              <a:ext uri="{FF2B5EF4-FFF2-40B4-BE49-F238E27FC236}">
                <a16:creationId xmlns:a16="http://schemas.microsoft.com/office/drawing/2014/main" id="{9D7B092A-8F34-E643-A9B8-8323CF3F3316}"/>
              </a:ext>
            </a:extLst>
          </p:cNvPr>
          <p:cNvSpPr txBox="1"/>
          <p:nvPr/>
        </p:nvSpPr>
        <p:spPr>
          <a:xfrm>
            <a:off x="3714963" y="1000899"/>
            <a:ext cx="43871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While working with computers, users interact with computer by giving some inputs and obtaining results.</a:t>
            </a:r>
          </a:p>
          <a:p>
            <a:endParaRPr lang="en-US" sz="1600" dirty="0"/>
          </a:p>
          <a:p>
            <a:pPr algn="ctr"/>
            <a:r>
              <a:rPr lang="en-US" dirty="0">
                <a:solidFill>
                  <a:srgbClr val="00B050"/>
                </a:solidFill>
              </a:rPr>
              <a:t>In this course, we will cover how to read data from files, and write to files  </a:t>
            </a:r>
          </a:p>
        </p:txBody>
      </p:sp>
      <p:sp>
        <p:nvSpPr>
          <p:cNvPr id="10" name="TextBox 9" descr=" 8">
            <a:extLst>
              <a:ext uri="{FF2B5EF4-FFF2-40B4-BE49-F238E27FC236}">
                <a16:creationId xmlns:a16="http://schemas.microsoft.com/office/drawing/2014/main" id="{FC57EA11-0B68-8F41-8162-C4BC69321478}"/>
              </a:ext>
            </a:extLst>
          </p:cNvPr>
          <p:cNvSpPr txBox="1"/>
          <p:nvPr/>
        </p:nvSpPr>
        <p:spPr>
          <a:xfrm>
            <a:off x="3728538" y="2734115"/>
            <a:ext cx="4502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Moreover, we will work with data formatted in CSV (comma-separated values) or JSON (JavaScript object notation), </a:t>
            </a:r>
          </a:p>
          <a:p>
            <a:endParaRPr lang="en-US" dirty="0"/>
          </a:p>
          <a:p>
            <a:r>
              <a:rPr lang="en-US" dirty="0"/>
              <a:t>two common formats that </a:t>
            </a:r>
            <a:r>
              <a:rPr lang="en-US" u="sng" dirty="0"/>
              <a:t>modules in Python’s standard library handles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992677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4082082" y="422274"/>
            <a:ext cx="4239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Modules and Import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2" cy="3443292"/>
            <a:chOff x="3446913" y="1026389"/>
            <a:chExt cx="2250173" cy="3075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6913" y="3318164"/>
              <a:ext cx="2250173" cy="7833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3075393"/>
            <a:ext cx="2305910" cy="124260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06D360E-5CE5-BD4E-9E1D-4BD13BB485AC}"/>
              </a:ext>
            </a:extLst>
          </p:cNvPr>
          <p:cNvSpPr txBox="1"/>
          <p:nvPr/>
        </p:nvSpPr>
        <p:spPr>
          <a:xfrm>
            <a:off x="3527557" y="915904"/>
            <a:ext cx="50590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</a:t>
            </a:r>
            <a:r>
              <a:rPr lang="en-US" sz="1400" i="1" u="sng"/>
              <a:t>                           </a:t>
            </a:r>
            <a:br>
              <a:rPr lang="en-US" sz="1400" i="1" u="sng"/>
            </a:br>
            <a:r>
              <a:rPr lang="en-US" sz="1400" i="1" u="sng"/>
              <a:t>                 </a:t>
            </a:r>
            <a:r>
              <a:rPr lang="en-US" sz="1400"/>
              <a:t>          </a:t>
            </a:r>
            <a:r>
              <a:rPr lang="en-US" sz="1400" i="1">
                <a:solidFill>
                  <a:srgbClr val="FF0000"/>
                </a:solidFill>
              </a:rPr>
              <a:t>         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</a:t>
            </a:r>
            <a:r>
              <a:rPr lang="en-US" sz="1400" u="sng"/>
              <a:t>                 </a:t>
            </a:r>
            <a:endParaRPr lang="en-US" sz="1400" u="sng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 u="sng"/>
              <a:t>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 i="1"/>
              <a:t>                                           </a:t>
            </a: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>
                <a:hlinkClick r:id="rId3"/>
              </a:rPr>
              <a:t>               </a:t>
            </a:r>
            <a:r>
              <a:rPr lang="en-US" sz="1400"/>
              <a:t>                          </a:t>
            </a:r>
            <a:r>
              <a:rPr lang="en-US" sz="1400" i="1"/>
              <a:t>      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6345976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4082082" y="422274"/>
            <a:ext cx="4239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Modules and Import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2" cy="3443292"/>
            <a:chOff x="3446913" y="1026389"/>
            <a:chExt cx="2250173" cy="3075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6913" y="3318164"/>
              <a:ext cx="2250173" cy="7833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3075393"/>
            <a:ext cx="2305910" cy="124260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06D360E-5CE5-BD4E-9E1D-4BD13BB485AC}"/>
              </a:ext>
            </a:extLst>
          </p:cNvPr>
          <p:cNvSpPr txBox="1"/>
          <p:nvPr/>
        </p:nvSpPr>
        <p:spPr>
          <a:xfrm>
            <a:off x="3527557" y="915904"/>
            <a:ext cx="50590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modules/libraries are similar to functions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</a:t>
            </a:r>
            <a:r>
              <a:rPr lang="en-US" sz="1400" i="1" u="sng"/>
              <a:t>                           </a:t>
            </a:r>
            <a:br>
              <a:rPr lang="en-US" sz="1400" i="1" u="sng"/>
            </a:br>
            <a:r>
              <a:rPr lang="en-US" sz="1400" i="1" u="sng"/>
              <a:t>                 </a:t>
            </a:r>
            <a:r>
              <a:rPr lang="en-US" sz="1400"/>
              <a:t>          </a:t>
            </a:r>
            <a:r>
              <a:rPr lang="en-US" sz="1400" i="1">
                <a:solidFill>
                  <a:srgbClr val="FF0000"/>
                </a:solidFill>
              </a:rPr>
              <a:t>         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</a:t>
            </a:r>
            <a:r>
              <a:rPr lang="en-US" sz="1400" u="sng"/>
              <a:t>                 </a:t>
            </a:r>
            <a:endParaRPr lang="en-US" sz="1400" u="sng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 u="sng"/>
              <a:t>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 i="1"/>
              <a:t>                                           </a:t>
            </a: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>
                <a:hlinkClick r:id="rId3"/>
              </a:rPr>
              <a:t>               </a:t>
            </a:r>
            <a:r>
              <a:rPr lang="en-US" sz="1400"/>
              <a:t>                          </a:t>
            </a:r>
            <a:r>
              <a:rPr lang="en-US" sz="1400" i="1"/>
              <a:t>      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5918484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4082082" y="422274"/>
            <a:ext cx="4239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Modules and Import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2" cy="3443292"/>
            <a:chOff x="3446913" y="1026389"/>
            <a:chExt cx="2250173" cy="3075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6913" y="3318164"/>
              <a:ext cx="2250173" cy="7833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3075393"/>
            <a:ext cx="2305910" cy="124260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06D360E-5CE5-BD4E-9E1D-4BD13BB485AC}"/>
              </a:ext>
            </a:extLst>
          </p:cNvPr>
          <p:cNvSpPr txBox="1"/>
          <p:nvPr/>
        </p:nvSpPr>
        <p:spPr>
          <a:xfrm>
            <a:off x="3527557" y="915904"/>
            <a:ext cx="50590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modules/libraries are similar to functions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Functions are useful if one needs to rereat set of actions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within same program.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</a:t>
            </a:r>
            <a:r>
              <a:rPr lang="en-US" sz="1400" i="1" u="sng"/>
              <a:t>                           </a:t>
            </a:r>
            <a:br>
              <a:rPr lang="en-US" sz="1400" i="1" u="sng"/>
            </a:br>
            <a:r>
              <a:rPr lang="en-US" sz="1400" i="1" u="sng"/>
              <a:t>                 </a:t>
            </a:r>
            <a:r>
              <a:rPr lang="en-US" sz="1400"/>
              <a:t>          </a:t>
            </a:r>
            <a:r>
              <a:rPr lang="en-US" sz="1400" i="1">
                <a:solidFill>
                  <a:srgbClr val="FF0000"/>
                </a:solidFill>
              </a:rPr>
              <a:t>         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</a:t>
            </a:r>
            <a:r>
              <a:rPr lang="en-US" sz="1400" u="sng"/>
              <a:t>                 </a:t>
            </a:r>
            <a:endParaRPr lang="en-US" sz="1400" u="sng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 u="sng"/>
              <a:t>                 </a:t>
            </a:r>
            <a:r>
              <a:rPr lang="en-US" sz="1400"/>
              <a:t>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 i="1"/>
              <a:t>                                           </a:t>
            </a: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>
                <a:hlinkClick r:id="rId3"/>
              </a:rPr>
              <a:t>               </a:t>
            </a:r>
            <a:r>
              <a:rPr lang="en-US" sz="1400"/>
              <a:t>                          </a:t>
            </a:r>
            <a:r>
              <a:rPr lang="en-US" sz="1400" i="1"/>
              <a:t>      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889200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4082082" y="422274"/>
            <a:ext cx="4239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Modules and Import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2" cy="3443292"/>
            <a:chOff x="3446913" y="1026389"/>
            <a:chExt cx="2250173" cy="3075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6913" y="3318164"/>
              <a:ext cx="2250173" cy="7833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3075393"/>
            <a:ext cx="2305910" cy="124260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06D360E-5CE5-BD4E-9E1D-4BD13BB485AC}"/>
              </a:ext>
            </a:extLst>
          </p:cNvPr>
          <p:cNvSpPr txBox="1"/>
          <p:nvPr/>
        </p:nvSpPr>
        <p:spPr>
          <a:xfrm>
            <a:off x="3527557" y="915904"/>
            <a:ext cx="50590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modules/libraries are similar to functions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Functions are useful if one needs to rereat set of actions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within same program.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However, if one would like to </a:t>
            </a:r>
            <a:r>
              <a:rPr kumimoji="0" lang="en-US" sz="1400" i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use same set of actions in multiple programs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one can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create a dedicated library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which can be accessed by all programs, and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python it is 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termed as Modules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 i="1"/>
              <a:t>                                           </a:t>
            </a:r>
            <a:r>
              <a:rPr lang="en-US" sz="1400"/>
              <a:t>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>
                <a:hlinkClick r:id="rId3"/>
              </a:rPr>
              <a:t>               </a:t>
            </a:r>
            <a:r>
              <a:rPr lang="en-US" sz="1400"/>
              <a:t>                          </a:t>
            </a:r>
            <a:r>
              <a:rPr lang="en-US" sz="1400" i="1"/>
              <a:t>      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8633022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4082082" y="422274"/>
            <a:ext cx="4239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Modules and Import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2" cy="3443292"/>
            <a:chOff x="3446913" y="1026389"/>
            <a:chExt cx="2250173" cy="3075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6913" y="3318164"/>
              <a:ext cx="2250173" cy="7833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3075393"/>
            <a:ext cx="2305910" cy="124260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06D360E-5CE5-BD4E-9E1D-4BD13BB485AC}"/>
              </a:ext>
            </a:extLst>
          </p:cNvPr>
          <p:cNvSpPr txBox="1"/>
          <p:nvPr/>
        </p:nvSpPr>
        <p:spPr>
          <a:xfrm>
            <a:off x="3527557" y="915904"/>
            <a:ext cx="50590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modules/libraries are similar to functions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Functions are useful if one needs to rereat set of actions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within same program.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However, if one would like to </a:t>
            </a:r>
            <a:r>
              <a:rPr kumimoji="0" lang="en-US" sz="1400" i="1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use same set of actions in multiple programs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one can </a:t>
            </a: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create a dedicated library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which can be accessed by all programs, and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python it is 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</a:t>
            </a:r>
            <a:r>
              <a:rPr kumimoji="0" lang="en-US" sz="1400" u="sng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termed as Modules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i="1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comes with a large number of modules</a:t>
            </a: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and has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several advantages, which will be discussed in dedicated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lecture on modules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 "/>
            </a:pPr>
            <a:r>
              <a:rPr lang="en-US" sz="1400"/>
              <a:t>     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                                          </a:t>
            </a:r>
            <a:endParaRPr lang="en-US" sz="1400" dirty="0"/>
          </a:p>
          <a:p>
            <a:pPr marL="285750" indent="-285750">
              <a:buClr>
                <a:srgbClr val="00B050"/>
              </a:buClr>
              <a:buChar char=" "/>
            </a:pPr>
            <a:r>
              <a:rPr lang="en-US" sz="1400"/>
              <a:t>       </a:t>
            </a:r>
            <a:r>
              <a:rPr lang="en-US" sz="1400">
                <a:hlinkClick r:id="rId3"/>
              </a:rPr>
              <a:t>               </a:t>
            </a:r>
            <a:r>
              <a:rPr lang="en-US" sz="1400"/>
              <a:t>                          </a:t>
            </a:r>
            <a:r>
              <a:rPr lang="en-US" sz="1400" i="1"/>
              <a:t>      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1470700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 descr=" 12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4082082" y="422274"/>
            <a:ext cx="4239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Modules and Import</a:t>
            </a:r>
          </a:p>
        </p:txBody>
      </p:sp>
      <p:grpSp>
        <p:nvGrpSpPr>
          <p:cNvPr id="4" name="Group 3" descr=" 4">
            <a:extLst>
              <a:ext uri="{FF2B5EF4-FFF2-40B4-BE49-F238E27FC236}">
                <a16:creationId xmlns:a16="http://schemas.microsoft.com/office/drawing/2014/main" id="{BBBEB01F-9AC1-A14A-9F9B-9DDD95AE9C9F}"/>
              </a:ext>
            </a:extLst>
          </p:cNvPr>
          <p:cNvGrpSpPr/>
          <p:nvPr/>
        </p:nvGrpSpPr>
        <p:grpSpPr>
          <a:xfrm>
            <a:off x="1041851" y="871300"/>
            <a:ext cx="2506892" cy="3443292"/>
            <a:chOff x="3446913" y="1026389"/>
            <a:chExt cx="2250173" cy="30751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0D1C5-7D84-9E48-800F-85DAD961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913" y="1026389"/>
              <a:ext cx="2250173" cy="231255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E180C-1A35-BD44-AFA6-DE6B0E61C68B}"/>
                </a:ext>
              </a:extLst>
            </p:cNvPr>
            <p:cNvSpPr txBox="1"/>
            <p:nvPr/>
          </p:nvSpPr>
          <p:spPr>
            <a:xfrm>
              <a:off x="3446913" y="3318164"/>
              <a:ext cx="2250173" cy="7833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                    </a:t>
              </a:r>
              <a:r>
                <a:rPr lang="en-US" sz="1000" dirty="0">
                  <a:solidFill>
                    <a:schemeClr val="bg1"/>
                  </a:solidFill>
                </a:rPr>
                <a:t>Datetime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Math and Random module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Generators and decorators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NumPy, Pandas, Matplotlib     </a:t>
              </a:r>
            </a:p>
            <a:p>
              <a:r>
                <a:rPr lang="en-US" sz="1000" dirty="0">
                  <a:solidFill>
                    <a:schemeClr val="bg1"/>
                  </a:solidFill>
                </a:rPr>
                <a:t>                      (basic uses)</a:t>
              </a:r>
            </a:p>
          </p:txBody>
        </p:sp>
      </p:grpSp>
      <p:sp>
        <p:nvSpPr>
          <p:cNvPr id="7" name="Rectangle 6" descr=" 7">
            <a:extLst>
              <a:ext uri="{FF2B5EF4-FFF2-40B4-BE49-F238E27FC236}">
                <a16:creationId xmlns:a16="http://schemas.microsoft.com/office/drawing/2014/main" id="{5C699EDB-A51E-F34F-9C61-D465164A6E64}"/>
              </a:ext>
            </a:extLst>
          </p:cNvPr>
          <p:cNvSpPr/>
          <p:nvPr/>
        </p:nvSpPr>
        <p:spPr>
          <a:xfrm>
            <a:off x="1221647" y="3075393"/>
            <a:ext cx="2305910" cy="124260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 descr=" 2">
            <a:extLst>
              <a:ext uri="{FF2B5EF4-FFF2-40B4-BE49-F238E27FC236}">
                <a16:creationId xmlns:a16="http://schemas.microsoft.com/office/drawing/2014/main" id="{906D360E-5CE5-BD4E-9E1D-4BD13BB485AC}"/>
              </a:ext>
            </a:extLst>
          </p:cNvPr>
          <p:cNvSpPr txBox="1"/>
          <p:nvPr/>
        </p:nvSpPr>
        <p:spPr>
          <a:xfrm>
            <a:off x="3527557" y="915904"/>
            <a:ext cx="50590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modules/libraries are similar to functions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Functions are useful if one needs to </a:t>
            </a:r>
            <a:r>
              <a:rPr kumimoji="0" lang="en-US" sz="1400" strike="noStrike" kern="1200" cap="none" spc="0" normalizeH="0" noProof="0" dirty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rereat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set of actions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within same program.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However, if one would like to </a:t>
            </a:r>
            <a:r>
              <a:rPr kumimoji="0" lang="en-US" sz="1400" i="1" u="sng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use same set of actions in multiple programs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one can </a:t>
            </a:r>
            <a:r>
              <a:rPr kumimoji="0" lang="en-US" sz="1400" i="1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create a dedicated library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which can be accessed by all programs, and </a:t>
            </a:r>
            <a:r>
              <a:rPr kumimoji="0" lang="en-US" sz="1400" u="sng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python it is 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</a:t>
            </a:r>
            <a:r>
              <a:rPr kumimoji="0" lang="en-US" sz="1400" u="sng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termed as Modules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 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i="1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Python comes with a large number of modules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and has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several advantages, which will be discussed in dedicated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lecture on modules</a:t>
            </a:r>
          </a:p>
          <a:p>
            <a:pPr marL="285750" indent="-285750">
              <a:buClr>
                <a:srgbClr val="00B050"/>
              </a:buClr>
            </a:pPr>
            <a:endParaRPr lang="en-US" sz="1400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Apart from Python standard library, a large number of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modules available on Python package index </a:t>
            </a:r>
          </a:p>
          <a:p>
            <a:pPr marL="285750" indent="-285750">
              <a:buClr>
                <a:srgbClr val="00B050"/>
              </a:buClr>
            </a:pP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(https://</a:t>
            </a:r>
            <a:r>
              <a:rPr kumimoji="0" lang="en-US" sz="1400" strike="noStrike" kern="1200" cap="none" spc="0" normalizeH="0" noProof="0" dirty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</a:t>
            </a:r>
            <a:r>
              <a:rPr kumimoji="0" lang="en-US" sz="1400" u="sng" strike="noStrike" kern="1200" cap="none" spc="0" normalizeH="0" noProof="0" dirty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pi.org</a:t>
            </a:r>
            <a:r>
              <a:rPr kumimoji="0" lang="en-US" sz="1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), can be accessed using </a:t>
            </a:r>
            <a:r>
              <a:rPr kumimoji="0" lang="en-US" sz="1400" i="1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import</a:t>
            </a:r>
            <a:endParaRPr lang="en-US" sz="1400" i="1" dirty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5131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3EB3F-0B2D-6A4E-AA46-1840027EBCDB}"/>
              </a:ext>
            </a:extLst>
          </p:cNvPr>
          <p:cNvSpPr txBox="1"/>
          <p:nvPr/>
        </p:nvSpPr>
        <p:spPr>
          <a:xfrm>
            <a:off x="2265346" y="466897"/>
            <a:ext cx="60831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Object Oriented Programming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8875192-E5CC-FD41-9374-438BC0D3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905" y="1610683"/>
            <a:ext cx="2435180" cy="1385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245121-FE2D-7048-909E-4B7B86940B6E}"/>
              </a:ext>
            </a:extLst>
          </p:cNvPr>
          <p:cNvSpPr/>
          <p:nvPr/>
        </p:nvSpPr>
        <p:spPr>
          <a:xfrm>
            <a:off x="1632540" y="1695250"/>
            <a:ext cx="2305910" cy="71370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CD24E0-1A92-D041-844F-9B9E72CB43C7}"/>
              </a:ext>
            </a:extLst>
          </p:cNvPr>
          <p:cNvSpPr txBox="1"/>
          <p:nvPr/>
        </p:nvSpPr>
        <p:spPr>
          <a:xfrm>
            <a:off x="4608562" y="1630560"/>
            <a:ext cx="33256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This is a bit advanced topic. In the framework of this course, We will learn the basic concepts following the simple implementation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B8249D-1FEB-2644-B72C-A4BBE4D570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38450" y="2052103"/>
            <a:ext cx="633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491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C3FEA978-09B6-954F-AFEA-CD1E15841F09}"/>
              </a:ext>
            </a:extLst>
          </p:cNvPr>
          <p:cNvSpPr txBox="1"/>
          <p:nvPr/>
        </p:nvSpPr>
        <p:spPr>
          <a:xfrm>
            <a:off x="2444333" y="443039"/>
            <a:ext cx="4086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Python scope and setup </a:t>
            </a:r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6826A492-209B-0544-BECF-417A172BD0D9}"/>
              </a:ext>
            </a:extLst>
          </p:cNvPr>
          <p:cNvSpPr txBox="1"/>
          <p:nvPr/>
        </p:nvSpPr>
        <p:spPr>
          <a:xfrm>
            <a:off x="1016866" y="958532"/>
            <a:ext cx="72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several editors/IDS (</a:t>
            </a:r>
            <a:r>
              <a:rPr lang="en-US" sz="1200" b="1" dirty="0">
                <a:solidFill>
                  <a:srgbClr val="FF0000"/>
                </a:solidFill>
              </a:rPr>
              <a:t>I</a:t>
            </a:r>
            <a:r>
              <a:rPr lang="en-US" sz="1200" dirty="0"/>
              <a:t>ntegrated </a:t>
            </a:r>
            <a:r>
              <a:rPr lang="en-US" sz="1200" b="1" dirty="0">
                <a:solidFill>
                  <a:srgbClr val="FF0000"/>
                </a:solidFill>
              </a:rPr>
              <a:t>D</a:t>
            </a:r>
            <a:r>
              <a:rPr lang="en-US" sz="1200" dirty="0"/>
              <a:t>evelopment </a:t>
            </a:r>
            <a:r>
              <a:rPr lang="en-US" sz="1200" b="1" dirty="0">
                <a:solidFill>
                  <a:srgbClr val="FF0000"/>
                </a:solidFill>
              </a:rPr>
              <a:t>E</a:t>
            </a:r>
            <a:r>
              <a:rPr lang="en-US" sz="1200" dirty="0"/>
              <a:t>nvironment</a:t>
            </a:r>
            <a:r>
              <a:rPr lang="en-US" dirty="0"/>
              <a:t>)/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13769063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F945F8D3-45D7-9344-B416-CD8E1223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C3FEA978-09B6-954F-AFEA-CD1E15841F09}"/>
              </a:ext>
            </a:extLst>
          </p:cNvPr>
          <p:cNvSpPr txBox="1"/>
          <p:nvPr/>
        </p:nvSpPr>
        <p:spPr>
          <a:xfrm>
            <a:off x="2444333" y="443039"/>
            <a:ext cx="4086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Python scope and setup </a:t>
            </a:r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6826A492-209B-0544-BECF-417A172BD0D9}"/>
              </a:ext>
            </a:extLst>
          </p:cNvPr>
          <p:cNvSpPr txBox="1"/>
          <p:nvPr/>
        </p:nvSpPr>
        <p:spPr>
          <a:xfrm>
            <a:off x="1016866" y="958532"/>
            <a:ext cx="72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several editors/IDS (</a:t>
            </a:r>
            <a:r>
              <a:rPr lang="en-US" sz="1200" b="1" dirty="0">
                <a:solidFill>
                  <a:srgbClr val="FF0000"/>
                </a:solidFill>
              </a:rPr>
              <a:t>I</a:t>
            </a:r>
            <a:r>
              <a:rPr lang="en-US" sz="1200" dirty="0"/>
              <a:t>ntegrated </a:t>
            </a:r>
            <a:r>
              <a:rPr lang="en-US" sz="1200" b="1" dirty="0">
                <a:solidFill>
                  <a:srgbClr val="FF0000"/>
                </a:solidFill>
              </a:rPr>
              <a:t>D</a:t>
            </a:r>
            <a:r>
              <a:rPr lang="en-US" sz="1200" dirty="0"/>
              <a:t>evelopment </a:t>
            </a:r>
            <a:r>
              <a:rPr lang="en-US" sz="1200" b="1" dirty="0">
                <a:solidFill>
                  <a:srgbClr val="FF0000"/>
                </a:solidFill>
              </a:rPr>
              <a:t>E</a:t>
            </a:r>
            <a:r>
              <a:rPr lang="en-US" sz="1200" dirty="0"/>
              <a:t>nvironment</a:t>
            </a:r>
            <a:r>
              <a:rPr lang="en-US" dirty="0"/>
              <a:t>)/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pic>
        <p:nvPicPr>
          <p:cNvPr id="16" name="Picture 15" descr=" 21">
            <a:extLst>
              <a:ext uri="{FF2B5EF4-FFF2-40B4-BE49-F238E27FC236}">
                <a16:creationId xmlns:a16="http://schemas.microsoft.com/office/drawing/2014/main" id="{73847991-EC06-504A-8A2B-E7A6011B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766" y="1751690"/>
            <a:ext cx="954628" cy="86317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 descr=" 22">
            <a:extLst>
              <a:ext uri="{FF2B5EF4-FFF2-40B4-BE49-F238E27FC236}">
                <a16:creationId xmlns:a16="http://schemas.microsoft.com/office/drawing/2014/main" id="{9FC2B1DA-D57E-8A47-B566-07D51C728069}"/>
              </a:ext>
            </a:extLst>
          </p:cNvPr>
          <p:cNvSpPr txBox="1"/>
          <p:nvPr/>
        </p:nvSpPr>
        <p:spPr>
          <a:xfrm>
            <a:off x="2572969" y="1415468"/>
            <a:ext cx="145090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Visual studio</a:t>
            </a:r>
          </a:p>
        </p:txBody>
      </p:sp>
      <p:pic>
        <p:nvPicPr>
          <p:cNvPr id="19" name="Picture 18" descr=" 24">
            <a:extLst>
              <a:ext uri="{FF2B5EF4-FFF2-40B4-BE49-F238E27FC236}">
                <a16:creationId xmlns:a16="http://schemas.microsoft.com/office/drawing/2014/main" id="{A4D871E3-9FAE-F046-86BD-A289A89FB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736" y="3234045"/>
            <a:ext cx="989922" cy="876821"/>
          </a:xfrm>
          <a:prstGeom prst="rect">
            <a:avLst/>
          </a:prstGeom>
        </p:spPr>
      </p:pic>
      <p:sp>
        <p:nvSpPr>
          <p:cNvPr id="20" name="TextBox 19" descr=" 25">
            <a:extLst>
              <a:ext uri="{FF2B5EF4-FFF2-40B4-BE49-F238E27FC236}">
                <a16:creationId xmlns:a16="http://schemas.microsoft.com/office/drawing/2014/main" id="{B946FFC4-F127-804A-A1C8-1902EA39D580}"/>
              </a:ext>
            </a:extLst>
          </p:cNvPr>
          <p:cNvSpPr txBox="1"/>
          <p:nvPr/>
        </p:nvSpPr>
        <p:spPr>
          <a:xfrm>
            <a:off x="4023874" y="2978354"/>
            <a:ext cx="1027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PyCharm</a:t>
            </a:r>
            <a:endParaRPr lang="en-US" sz="1200" b="1" dirty="0">
              <a:solidFill>
                <a:srgbClr val="FF0000"/>
              </a:solidFill>
            </a:endParaRPr>
          </a:p>
        </p:txBody>
      </p:sp>
      <p:grpSp>
        <p:nvGrpSpPr>
          <p:cNvPr id="5" name="Group 4" descr=" 5">
            <a:extLst>
              <a:ext uri="{FF2B5EF4-FFF2-40B4-BE49-F238E27FC236}">
                <a16:creationId xmlns:a16="http://schemas.microsoft.com/office/drawing/2014/main" id="{5F9E0183-9F4B-624B-8569-A2647FDCE9A8}"/>
              </a:ext>
            </a:extLst>
          </p:cNvPr>
          <p:cNvGrpSpPr/>
          <p:nvPr/>
        </p:nvGrpSpPr>
        <p:grpSpPr>
          <a:xfrm>
            <a:off x="1245196" y="1470134"/>
            <a:ext cx="4300058" cy="2668215"/>
            <a:chOff x="1245196" y="1470134"/>
            <a:chExt cx="4300058" cy="26682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A8189F-71EE-D344-82F2-229DCAE50CE3}"/>
                </a:ext>
              </a:extLst>
            </p:cNvPr>
            <p:cNvSpPr txBox="1"/>
            <p:nvPr/>
          </p:nvSpPr>
          <p:spPr>
            <a:xfrm>
              <a:off x="1315493" y="2178740"/>
              <a:ext cx="2317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editor with light </a:t>
              </a:r>
            </a:p>
            <a:p>
              <a:r>
                <a:rPr lang="en-US" sz="1000" dirty="0"/>
                <a:t>weight environment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893317-4BCA-6548-B5AD-E42C0DD63596}"/>
                </a:ext>
              </a:extLst>
            </p:cNvPr>
            <p:cNvGrpSpPr/>
            <p:nvPr/>
          </p:nvGrpSpPr>
          <p:grpSpPr>
            <a:xfrm>
              <a:off x="1261344" y="1748666"/>
              <a:ext cx="1272427" cy="860280"/>
              <a:chOff x="1191879" y="1944933"/>
              <a:chExt cx="1272427" cy="86028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112EDA-81FC-0648-A294-57EC4CB5E38A}"/>
                  </a:ext>
                </a:extLst>
              </p:cNvPr>
              <p:cNvSpPr txBox="1"/>
              <p:nvPr/>
            </p:nvSpPr>
            <p:spPr>
              <a:xfrm>
                <a:off x="1332563" y="2003819"/>
                <a:ext cx="1019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&gt;&gt;&gt;IDLE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B8E7637-EDA8-8F41-BB56-5DC6F59D7D39}"/>
                  </a:ext>
                </a:extLst>
              </p:cNvPr>
              <p:cNvSpPr/>
              <p:nvPr/>
            </p:nvSpPr>
            <p:spPr>
              <a:xfrm>
                <a:off x="1191879" y="1944933"/>
                <a:ext cx="1272427" cy="860280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FCC8A17-5B99-8B48-9196-4ADFDAC34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5196" y="3270472"/>
              <a:ext cx="1083454" cy="867877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48A1BB-8105-274C-8F96-AE50607E1F95}"/>
                </a:ext>
              </a:extLst>
            </p:cNvPr>
            <p:cNvSpPr txBox="1"/>
            <p:nvPr/>
          </p:nvSpPr>
          <p:spPr>
            <a:xfrm>
              <a:off x="1535949" y="2967896"/>
              <a:ext cx="8447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ATOM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959769-35E1-1E40-9103-9E14116C2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2805" y="1738046"/>
              <a:ext cx="876822" cy="8768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83C7F0-F0FE-FD4A-A9D7-ECC5AD5B2931}"/>
                </a:ext>
              </a:extLst>
            </p:cNvPr>
            <p:cNvSpPr txBox="1"/>
            <p:nvPr/>
          </p:nvSpPr>
          <p:spPr>
            <a:xfrm>
              <a:off x="3930582" y="1470134"/>
              <a:ext cx="1614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Sublime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9EC4F3-DBFB-0447-A347-8B369ECD2348}"/>
                </a:ext>
              </a:extLst>
            </p:cNvPr>
            <p:cNvSpPr txBox="1"/>
            <p:nvPr/>
          </p:nvSpPr>
          <p:spPr>
            <a:xfrm>
              <a:off x="4787816" y="1656620"/>
              <a:ext cx="15657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Text</a:t>
              </a:r>
            </a:p>
          </p:txBody>
        </p:sp>
      </p:grpSp>
      <p:sp>
        <p:nvSpPr>
          <p:cNvPr id="21" name="TextBox 20" descr=" 27">
            <a:extLst>
              <a:ext uri="{FF2B5EF4-FFF2-40B4-BE49-F238E27FC236}">
                <a16:creationId xmlns:a16="http://schemas.microsoft.com/office/drawing/2014/main" id="{681BE65D-1350-1C41-B6F2-2CC3C493BD0A}"/>
              </a:ext>
            </a:extLst>
          </p:cNvPr>
          <p:cNvSpPr txBox="1"/>
          <p:nvPr/>
        </p:nvSpPr>
        <p:spPr>
          <a:xfrm>
            <a:off x="3841639" y="4106703"/>
            <a:ext cx="1307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Python </a:t>
            </a:r>
            <a:r>
              <a:rPr lang="en-US" sz="1600" dirty="0">
                <a:solidFill>
                  <a:srgbClr val="FF0000"/>
                </a:solidFill>
              </a:rPr>
              <a:t>IDE</a:t>
            </a:r>
            <a:endParaRPr lang="en-US" sz="1600" dirty="0"/>
          </a:p>
        </p:txBody>
      </p:sp>
      <p:pic>
        <p:nvPicPr>
          <p:cNvPr id="18" name="Picture 17" descr=" 30">
            <a:extLst>
              <a:ext uri="{FF2B5EF4-FFF2-40B4-BE49-F238E27FC236}">
                <a16:creationId xmlns:a16="http://schemas.microsoft.com/office/drawing/2014/main" id="{68494AC5-E09B-1843-B48B-AC1A6DE93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1311" y="3253126"/>
            <a:ext cx="903806" cy="90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944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11AE-E9E7-505F-24DA-5B4C3419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3E54E77A-2764-255B-CD2E-DA6C8B9E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BAD329D6-F31E-3C1D-878E-357D7BBEC7EB}"/>
              </a:ext>
            </a:extLst>
          </p:cNvPr>
          <p:cNvSpPr txBox="1"/>
          <p:nvPr/>
        </p:nvSpPr>
        <p:spPr>
          <a:xfrm>
            <a:off x="2444333" y="443039"/>
            <a:ext cx="4086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Python scope and setup </a:t>
            </a:r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BCD0CF89-730C-033F-14CC-BD227269F018}"/>
              </a:ext>
            </a:extLst>
          </p:cNvPr>
          <p:cNvSpPr txBox="1"/>
          <p:nvPr/>
        </p:nvSpPr>
        <p:spPr>
          <a:xfrm>
            <a:off x="1016866" y="958532"/>
            <a:ext cx="72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several editors/IDS (</a:t>
            </a:r>
            <a:r>
              <a:rPr lang="en-US" sz="1200" b="1" dirty="0">
                <a:solidFill>
                  <a:srgbClr val="FF0000"/>
                </a:solidFill>
              </a:rPr>
              <a:t>I</a:t>
            </a:r>
            <a:r>
              <a:rPr lang="en-US" sz="1200" dirty="0"/>
              <a:t>ntegrated </a:t>
            </a:r>
            <a:r>
              <a:rPr lang="en-US" sz="1200" b="1" dirty="0">
                <a:solidFill>
                  <a:srgbClr val="FF0000"/>
                </a:solidFill>
              </a:rPr>
              <a:t>D</a:t>
            </a:r>
            <a:r>
              <a:rPr lang="en-US" sz="1200" dirty="0"/>
              <a:t>evelopment </a:t>
            </a:r>
            <a:r>
              <a:rPr lang="en-US" sz="1200" b="1" dirty="0">
                <a:solidFill>
                  <a:srgbClr val="FF0000"/>
                </a:solidFill>
              </a:rPr>
              <a:t>E</a:t>
            </a:r>
            <a:r>
              <a:rPr lang="en-US" sz="1200" dirty="0"/>
              <a:t>nvironment</a:t>
            </a:r>
            <a:r>
              <a:rPr lang="en-US" dirty="0"/>
              <a:t>)/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pic>
        <p:nvPicPr>
          <p:cNvPr id="16" name="Picture 15" descr=" 21">
            <a:extLst>
              <a:ext uri="{FF2B5EF4-FFF2-40B4-BE49-F238E27FC236}">
                <a16:creationId xmlns:a16="http://schemas.microsoft.com/office/drawing/2014/main" id="{574DF970-EFC9-37B0-FAB9-99E6A2D9E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766" y="1751690"/>
            <a:ext cx="954628" cy="86317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 descr=" 22">
            <a:extLst>
              <a:ext uri="{FF2B5EF4-FFF2-40B4-BE49-F238E27FC236}">
                <a16:creationId xmlns:a16="http://schemas.microsoft.com/office/drawing/2014/main" id="{3800C0D0-E3DE-91FC-2795-79C6D63CA61C}"/>
              </a:ext>
            </a:extLst>
          </p:cNvPr>
          <p:cNvSpPr txBox="1"/>
          <p:nvPr/>
        </p:nvSpPr>
        <p:spPr>
          <a:xfrm>
            <a:off x="2572969" y="1415468"/>
            <a:ext cx="145090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Visual studio</a:t>
            </a:r>
          </a:p>
        </p:txBody>
      </p:sp>
      <p:pic>
        <p:nvPicPr>
          <p:cNvPr id="19" name="Picture 18" descr=" 24">
            <a:extLst>
              <a:ext uri="{FF2B5EF4-FFF2-40B4-BE49-F238E27FC236}">
                <a16:creationId xmlns:a16="http://schemas.microsoft.com/office/drawing/2014/main" id="{4328B40E-7DAB-D588-EF6F-2E191F971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736" y="3234045"/>
            <a:ext cx="989922" cy="876821"/>
          </a:xfrm>
          <a:prstGeom prst="rect">
            <a:avLst/>
          </a:prstGeom>
        </p:spPr>
      </p:pic>
      <p:sp>
        <p:nvSpPr>
          <p:cNvPr id="20" name="TextBox 19" descr=" 25">
            <a:extLst>
              <a:ext uri="{FF2B5EF4-FFF2-40B4-BE49-F238E27FC236}">
                <a16:creationId xmlns:a16="http://schemas.microsoft.com/office/drawing/2014/main" id="{6752C7D9-F687-8567-90E8-5D67AB842335}"/>
              </a:ext>
            </a:extLst>
          </p:cNvPr>
          <p:cNvSpPr txBox="1"/>
          <p:nvPr/>
        </p:nvSpPr>
        <p:spPr>
          <a:xfrm>
            <a:off x="4023874" y="2978354"/>
            <a:ext cx="1027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PyCharm</a:t>
            </a:r>
            <a:endParaRPr lang="en-US" sz="1200" b="1" dirty="0">
              <a:solidFill>
                <a:srgbClr val="FF0000"/>
              </a:solidFill>
            </a:endParaRPr>
          </a:p>
        </p:txBody>
      </p:sp>
      <p:grpSp>
        <p:nvGrpSpPr>
          <p:cNvPr id="5" name="Group 4" descr=" 5">
            <a:extLst>
              <a:ext uri="{FF2B5EF4-FFF2-40B4-BE49-F238E27FC236}">
                <a16:creationId xmlns:a16="http://schemas.microsoft.com/office/drawing/2014/main" id="{9309C7FA-F7C1-7A64-82F3-C0C672CB5E18}"/>
              </a:ext>
            </a:extLst>
          </p:cNvPr>
          <p:cNvGrpSpPr/>
          <p:nvPr/>
        </p:nvGrpSpPr>
        <p:grpSpPr>
          <a:xfrm>
            <a:off x="1245196" y="1470134"/>
            <a:ext cx="4300058" cy="2668215"/>
            <a:chOff x="1245196" y="1470134"/>
            <a:chExt cx="4300058" cy="26682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BF5FA3-8C8B-F9EC-C802-C8F10F1B605C}"/>
                </a:ext>
              </a:extLst>
            </p:cNvPr>
            <p:cNvSpPr txBox="1"/>
            <p:nvPr/>
          </p:nvSpPr>
          <p:spPr>
            <a:xfrm>
              <a:off x="1315493" y="2178740"/>
              <a:ext cx="2317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editor with light </a:t>
              </a:r>
            </a:p>
            <a:p>
              <a:r>
                <a:rPr lang="en-US" sz="1000" dirty="0"/>
                <a:t>weight environment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9B2D3F-59FC-A9B5-9F3F-1F1EDD7E9F08}"/>
                </a:ext>
              </a:extLst>
            </p:cNvPr>
            <p:cNvGrpSpPr/>
            <p:nvPr/>
          </p:nvGrpSpPr>
          <p:grpSpPr>
            <a:xfrm>
              <a:off x="1261344" y="1748666"/>
              <a:ext cx="1272427" cy="860280"/>
              <a:chOff x="1191879" y="1944933"/>
              <a:chExt cx="1272427" cy="86028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6EFD8A-432E-21D2-4928-6CEBEC9F3313}"/>
                  </a:ext>
                </a:extLst>
              </p:cNvPr>
              <p:cNvSpPr txBox="1"/>
              <p:nvPr/>
            </p:nvSpPr>
            <p:spPr>
              <a:xfrm>
                <a:off x="1332563" y="2003819"/>
                <a:ext cx="1019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&gt;&gt;&gt;IDLE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86A8B14-E1C5-C585-2336-DCF98DFA441F}"/>
                  </a:ext>
                </a:extLst>
              </p:cNvPr>
              <p:cNvSpPr/>
              <p:nvPr/>
            </p:nvSpPr>
            <p:spPr>
              <a:xfrm>
                <a:off x="1191879" y="1944933"/>
                <a:ext cx="1272427" cy="860280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3FDA0D-9B7C-F7F7-BEE4-5DE111EFB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5196" y="3270472"/>
              <a:ext cx="1083454" cy="867877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42AA7E-ABA8-C64A-F0F8-D876B65C2D4E}"/>
                </a:ext>
              </a:extLst>
            </p:cNvPr>
            <p:cNvSpPr txBox="1"/>
            <p:nvPr/>
          </p:nvSpPr>
          <p:spPr>
            <a:xfrm>
              <a:off x="1535949" y="2967896"/>
              <a:ext cx="8447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ATOM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706FB9-4C9B-9A21-6959-E00C59257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2805" y="1738046"/>
              <a:ext cx="876822" cy="8768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431625-6283-9F6C-1E93-665846302BAC}"/>
                </a:ext>
              </a:extLst>
            </p:cNvPr>
            <p:cNvSpPr txBox="1"/>
            <p:nvPr/>
          </p:nvSpPr>
          <p:spPr>
            <a:xfrm>
              <a:off x="3930582" y="1470134"/>
              <a:ext cx="1614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Sublime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CEEF64-D689-306C-34B9-BC4783630C7E}"/>
                </a:ext>
              </a:extLst>
            </p:cNvPr>
            <p:cNvSpPr txBox="1"/>
            <p:nvPr/>
          </p:nvSpPr>
          <p:spPr>
            <a:xfrm>
              <a:off x="4787816" y="1656620"/>
              <a:ext cx="15657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Text</a:t>
              </a:r>
            </a:p>
          </p:txBody>
        </p:sp>
      </p:grpSp>
      <p:sp>
        <p:nvSpPr>
          <p:cNvPr id="21" name="TextBox 20" descr=" 27">
            <a:extLst>
              <a:ext uri="{FF2B5EF4-FFF2-40B4-BE49-F238E27FC236}">
                <a16:creationId xmlns:a16="http://schemas.microsoft.com/office/drawing/2014/main" id="{DBB65A69-8494-39A0-E53E-A06F1495CBD0}"/>
              </a:ext>
            </a:extLst>
          </p:cNvPr>
          <p:cNvSpPr txBox="1"/>
          <p:nvPr/>
        </p:nvSpPr>
        <p:spPr>
          <a:xfrm>
            <a:off x="3841639" y="4106703"/>
            <a:ext cx="1307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Python </a:t>
            </a:r>
            <a:r>
              <a:rPr lang="en-US" sz="1600" dirty="0">
                <a:solidFill>
                  <a:srgbClr val="FF0000"/>
                </a:solidFill>
              </a:rPr>
              <a:t>IDE</a:t>
            </a:r>
            <a:endParaRPr lang="en-US" sz="1600" dirty="0"/>
          </a:p>
        </p:txBody>
      </p:sp>
      <p:pic>
        <p:nvPicPr>
          <p:cNvPr id="18" name="Picture 17" descr=" 30">
            <a:extLst>
              <a:ext uri="{FF2B5EF4-FFF2-40B4-BE49-F238E27FC236}">
                <a16:creationId xmlns:a16="http://schemas.microsoft.com/office/drawing/2014/main" id="{1D9FC88B-A020-8613-9305-1D1164AE9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1311" y="3253126"/>
            <a:ext cx="903806" cy="903806"/>
          </a:xfrm>
          <a:prstGeom prst="rect">
            <a:avLst/>
          </a:prstGeom>
        </p:spPr>
      </p:pic>
      <p:cxnSp>
        <p:nvCxnSpPr>
          <p:cNvPr id="22" name="Straight Connector 21" descr=" 32">
            <a:extLst>
              <a:ext uri="{FF2B5EF4-FFF2-40B4-BE49-F238E27FC236}">
                <a16:creationId xmlns:a16="http://schemas.microsoft.com/office/drawing/2014/main" id="{627D8466-E21B-843B-D481-C0F61F5DAEA5}"/>
              </a:ext>
            </a:extLst>
          </p:cNvPr>
          <p:cNvCxnSpPr>
            <a:cxnSpLocks/>
          </p:cNvCxnSpPr>
          <p:nvPr/>
        </p:nvCxnSpPr>
        <p:spPr>
          <a:xfrm>
            <a:off x="5108042" y="1816089"/>
            <a:ext cx="0" cy="275591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 descr=" 2">
            <a:extLst>
              <a:ext uri="{FF2B5EF4-FFF2-40B4-BE49-F238E27FC236}">
                <a16:creationId xmlns:a16="http://schemas.microsoft.com/office/drawing/2014/main" id="{F18441FD-CAA5-78C3-0E34-DBF0C5D11D23}"/>
              </a:ext>
            </a:extLst>
          </p:cNvPr>
          <p:cNvSpPr txBox="1"/>
          <p:nvPr/>
        </p:nvSpPr>
        <p:spPr>
          <a:xfrm>
            <a:off x="5129864" y="2029231"/>
            <a:ext cx="309297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500" b="1" dirty="0"/>
              <a:t>Google </a:t>
            </a:r>
            <a:r>
              <a:rPr lang="en-US" sz="1500" b="1" dirty="0" err="1"/>
              <a:t>colab</a:t>
            </a:r>
            <a:r>
              <a:rPr lang="en-US" sz="1500" b="1" dirty="0"/>
              <a:t> /</a:t>
            </a:r>
            <a:r>
              <a:rPr lang="en-US" sz="1500" b="1" dirty="0" err="1"/>
              <a:t>Jupyter</a:t>
            </a:r>
            <a:r>
              <a:rPr lang="en-US" sz="1500" dirty="0"/>
              <a:t> is a web application that lets you run: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Live codes,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Embedded visualizations,   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Explanatory texts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much more functionality</a:t>
            </a:r>
          </a:p>
          <a:p>
            <a:r>
              <a:rPr lang="en-US" sz="1500" u="sng" dirty="0"/>
              <a:t>all in one place</a:t>
            </a:r>
            <a:r>
              <a:rPr lang="en-US" sz="1500" dirty="0"/>
              <a:t>.</a:t>
            </a:r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603CEC93-3E19-08F6-4EDE-83BF2EE55E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6806" y="1317444"/>
            <a:ext cx="2038696" cy="7117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icture 25" descr=" 10">
            <a:extLst>
              <a:ext uri="{FF2B5EF4-FFF2-40B4-BE49-F238E27FC236}">
                <a16:creationId xmlns:a16="http://schemas.microsoft.com/office/drawing/2014/main" id="{9900AEFA-BC9C-F4D1-6242-82341DCCBF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H="1" flipV="1">
            <a:off x="7404477" y="1300449"/>
            <a:ext cx="588454" cy="6846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97706BA-A73B-EDD9-236E-3617FA91BCA0}"/>
              </a:ext>
            </a:extLst>
          </p:cNvPr>
          <p:cNvSpPr txBox="1"/>
          <p:nvPr/>
        </p:nvSpPr>
        <p:spPr>
          <a:xfrm>
            <a:off x="6106890" y="3614280"/>
            <a:ext cx="2038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colab.research.google.com</a:t>
            </a:r>
            <a:r>
              <a:rPr lang="en-US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5788289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AEED-E6F4-29F5-6FBA-0D38C4C5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 descr=" 3">
            <a:extLst>
              <a:ext uri="{FF2B5EF4-FFF2-40B4-BE49-F238E27FC236}">
                <a16:creationId xmlns:a16="http://schemas.microsoft.com/office/drawing/2014/main" id="{1DFF102F-FB2E-DD10-BF4B-E9D69F30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 descr=" 4">
            <a:extLst>
              <a:ext uri="{FF2B5EF4-FFF2-40B4-BE49-F238E27FC236}">
                <a16:creationId xmlns:a16="http://schemas.microsoft.com/office/drawing/2014/main" id="{9ABA6A40-8D6B-A41C-F5E1-6BD963607ABD}"/>
              </a:ext>
            </a:extLst>
          </p:cNvPr>
          <p:cNvSpPr txBox="1"/>
          <p:nvPr/>
        </p:nvSpPr>
        <p:spPr>
          <a:xfrm>
            <a:off x="2444333" y="443039"/>
            <a:ext cx="4086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+mj-lt"/>
              </a:rPr>
              <a:t>Python scope and setup </a:t>
            </a:r>
          </a:p>
        </p:txBody>
      </p:sp>
      <p:sp>
        <p:nvSpPr>
          <p:cNvPr id="6" name="TextBox 5" descr=" 6">
            <a:extLst>
              <a:ext uri="{FF2B5EF4-FFF2-40B4-BE49-F238E27FC236}">
                <a16:creationId xmlns:a16="http://schemas.microsoft.com/office/drawing/2014/main" id="{7717808D-EDB0-C09B-D8E0-F9D4DBE589F5}"/>
              </a:ext>
            </a:extLst>
          </p:cNvPr>
          <p:cNvSpPr txBox="1"/>
          <p:nvPr/>
        </p:nvSpPr>
        <p:spPr>
          <a:xfrm>
            <a:off x="1016866" y="958532"/>
            <a:ext cx="72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several editors/IDS (</a:t>
            </a:r>
            <a:r>
              <a:rPr lang="en-US" sz="1200" b="1" dirty="0">
                <a:solidFill>
                  <a:srgbClr val="FF0000"/>
                </a:solidFill>
              </a:rPr>
              <a:t>I</a:t>
            </a:r>
            <a:r>
              <a:rPr lang="en-US" sz="1200" dirty="0"/>
              <a:t>ntegrated </a:t>
            </a:r>
            <a:r>
              <a:rPr lang="en-US" sz="1200" b="1" dirty="0">
                <a:solidFill>
                  <a:srgbClr val="FF0000"/>
                </a:solidFill>
              </a:rPr>
              <a:t>D</a:t>
            </a:r>
            <a:r>
              <a:rPr lang="en-US" sz="1200" dirty="0"/>
              <a:t>evelopment </a:t>
            </a:r>
            <a:r>
              <a:rPr lang="en-US" sz="1200" b="1" dirty="0">
                <a:solidFill>
                  <a:srgbClr val="FF0000"/>
                </a:solidFill>
              </a:rPr>
              <a:t>E</a:t>
            </a:r>
            <a:r>
              <a:rPr lang="en-US" sz="1200" dirty="0"/>
              <a:t>nvironment</a:t>
            </a:r>
            <a:r>
              <a:rPr lang="en-US" dirty="0"/>
              <a:t>)/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pic>
        <p:nvPicPr>
          <p:cNvPr id="16" name="Picture 15" descr=" 21">
            <a:extLst>
              <a:ext uri="{FF2B5EF4-FFF2-40B4-BE49-F238E27FC236}">
                <a16:creationId xmlns:a16="http://schemas.microsoft.com/office/drawing/2014/main" id="{FE311958-81F5-E9DB-9EAC-C494BC1DD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766" y="1751690"/>
            <a:ext cx="954628" cy="86317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 descr=" 22">
            <a:extLst>
              <a:ext uri="{FF2B5EF4-FFF2-40B4-BE49-F238E27FC236}">
                <a16:creationId xmlns:a16="http://schemas.microsoft.com/office/drawing/2014/main" id="{D098A181-5313-7973-4DEA-F366CEAA148F}"/>
              </a:ext>
            </a:extLst>
          </p:cNvPr>
          <p:cNvSpPr txBox="1"/>
          <p:nvPr/>
        </p:nvSpPr>
        <p:spPr>
          <a:xfrm>
            <a:off x="2572969" y="1415468"/>
            <a:ext cx="145090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Visual studio</a:t>
            </a:r>
          </a:p>
        </p:txBody>
      </p:sp>
      <p:pic>
        <p:nvPicPr>
          <p:cNvPr id="19" name="Picture 18" descr=" 24">
            <a:extLst>
              <a:ext uri="{FF2B5EF4-FFF2-40B4-BE49-F238E27FC236}">
                <a16:creationId xmlns:a16="http://schemas.microsoft.com/office/drawing/2014/main" id="{AF076F52-C6AD-EC65-A73C-5718CBE4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736" y="3234045"/>
            <a:ext cx="989922" cy="876821"/>
          </a:xfrm>
          <a:prstGeom prst="rect">
            <a:avLst/>
          </a:prstGeom>
        </p:spPr>
      </p:pic>
      <p:sp>
        <p:nvSpPr>
          <p:cNvPr id="20" name="TextBox 19" descr=" 25">
            <a:extLst>
              <a:ext uri="{FF2B5EF4-FFF2-40B4-BE49-F238E27FC236}">
                <a16:creationId xmlns:a16="http://schemas.microsoft.com/office/drawing/2014/main" id="{086CEFD9-F417-22C7-0DC4-F992AFEEA75E}"/>
              </a:ext>
            </a:extLst>
          </p:cNvPr>
          <p:cNvSpPr txBox="1"/>
          <p:nvPr/>
        </p:nvSpPr>
        <p:spPr>
          <a:xfrm>
            <a:off x="4023874" y="2978354"/>
            <a:ext cx="1027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PyCharm</a:t>
            </a:r>
            <a:endParaRPr lang="en-US" sz="1200" b="1" dirty="0">
              <a:solidFill>
                <a:srgbClr val="FF0000"/>
              </a:solidFill>
            </a:endParaRPr>
          </a:p>
        </p:txBody>
      </p:sp>
      <p:grpSp>
        <p:nvGrpSpPr>
          <p:cNvPr id="5" name="Group 4" descr=" 5">
            <a:extLst>
              <a:ext uri="{FF2B5EF4-FFF2-40B4-BE49-F238E27FC236}">
                <a16:creationId xmlns:a16="http://schemas.microsoft.com/office/drawing/2014/main" id="{096B3D85-B56A-B5D7-3749-2AC971B78440}"/>
              </a:ext>
            </a:extLst>
          </p:cNvPr>
          <p:cNvGrpSpPr/>
          <p:nvPr/>
        </p:nvGrpSpPr>
        <p:grpSpPr>
          <a:xfrm>
            <a:off x="1245196" y="1470134"/>
            <a:ext cx="4300058" cy="2668215"/>
            <a:chOff x="1245196" y="1470134"/>
            <a:chExt cx="4300058" cy="26682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181925-4F88-B292-F8ED-EEF320B6020B}"/>
                </a:ext>
              </a:extLst>
            </p:cNvPr>
            <p:cNvSpPr txBox="1"/>
            <p:nvPr/>
          </p:nvSpPr>
          <p:spPr>
            <a:xfrm>
              <a:off x="1315493" y="2178740"/>
              <a:ext cx="2317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editor with light </a:t>
              </a:r>
            </a:p>
            <a:p>
              <a:r>
                <a:rPr lang="en-US" sz="1000" dirty="0"/>
                <a:t>weight environment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CAA9DB-1D50-6543-7DBA-8650BAA5994C}"/>
                </a:ext>
              </a:extLst>
            </p:cNvPr>
            <p:cNvGrpSpPr/>
            <p:nvPr/>
          </p:nvGrpSpPr>
          <p:grpSpPr>
            <a:xfrm>
              <a:off x="1261344" y="1748666"/>
              <a:ext cx="1272427" cy="860280"/>
              <a:chOff x="1191879" y="1944933"/>
              <a:chExt cx="1272427" cy="86028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756135-37D5-9F8E-65BF-05C33F9FB117}"/>
                  </a:ext>
                </a:extLst>
              </p:cNvPr>
              <p:cNvSpPr txBox="1"/>
              <p:nvPr/>
            </p:nvSpPr>
            <p:spPr>
              <a:xfrm>
                <a:off x="1332563" y="2003819"/>
                <a:ext cx="1019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&gt;&gt;&gt;IDLE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C1B8431-F8BD-78DE-C87D-99CF438E91C5}"/>
                  </a:ext>
                </a:extLst>
              </p:cNvPr>
              <p:cNvSpPr/>
              <p:nvPr/>
            </p:nvSpPr>
            <p:spPr>
              <a:xfrm>
                <a:off x="1191879" y="1944933"/>
                <a:ext cx="1272427" cy="860280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524436-2857-D181-E791-23F265036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5196" y="3270472"/>
              <a:ext cx="1083454" cy="867877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57961A-F81B-8062-DB09-BE3F2354736C}"/>
                </a:ext>
              </a:extLst>
            </p:cNvPr>
            <p:cNvSpPr txBox="1"/>
            <p:nvPr/>
          </p:nvSpPr>
          <p:spPr>
            <a:xfrm>
              <a:off x="1535949" y="2967896"/>
              <a:ext cx="8447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ATOM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B5D111-58B5-2A26-45A1-961ADBE7D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2805" y="1738046"/>
              <a:ext cx="876822" cy="8768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069BEF-9EDB-681A-BAE5-417385BB70A5}"/>
                </a:ext>
              </a:extLst>
            </p:cNvPr>
            <p:cNvSpPr txBox="1"/>
            <p:nvPr/>
          </p:nvSpPr>
          <p:spPr>
            <a:xfrm>
              <a:off x="3930582" y="1470134"/>
              <a:ext cx="1614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Sublime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FB5C98-7950-D191-9D1A-596F9F986993}"/>
                </a:ext>
              </a:extLst>
            </p:cNvPr>
            <p:cNvSpPr txBox="1"/>
            <p:nvPr/>
          </p:nvSpPr>
          <p:spPr>
            <a:xfrm>
              <a:off x="4787816" y="1656620"/>
              <a:ext cx="15657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Text</a:t>
              </a:r>
            </a:p>
          </p:txBody>
        </p:sp>
      </p:grpSp>
      <p:sp>
        <p:nvSpPr>
          <p:cNvPr id="21" name="TextBox 20" descr=" 27">
            <a:extLst>
              <a:ext uri="{FF2B5EF4-FFF2-40B4-BE49-F238E27FC236}">
                <a16:creationId xmlns:a16="http://schemas.microsoft.com/office/drawing/2014/main" id="{BD41C4DE-9BC7-0F6F-4E1A-0BC6B07343E4}"/>
              </a:ext>
            </a:extLst>
          </p:cNvPr>
          <p:cNvSpPr txBox="1"/>
          <p:nvPr/>
        </p:nvSpPr>
        <p:spPr>
          <a:xfrm>
            <a:off x="3841639" y="4106703"/>
            <a:ext cx="1307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Python </a:t>
            </a:r>
            <a:r>
              <a:rPr lang="en-US" sz="1600" dirty="0">
                <a:solidFill>
                  <a:srgbClr val="FF0000"/>
                </a:solidFill>
              </a:rPr>
              <a:t>IDE</a:t>
            </a:r>
            <a:endParaRPr lang="en-US" sz="1600" dirty="0"/>
          </a:p>
        </p:txBody>
      </p:sp>
      <p:pic>
        <p:nvPicPr>
          <p:cNvPr id="18" name="Picture 17" descr=" 30">
            <a:extLst>
              <a:ext uri="{FF2B5EF4-FFF2-40B4-BE49-F238E27FC236}">
                <a16:creationId xmlns:a16="http://schemas.microsoft.com/office/drawing/2014/main" id="{A4DA5E8E-281D-18FC-96CA-8F1FC1F43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1311" y="3253126"/>
            <a:ext cx="903806" cy="903806"/>
          </a:xfrm>
          <a:prstGeom prst="rect">
            <a:avLst/>
          </a:prstGeom>
        </p:spPr>
      </p:pic>
      <p:cxnSp>
        <p:nvCxnSpPr>
          <p:cNvPr id="22" name="Straight Connector 21" descr=" 32">
            <a:extLst>
              <a:ext uri="{FF2B5EF4-FFF2-40B4-BE49-F238E27FC236}">
                <a16:creationId xmlns:a16="http://schemas.microsoft.com/office/drawing/2014/main" id="{5BBB222E-8097-B564-1737-53C8F7B3201F}"/>
              </a:ext>
            </a:extLst>
          </p:cNvPr>
          <p:cNvCxnSpPr>
            <a:cxnSpLocks/>
          </p:cNvCxnSpPr>
          <p:nvPr/>
        </p:nvCxnSpPr>
        <p:spPr>
          <a:xfrm>
            <a:off x="5108042" y="1816089"/>
            <a:ext cx="0" cy="275591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 descr=" 2">
            <a:extLst>
              <a:ext uri="{FF2B5EF4-FFF2-40B4-BE49-F238E27FC236}">
                <a16:creationId xmlns:a16="http://schemas.microsoft.com/office/drawing/2014/main" id="{1255A82B-1E7A-A06E-B004-7850FDCFF82C}"/>
              </a:ext>
            </a:extLst>
          </p:cNvPr>
          <p:cNvSpPr txBox="1"/>
          <p:nvPr/>
        </p:nvSpPr>
        <p:spPr>
          <a:xfrm>
            <a:off x="5129864" y="2029231"/>
            <a:ext cx="309297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500" b="1" dirty="0"/>
              <a:t>Google </a:t>
            </a:r>
            <a:r>
              <a:rPr lang="en-US" sz="1500" b="1" dirty="0" err="1"/>
              <a:t>colab</a:t>
            </a:r>
            <a:r>
              <a:rPr lang="en-US" sz="1500" b="1" dirty="0"/>
              <a:t> /</a:t>
            </a:r>
            <a:r>
              <a:rPr lang="en-US" sz="1500" b="1" dirty="0" err="1"/>
              <a:t>Jupyter</a:t>
            </a:r>
            <a:r>
              <a:rPr lang="en-US" sz="1500" dirty="0"/>
              <a:t> is a web application that lets you run: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Live codes,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Embedded visualizations,   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Explanatory texts 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500" dirty="0"/>
              <a:t>much more functionality</a:t>
            </a:r>
          </a:p>
          <a:p>
            <a:r>
              <a:rPr lang="en-US" sz="1500" u="sng" dirty="0"/>
              <a:t>all in one place</a:t>
            </a:r>
            <a:r>
              <a:rPr lang="en-US" sz="1500" dirty="0"/>
              <a:t>.</a:t>
            </a:r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5EFB8870-4BA6-CD1E-D441-38EEC9496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806" y="1317444"/>
            <a:ext cx="2038696" cy="7117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icture 25" descr=" 10">
            <a:extLst>
              <a:ext uri="{FF2B5EF4-FFF2-40B4-BE49-F238E27FC236}">
                <a16:creationId xmlns:a16="http://schemas.microsoft.com/office/drawing/2014/main" id="{2E1229E0-599F-92E1-3F2B-AE60762E45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 flipH="1" flipV="1">
            <a:off x="7404477" y="1300449"/>
            <a:ext cx="588454" cy="684643"/>
          </a:xfrm>
          <a:prstGeom prst="rect">
            <a:avLst/>
          </a:prstGeom>
        </p:spPr>
      </p:pic>
      <p:cxnSp>
        <p:nvCxnSpPr>
          <p:cNvPr id="29" name="Straight Connector 28" descr=" 32">
            <a:extLst>
              <a:ext uri="{FF2B5EF4-FFF2-40B4-BE49-F238E27FC236}">
                <a16:creationId xmlns:a16="http://schemas.microsoft.com/office/drawing/2014/main" id="{AF651426-C2A8-8891-1E7F-C2CCC60A8C63}"/>
              </a:ext>
            </a:extLst>
          </p:cNvPr>
          <p:cNvCxnSpPr>
            <a:cxnSpLocks/>
          </p:cNvCxnSpPr>
          <p:nvPr/>
        </p:nvCxnSpPr>
        <p:spPr>
          <a:xfrm flipH="1">
            <a:off x="5120161" y="3823872"/>
            <a:ext cx="3102677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5F15B9B-35FF-C532-A801-D12F53B08EC9}"/>
              </a:ext>
            </a:extLst>
          </p:cNvPr>
          <p:cNvSpPr txBox="1"/>
          <p:nvPr/>
        </p:nvSpPr>
        <p:spPr>
          <a:xfrm>
            <a:off x="6651329" y="4365432"/>
            <a:ext cx="1816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ipython.org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EB55C9-0187-AE67-24D4-9563D652EB55}"/>
              </a:ext>
            </a:extLst>
          </p:cNvPr>
          <p:cNvSpPr txBox="1"/>
          <p:nvPr/>
        </p:nvSpPr>
        <p:spPr>
          <a:xfrm>
            <a:off x="5103812" y="3804639"/>
            <a:ext cx="328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IP[y]: </a:t>
            </a:r>
            <a:r>
              <a:rPr lang="en-US" dirty="0" err="1"/>
              <a:t>Ipython</a:t>
            </a:r>
            <a:endParaRPr lang="en-US" dirty="0"/>
          </a:p>
          <a:p>
            <a:r>
              <a:rPr lang="en-US" dirty="0"/>
              <a:t>Interactive Computing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99F3D3-3253-BADA-1D1F-1D5943D9F559}"/>
              </a:ext>
            </a:extLst>
          </p:cNvPr>
          <p:cNvSpPr txBox="1"/>
          <p:nvPr/>
        </p:nvSpPr>
        <p:spPr>
          <a:xfrm>
            <a:off x="6106890" y="3614280"/>
            <a:ext cx="2038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colab.research.google.com</a:t>
            </a:r>
            <a:r>
              <a:rPr lang="en-US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624523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35B2-E6A6-B4AA-7817-108722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1985530D-4D76-2C5C-1F9D-60E65B1D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65351-9457-DE86-76E1-23195726CDB6}"/>
              </a:ext>
            </a:extLst>
          </p:cNvPr>
          <p:cNvSpPr txBox="1"/>
          <p:nvPr/>
        </p:nvSpPr>
        <p:spPr>
          <a:xfrm>
            <a:off x="3528165" y="600274"/>
            <a:ext cx="2087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Google </a:t>
            </a:r>
            <a:r>
              <a:rPr lang="en-US" sz="2000" b="1" dirty="0" err="1"/>
              <a:t>Colab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163C7-88F8-0D27-9BE4-C718E09AB7A0}"/>
              </a:ext>
            </a:extLst>
          </p:cNvPr>
          <p:cNvSpPr txBox="1"/>
          <p:nvPr/>
        </p:nvSpPr>
        <p:spPr>
          <a:xfrm>
            <a:off x="893770" y="845669"/>
            <a:ext cx="7649397" cy="162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Google </a:t>
            </a:r>
            <a:r>
              <a:rPr lang="en-US" sz="1700" dirty="0" err="1"/>
              <a:t>Colab</a:t>
            </a:r>
            <a:r>
              <a:rPr lang="en-US" sz="1700" dirty="0"/>
              <a:t> is free, cloud-based </a:t>
            </a:r>
            <a:r>
              <a:rPr lang="en-US" sz="1700" dirty="0" err="1"/>
              <a:t>Jupyter</a:t>
            </a:r>
            <a:r>
              <a:rPr lang="en-US" sz="1700" dirty="0"/>
              <a:t> notebook environment.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Offers built-in support for GPUs, powerful tool for computation.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Great for data science and machine learning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Installation : not needed (Go to </a:t>
            </a:r>
            <a:r>
              <a:rPr lang="en-US" sz="1700" dirty="0">
                <a:hlinkClick r:id="rId2"/>
              </a:rPr>
              <a:t>https://colab.research.google.com</a:t>
            </a:r>
            <a:r>
              <a:rPr lang="en-US" sz="1700" dirty="0"/>
              <a:t> and work)</a:t>
            </a:r>
          </a:p>
        </p:txBody>
      </p:sp>
    </p:spTree>
    <p:extLst>
      <p:ext uri="{BB962C8B-B14F-4D97-AF65-F5344CB8AC3E}">
        <p14:creationId xmlns:p14="http://schemas.microsoft.com/office/powerpoint/2010/main" val="40418083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29FA-8682-816B-7C17-E92D647E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3CC11783-DBBC-E5DB-3EA4-0F5AA5C8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D640D-8291-A184-E67B-479A7C446ACF}"/>
              </a:ext>
            </a:extLst>
          </p:cNvPr>
          <p:cNvSpPr txBox="1"/>
          <p:nvPr/>
        </p:nvSpPr>
        <p:spPr>
          <a:xfrm>
            <a:off x="3528165" y="600274"/>
            <a:ext cx="2087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Google </a:t>
            </a:r>
            <a:r>
              <a:rPr lang="en-US" sz="2000" b="1" dirty="0" err="1"/>
              <a:t>Colab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7D0B7-EB5C-694C-9F1E-854325DFA237}"/>
              </a:ext>
            </a:extLst>
          </p:cNvPr>
          <p:cNvSpPr txBox="1"/>
          <p:nvPr/>
        </p:nvSpPr>
        <p:spPr>
          <a:xfrm>
            <a:off x="893770" y="845669"/>
            <a:ext cx="7649397" cy="162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Google </a:t>
            </a:r>
            <a:r>
              <a:rPr lang="en-US" sz="1700" dirty="0" err="1"/>
              <a:t>Colab</a:t>
            </a:r>
            <a:r>
              <a:rPr lang="en-US" sz="1700" dirty="0"/>
              <a:t> is free, cloud-based </a:t>
            </a:r>
            <a:r>
              <a:rPr lang="en-US" sz="1700" dirty="0" err="1"/>
              <a:t>Jupyter</a:t>
            </a:r>
            <a:r>
              <a:rPr lang="en-US" sz="1700" dirty="0"/>
              <a:t> notebook environment.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Offers built-in support for GPUs, powerful tool for computation.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Great for data science and machine learning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Installation : not needed (Go to </a:t>
            </a:r>
            <a:r>
              <a:rPr lang="en-US" sz="1700" dirty="0">
                <a:hlinkClick r:id="rId2"/>
              </a:rPr>
              <a:t>https://colab.research.google.com</a:t>
            </a:r>
            <a:r>
              <a:rPr lang="en-US" sz="1700" dirty="0"/>
              <a:t> and work)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F4DED-B006-5F90-2BAB-CC579A0E01BF}"/>
              </a:ext>
            </a:extLst>
          </p:cNvPr>
          <p:cNvSpPr txBox="1"/>
          <p:nvPr/>
        </p:nvSpPr>
        <p:spPr>
          <a:xfrm>
            <a:off x="3778812" y="2713773"/>
            <a:ext cx="1011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IPython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4BB59-FE1F-CCEA-E48F-A6335FB10AF5}"/>
              </a:ext>
            </a:extLst>
          </p:cNvPr>
          <p:cNvSpPr txBox="1"/>
          <p:nvPr/>
        </p:nvSpPr>
        <p:spPr>
          <a:xfrm>
            <a:off x="893770" y="2991747"/>
            <a:ext cx="7447223" cy="162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 err="1"/>
              <a:t>IPython</a:t>
            </a:r>
            <a:r>
              <a:rPr lang="en-US" sz="1700" dirty="0"/>
              <a:t>, an </a:t>
            </a:r>
            <a:r>
              <a:rPr lang="en-US" sz="1700" i="1" dirty="0"/>
              <a:t>interactive shell </a:t>
            </a:r>
            <a:r>
              <a:rPr lang="en-US" sz="1700" dirty="0"/>
              <a:t>for Python (for quick computation and testing)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Provides rich toolkit for interactive computing.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Allow shell syntax, tab completion, and </a:t>
            </a:r>
            <a:r>
              <a:rPr lang="en-US" sz="1700" i="1" u="sng" dirty="0"/>
              <a:t>magic commands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700" dirty="0"/>
              <a:t>To use </a:t>
            </a:r>
            <a:r>
              <a:rPr lang="en-US" sz="1700" dirty="0" err="1"/>
              <a:t>IPython</a:t>
            </a:r>
            <a:r>
              <a:rPr lang="en-US" sz="1700" dirty="0"/>
              <a:t> use ‘ pip install </a:t>
            </a:r>
            <a:r>
              <a:rPr lang="en-US" sz="1700" dirty="0" err="1"/>
              <a:t>IPython</a:t>
            </a:r>
            <a:r>
              <a:rPr lang="en-US" sz="1700" dirty="0"/>
              <a:t> ’ (in terminal or command prompt)</a:t>
            </a:r>
          </a:p>
        </p:txBody>
      </p:sp>
    </p:spTree>
    <p:extLst>
      <p:ext uri="{BB962C8B-B14F-4D97-AF65-F5344CB8AC3E}">
        <p14:creationId xmlns:p14="http://schemas.microsoft.com/office/powerpoint/2010/main" val="11670902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E787-0988-16DF-963E-74539D17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A34AADD9-C19F-F7A0-7FF4-AB113A4C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8E0DC-29ED-811A-C2AC-06A7E2EB1766}"/>
              </a:ext>
            </a:extLst>
          </p:cNvPr>
          <p:cNvSpPr txBox="1"/>
          <p:nvPr/>
        </p:nvSpPr>
        <p:spPr>
          <a:xfrm>
            <a:off x="1888880" y="538626"/>
            <a:ext cx="5457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Comparison between Google </a:t>
            </a:r>
            <a:r>
              <a:rPr lang="en-US" sz="2000" b="1" dirty="0" err="1"/>
              <a:t>Colab</a:t>
            </a:r>
            <a:r>
              <a:rPr lang="en-US" sz="2000" b="1" dirty="0"/>
              <a:t> and </a:t>
            </a:r>
            <a:r>
              <a:rPr lang="en-US" sz="2000" b="1" dirty="0" err="1"/>
              <a:t>IPython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C93F8-96A4-0A23-1898-75C3229E31FF}"/>
              </a:ext>
            </a:extLst>
          </p:cNvPr>
          <p:cNvSpPr txBox="1"/>
          <p:nvPr/>
        </p:nvSpPr>
        <p:spPr>
          <a:xfrm>
            <a:off x="936571" y="738681"/>
            <a:ext cx="7361617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Environment</a:t>
            </a:r>
            <a:r>
              <a:rPr lang="en-US" dirty="0"/>
              <a:t>  : </a:t>
            </a:r>
            <a:r>
              <a:rPr lang="en-US" dirty="0" err="1"/>
              <a:t>Colab</a:t>
            </a:r>
            <a:r>
              <a:rPr lang="en-US" dirty="0"/>
              <a:t> is </a:t>
            </a:r>
            <a:r>
              <a:rPr lang="en-US" dirty="0">
                <a:solidFill>
                  <a:srgbClr val="FFC000"/>
                </a:solidFill>
              </a:rPr>
              <a:t>cloud-based</a:t>
            </a:r>
            <a:r>
              <a:rPr lang="en-US" dirty="0"/>
              <a:t> while </a:t>
            </a:r>
            <a:r>
              <a:rPr lang="en-US" dirty="0" err="1"/>
              <a:t>IPython</a:t>
            </a:r>
            <a:r>
              <a:rPr lang="en-US" dirty="0"/>
              <a:t> is local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Setup/install   </a:t>
            </a:r>
            <a:r>
              <a:rPr lang="en-US" dirty="0"/>
              <a:t>: </a:t>
            </a:r>
            <a:r>
              <a:rPr lang="en-US" dirty="0" err="1"/>
              <a:t>Colab</a:t>
            </a:r>
            <a:r>
              <a:rPr lang="en-US" dirty="0"/>
              <a:t> requires </a:t>
            </a:r>
            <a:r>
              <a:rPr lang="en-US" dirty="0">
                <a:solidFill>
                  <a:srgbClr val="FFC000"/>
                </a:solidFill>
              </a:rPr>
              <a:t>no installation</a:t>
            </a:r>
            <a:r>
              <a:rPr lang="en-US" dirty="0"/>
              <a:t>, </a:t>
            </a:r>
            <a:r>
              <a:rPr lang="en-US" dirty="0" err="1"/>
              <a:t>Ipython</a:t>
            </a:r>
            <a:r>
              <a:rPr lang="en-US" dirty="0"/>
              <a:t> needs </a:t>
            </a:r>
            <a:r>
              <a:rPr lang="en-US" dirty="0">
                <a:solidFill>
                  <a:srgbClr val="FFC000"/>
                </a:solidFill>
              </a:rPr>
              <a:t>pip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GPU support   </a:t>
            </a:r>
            <a:r>
              <a:rPr lang="en-US" dirty="0"/>
              <a:t>: </a:t>
            </a:r>
            <a:r>
              <a:rPr lang="en-US" dirty="0" err="1"/>
              <a:t>Colab</a:t>
            </a:r>
            <a:r>
              <a:rPr lang="en-US" dirty="0"/>
              <a:t> has </a:t>
            </a:r>
            <a:r>
              <a:rPr lang="en-US" dirty="0">
                <a:solidFill>
                  <a:srgbClr val="FFC000"/>
                </a:solidFill>
              </a:rPr>
              <a:t>GPT/TPU </a:t>
            </a:r>
            <a:r>
              <a:rPr lang="en-US" dirty="0"/>
              <a:t>(limited access), </a:t>
            </a:r>
            <a:r>
              <a:rPr lang="en-US" dirty="0" err="1"/>
              <a:t>IPython</a:t>
            </a:r>
            <a:r>
              <a:rPr lang="en-US" dirty="0"/>
              <a:t> doesn’t.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File Handling   </a:t>
            </a:r>
            <a:r>
              <a:rPr lang="en-US" dirty="0"/>
              <a:t>: </a:t>
            </a:r>
            <a:r>
              <a:rPr lang="en-US" dirty="0" err="1"/>
              <a:t>Colab</a:t>
            </a:r>
            <a:r>
              <a:rPr lang="en-US" dirty="0"/>
              <a:t> </a:t>
            </a:r>
            <a:r>
              <a:rPr lang="en-US" dirty="0">
                <a:solidFill>
                  <a:srgbClr val="FFC000"/>
                </a:solidFill>
              </a:rPr>
              <a:t>integrates with Google drive</a:t>
            </a:r>
            <a:r>
              <a:rPr lang="en-US" dirty="0"/>
              <a:t>; </a:t>
            </a:r>
            <a:r>
              <a:rPr lang="en-US" dirty="0" err="1"/>
              <a:t>Ipython</a:t>
            </a:r>
            <a:r>
              <a:rPr lang="en-US" dirty="0"/>
              <a:t> uses </a:t>
            </a:r>
            <a:r>
              <a:rPr lang="en-US" dirty="0">
                <a:solidFill>
                  <a:srgbClr val="FFC000"/>
                </a:solidFill>
              </a:rPr>
              <a:t>local files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Collaboration</a:t>
            </a:r>
            <a:r>
              <a:rPr lang="en-US" dirty="0"/>
              <a:t>  : </a:t>
            </a:r>
            <a:r>
              <a:rPr lang="en-US" dirty="0" err="1"/>
              <a:t>Colab</a:t>
            </a:r>
            <a:r>
              <a:rPr lang="en-US" dirty="0"/>
              <a:t> supports </a:t>
            </a:r>
            <a:r>
              <a:rPr lang="en-US" dirty="0">
                <a:solidFill>
                  <a:srgbClr val="FFC000"/>
                </a:solidFill>
              </a:rPr>
              <a:t>real-time collaboration</a:t>
            </a:r>
            <a:r>
              <a:rPr lang="en-US" dirty="0"/>
              <a:t>; </a:t>
            </a:r>
            <a:r>
              <a:rPr lang="en-US" dirty="0" err="1"/>
              <a:t>IPython</a:t>
            </a:r>
            <a:r>
              <a:rPr lang="en-US" dirty="0"/>
              <a:t> doesn’t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Media support</a:t>
            </a:r>
            <a:r>
              <a:rPr lang="en-US" dirty="0"/>
              <a:t>: </a:t>
            </a:r>
            <a:r>
              <a:rPr lang="en-US" dirty="0" err="1"/>
              <a:t>Colab</a:t>
            </a:r>
            <a:r>
              <a:rPr lang="en-US" dirty="0"/>
              <a:t> supports </a:t>
            </a:r>
            <a:r>
              <a:rPr lang="en-US" dirty="0">
                <a:solidFill>
                  <a:srgbClr val="FFC000"/>
                </a:solidFill>
              </a:rPr>
              <a:t>inline media </a:t>
            </a:r>
            <a:r>
              <a:rPr lang="en-US" dirty="0"/>
              <a:t>better than </a:t>
            </a:r>
            <a:r>
              <a:rPr lang="en-US" dirty="0" err="1"/>
              <a:t>Ipython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C000"/>
                </a:solidFill>
              </a:rPr>
              <a:t>Magic commands</a:t>
            </a:r>
            <a:r>
              <a:rPr lang="en-US" dirty="0"/>
              <a:t>: </a:t>
            </a:r>
            <a:r>
              <a:rPr lang="en-US" dirty="0" err="1"/>
              <a:t>IPython</a:t>
            </a:r>
            <a:r>
              <a:rPr lang="en-US" dirty="0"/>
              <a:t> supports </a:t>
            </a:r>
            <a:r>
              <a:rPr lang="en-US" dirty="0">
                <a:solidFill>
                  <a:srgbClr val="FFC000"/>
                </a:solidFill>
              </a:rPr>
              <a:t>magic commands</a:t>
            </a:r>
            <a:r>
              <a:rPr lang="en-US" dirty="0"/>
              <a:t>, Google </a:t>
            </a:r>
            <a:r>
              <a:rPr lang="en-US" dirty="0" err="1"/>
              <a:t>Colab</a:t>
            </a:r>
            <a:r>
              <a:rPr lang="en-US" dirty="0"/>
              <a:t> doesn’t</a:t>
            </a:r>
          </a:p>
        </p:txBody>
      </p:sp>
    </p:spTree>
    <p:extLst>
      <p:ext uri="{BB962C8B-B14F-4D97-AF65-F5344CB8AC3E}">
        <p14:creationId xmlns:p14="http://schemas.microsoft.com/office/powerpoint/2010/main" val="15706214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B579-405A-3226-F9AF-5B8867425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A366C8C-D7FA-BC46-D5CA-5DAA6B34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1F43A-B2A6-8E68-90D4-701B0A2AB98F}"/>
              </a:ext>
            </a:extLst>
          </p:cNvPr>
          <p:cNvSpPr txBox="1"/>
          <p:nvPr/>
        </p:nvSpPr>
        <p:spPr>
          <a:xfrm>
            <a:off x="3392169" y="437932"/>
            <a:ext cx="2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Using Google </a:t>
            </a:r>
            <a:r>
              <a:rPr lang="en-US" sz="2000" b="1" dirty="0" err="1"/>
              <a:t>Colab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20419-68B2-509C-AB28-8FF1BEBA956A}"/>
              </a:ext>
            </a:extLst>
          </p:cNvPr>
          <p:cNvSpPr txBox="1"/>
          <p:nvPr/>
        </p:nvSpPr>
        <p:spPr>
          <a:xfrm>
            <a:off x="900215" y="869109"/>
            <a:ext cx="3987416" cy="3616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 err="1"/>
              <a:t>Colab</a:t>
            </a:r>
            <a:r>
              <a:rPr lang="en-US" sz="1400" dirty="0"/>
              <a:t> allows to create </a:t>
            </a:r>
            <a:r>
              <a:rPr lang="en-US" sz="1400" u="sng" dirty="0">
                <a:solidFill>
                  <a:srgbClr val="FFC000"/>
                </a:solidFill>
              </a:rPr>
              <a:t>two types of cells</a:t>
            </a:r>
            <a:r>
              <a:rPr lang="en-US" sz="1400" dirty="0"/>
              <a:t>: </a:t>
            </a:r>
          </a:p>
          <a:p>
            <a:r>
              <a:rPr lang="en-US" sz="1400" dirty="0">
                <a:solidFill>
                  <a:srgbClr val="FFC000"/>
                </a:solidFill>
              </a:rPr>
              <a:t>       </a:t>
            </a:r>
            <a:r>
              <a:rPr lang="en-US" sz="1400" u="sng" dirty="0">
                <a:solidFill>
                  <a:srgbClr val="FFC000"/>
                </a:solidFill>
              </a:rPr>
              <a:t>Code</a:t>
            </a:r>
            <a:r>
              <a:rPr lang="en-US" sz="1400" dirty="0"/>
              <a:t> and </a:t>
            </a:r>
            <a:r>
              <a:rPr lang="en-US" sz="1400" u="sng" dirty="0">
                <a:solidFill>
                  <a:srgbClr val="FFC000"/>
                </a:solidFill>
              </a:rPr>
              <a:t>Text</a:t>
            </a:r>
            <a:r>
              <a:rPr lang="en-US" sz="1400" dirty="0"/>
              <a:t> (</a:t>
            </a:r>
            <a:r>
              <a:rPr lang="en-US" sz="1200" dirty="0"/>
              <a:t>use # to add comment in code cell</a:t>
            </a:r>
            <a:r>
              <a:rPr lang="en-US" sz="1400" dirty="0"/>
              <a:t>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To execute a cell: </a:t>
            </a:r>
            <a:r>
              <a:rPr lang="en-US" sz="1400" dirty="0" err="1">
                <a:solidFill>
                  <a:srgbClr val="FFC000"/>
                </a:solidFill>
              </a:rPr>
              <a:t>shift+enter</a:t>
            </a:r>
            <a:r>
              <a:rPr lang="en-US" sz="1400" dirty="0">
                <a:solidFill>
                  <a:srgbClr val="FFC000"/>
                </a:solidFill>
              </a:rPr>
              <a:t> </a:t>
            </a:r>
            <a:r>
              <a:rPr lang="en-US" sz="1400" dirty="0"/>
              <a:t>or play </a:t>
            </a:r>
            <a:r>
              <a:rPr lang="en-US" sz="1400" dirty="0">
                <a:solidFill>
                  <a:srgbClr val="FFC000"/>
                </a:solidFill>
              </a:rPr>
              <a:t>button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Import common libraries (</a:t>
            </a:r>
            <a:r>
              <a:rPr lang="en-US" sz="1400" dirty="0" err="1"/>
              <a:t>numpy</a:t>
            </a:r>
            <a:r>
              <a:rPr lang="en-US" sz="1400" dirty="0"/>
              <a:t> , pandas), </a:t>
            </a:r>
          </a:p>
          <a:p>
            <a:r>
              <a:rPr lang="en-US" sz="1400" dirty="0"/>
              <a:t>       directly.  </a:t>
            </a:r>
          </a:p>
          <a:p>
            <a:r>
              <a:rPr lang="en-US" sz="1400" dirty="0"/>
              <a:t>      	</a:t>
            </a:r>
            <a:r>
              <a:rPr lang="en-US" sz="1200" dirty="0">
                <a:solidFill>
                  <a:srgbClr val="FFC000"/>
                </a:solidFill>
              </a:rPr>
              <a:t>import </a:t>
            </a:r>
            <a:r>
              <a:rPr lang="en-US" sz="1200" dirty="0" err="1">
                <a:solidFill>
                  <a:srgbClr val="FFC000"/>
                </a:solidFill>
              </a:rPr>
              <a:t>numpy</a:t>
            </a:r>
            <a:r>
              <a:rPr lang="en-US" sz="1200" dirty="0">
                <a:solidFill>
                  <a:srgbClr val="FFC000"/>
                </a:solidFill>
              </a:rPr>
              <a:t> as np</a:t>
            </a:r>
          </a:p>
          <a:p>
            <a:r>
              <a:rPr lang="en-US" sz="1500" dirty="0"/>
              <a:t>      </a:t>
            </a:r>
            <a:r>
              <a:rPr lang="en-US" sz="1200" dirty="0"/>
              <a:t>Use “ !pip install &lt;</a:t>
            </a:r>
            <a:r>
              <a:rPr lang="en-US" sz="1200" dirty="0" err="1"/>
              <a:t>library_name</a:t>
            </a:r>
            <a:r>
              <a:rPr lang="en-US" sz="1200" dirty="0"/>
              <a:t>&gt; ” to install additional</a:t>
            </a:r>
          </a:p>
          <a:p>
            <a:r>
              <a:rPr lang="en-US" sz="1200" dirty="0"/>
              <a:t>	</a:t>
            </a:r>
            <a:r>
              <a:rPr lang="en-US" sz="1200" dirty="0">
                <a:solidFill>
                  <a:srgbClr val="FFC000"/>
                </a:solidFill>
              </a:rPr>
              <a:t>!pip install matplotlib</a:t>
            </a:r>
          </a:p>
          <a:p>
            <a:pPr marL="171450" indent="-171450">
              <a:buFont typeface="Wingdings" pitchFamily="2" charset="2"/>
              <a:buChar char="q"/>
            </a:pPr>
            <a:r>
              <a:rPr lang="en-US" sz="1200" dirty="0"/>
              <a:t>  Google </a:t>
            </a:r>
            <a:r>
              <a:rPr lang="en-US" sz="1200" dirty="0" err="1"/>
              <a:t>Colab</a:t>
            </a:r>
            <a:r>
              <a:rPr lang="en-US" sz="1200" dirty="0"/>
              <a:t> allows to upload files </a:t>
            </a:r>
          </a:p>
          <a:p>
            <a:r>
              <a:rPr lang="en-US" sz="1200" dirty="0"/>
              <a:t>         </a:t>
            </a:r>
            <a:r>
              <a:rPr lang="en-US" sz="1100" b="1" dirty="0"/>
              <a:t>Directly from computer:</a:t>
            </a:r>
          </a:p>
          <a:p>
            <a:r>
              <a:rPr lang="en-US" sz="1200" dirty="0"/>
              <a:t>	</a:t>
            </a:r>
            <a:r>
              <a:rPr lang="en-US" sz="1000" dirty="0">
                <a:solidFill>
                  <a:srgbClr val="00B050"/>
                </a:solidFill>
              </a:rPr>
              <a:t>from</a:t>
            </a:r>
            <a:r>
              <a:rPr lang="en-US" sz="1000" dirty="0">
                <a:solidFill>
                  <a:srgbClr val="FFC000"/>
                </a:solidFill>
              </a:rPr>
              <a:t> </a:t>
            </a:r>
            <a:r>
              <a:rPr lang="en-US" sz="1000" dirty="0" err="1">
                <a:solidFill>
                  <a:srgbClr val="FFC000"/>
                </a:solidFill>
              </a:rPr>
              <a:t>google.colab</a:t>
            </a:r>
            <a:r>
              <a:rPr lang="en-US" sz="1000" dirty="0">
                <a:solidFill>
                  <a:srgbClr val="FFC000"/>
                </a:solidFill>
              </a:rPr>
              <a:t> </a:t>
            </a:r>
            <a:r>
              <a:rPr lang="en-US" sz="1000" dirty="0">
                <a:solidFill>
                  <a:srgbClr val="00B050"/>
                </a:solidFill>
              </a:rPr>
              <a:t>import</a:t>
            </a:r>
            <a:r>
              <a:rPr lang="en-US" sz="1000" dirty="0">
                <a:solidFill>
                  <a:srgbClr val="FFC000"/>
                </a:solidFill>
              </a:rPr>
              <a:t> files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uploaded = </a:t>
            </a:r>
            <a:r>
              <a:rPr lang="en-US" sz="1000" dirty="0" err="1">
                <a:solidFill>
                  <a:srgbClr val="FFC000"/>
                </a:solidFill>
              </a:rPr>
              <a:t>files.upload</a:t>
            </a:r>
            <a:r>
              <a:rPr lang="en-US" sz="1000" dirty="0">
                <a:solidFill>
                  <a:srgbClr val="FFC000"/>
                </a:solidFill>
              </a:rPr>
              <a:t>() # will open upload box 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filename= “</a:t>
            </a:r>
            <a:r>
              <a:rPr lang="en-US" sz="1000" dirty="0" err="1"/>
              <a:t>temp.txt</a:t>
            </a:r>
            <a:r>
              <a:rPr lang="en-US" sz="1000" dirty="0">
                <a:solidFill>
                  <a:srgbClr val="FFC000"/>
                </a:solidFill>
              </a:rPr>
              <a:t>”       # assuming temp is uploaded file name</a:t>
            </a:r>
          </a:p>
          <a:p>
            <a:r>
              <a:rPr lang="en-US" sz="1000" dirty="0">
                <a:solidFill>
                  <a:srgbClr val="FFC000"/>
                </a:solidFill>
              </a:rPr>
              <a:t>                </a:t>
            </a:r>
            <a:r>
              <a:rPr lang="en-US" sz="1000" dirty="0">
                <a:solidFill>
                  <a:srgbClr val="00B050"/>
                </a:solidFill>
              </a:rPr>
              <a:t>with</a:t>
            </a:r>
            <a:r>
              <a:rPr lang="en-US" sz="1000" dirty="0">
                <a:solidFill>
                  <a:srgbClr val="FFC000"/>
                </a:solidFill>
              </a:rPr>
              <a:t> open(filename, “</a:t>
            </a:r>
            <a:r>
              <a:rPr lang="en-US" sz="1000" dirty="0"/>
              <a:t>r</a:t>
            </a:r>
            <a:r>
              <a:rPr lang="en-US" sz="1000" dirty="0">
                <a:solidFill>
                  <a:srgbClr val="FFC000"/>
                </a:solidFill>
              </a:rPr>
              <a:t>”) </a:t>
            </a:r>
            <a:r>
              <a:rPr lang="en-US" sz="1000" dirty="0">
                <a:solidFill>
                  <a:srgbClr val="00B050"/>
                </a:solidFill>
              </a:rPr>
              <a:t>as</a:t>
            </a:r>
            <a:r>
              <a:rPr lang="en-US" sz="1000" dirty="0">
                <a:solidFill>
                  <a:srgbClr val="FFC000"/>
                </a:solidFill>
              </a:rPr>
              <a:t> file: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       content = </a:t>
            </a:r>
            <a:r>
              <a:rPr lang="en-US" sz="1000" dirty="0" err="1">
                <a:solidFill>
                  <a:srgbClr val="FFC000"/>
                </a:solidFill>
              </a:rPr>
              <a:t>file.read</a:t>
            </a:r>
            <a:r>
              <a:rPr lang="en-US" sz="1000" dirty="0">
                <a:solidFill>
                  <a:srgbClr val="FFC000"/>
                </a:solidFill>
              </a:rPr>
              <a:t>()</a:t>
            </a:r>
          </a:p>
          <a:p>
            <a:r>
              <a:rPr lang="en-US" sz="1000" dirty="0">
                <a:solidFill>
                  <a:srgbClr val="FFC000"/>
                </a:solidFill>
              </a:rPr>
              <a:t>                       print(content)</a:t>
            </a:r>
          </a:p>
          <a:p>
            <a:r>
              <a:rPr lang="en-US" sz="1000" dirty="0"/>
              <a:t>           </a:t>
            </a:r>
            <a:r>
              <a:rPr lang="en-US" sz="1100" b="1" dirty="0"/>
              <a:t>Mounting google drive:</a:t>
            </a:r>
          </a:p>
          <a:p>
            <a:r>
              <a:rPr lang="en-US" sz="1100" b="1" dirty="0"/>
              <a:t>	</a:t>
            </a:r>
            <a:r>
              <a:rPr lang="en-US" sz="1000" b="1" dirty="0">
                <a:solidFill>
                  <a:srgbClr val="FFC000"/>
                </a:solidFill>
              </a:rPr>
              <a:t>from </a:t>
            </a:r>
            <a:r>
              <a:rPr lang="en-US" sz="1000" b="1" dirty="0" err="1">
                <a:solidFill>
                  <a:srgbClr val="FFC000"/>
                </a:solidFill>
              </a:rPr>
              <a:t>google.colab</a:t>
            </a:r>
            <a:r>
              <a:rPr lang="en-US" sz="1000" b="1" dirty="0">
                <a:solidFill>
                  <a:srgbClr val="FFC000"/>
                </a:solidFill>
              </a:rPr>
              <a:t> import drive</a:t>
            </a:r>
          </a:p>
          <a:p>
            <a:r>
              <a:rPr lang="en-US" sz="1000" b="1" dirty="0">
                <a:solidFill>
                  <a:srgbClr val="FFC000"/>
                </a:solidFill>
              </a:rPr>
              <a:t>	</a:t>
            </a:r>
            <a:r>
              <a:rPr lang="en-US" sz="1000" b="1" dirty="0" err="1">
                <a:solidFill>
                  <a:srgbClr val="FFC000"/>
                </a:solidFill>
              </a:rPr>
              <a:t>drive.mount</a:t>
            </a:r>
            <a:r>
              <a:rPr lang="en-US" sz="1000" b="1" dirty="0">
                <a:solidFill>
                  <a:srgbClr val="FFC000"/>
                </a:solidFill>
              </a:rPr>
              <a:t>(‘content/drive/</a:t>
            </a:r>
            <a:r>
              <a:rPr lang="en-US" sz="1000" b="1" dirty="0" err="1">
                <a:solidFill>
                  <a:srgbClr val="FFC000"/>
                </a:solidFill>
              </a:rPr>
              <a:t>path_to_file</a:t>
            </a:r>
            <a:r>
              <a:rPr lang="en-US" sz="1000" b="1" dirty="0">
                <a:solidFill>
                  <a:srgbClr val="FFC000"/>
                </a:solidFill>
              </a:rPr>
              <a:t>/</a:t>
            </a:r>
            <a:r>
              <a:rPr lang="en-US" sz="1000" b="1" dirty="0" err="1">
                <a:solidFill>
                  <a:srgbClr val="FFC000"/>
                </a:solidFill>
              </a:rPr>
              <a:t>filename.txt</a:t>
            </a:r>
            <a:r>
              <a:rPr lang="en-US" sz="1000" b="1" dirty="0">
                <a:solidFill>
                  <a:srgbClr val="FFC000"/>
                </a:solidFill>
              </a:rPr>
              <a:t>’)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C2F93-B075-E690-6183-BB972579D3C8}"/>
              </a:ext>
            </a:extLst>
          </p:cNvPr>
          <p:cNvSpPr txBox="1"/>
          <p:nvPr/>
        </p:nvSpPr>
        <p:spPr>
          <a:xfrm>
            <a:off x="4934042" y="873750"/>
            <a:ext cx="3276992" cy="363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    </a:t>
            </a:r>
            <a:r>
              <a:rPr lang="en-US" sz="1200" b="1" dirty="0"/>
              <a:t>Saving files:</a:t>
            </a:r>
          </a:p>
          <a:p>
            <a:r>
              <a:rPr lang="en-US" sz="1400" dirty="0"/>
              <a:t>	</a:t>
            </a:r>
            <a:r>
              <a:rPr lang="en-US" sz="1000" dirty="0">
                <a:solidFill>
                  <a:srgbClr val="FFC000"/>
                </a:solidFill>
              </a:rPr>
              <a:t>with open(‘</a:t>
            </a:r>
            <a:r>
              <a:rPr lang="en-US" sz="1000" dirty="0" err="1">
                <a:solidFill>
                  <a:srgbClr val="FFC000"/>
                </a:solidFill>
              </a:rPr>
              <a:t>example.txt</a:t>
            </a:r>
            <a:r>
              <a:rPr lang="en-US" sz="1000" dirty="0">
                <a:solidFill>
                  <a:srgbClr val="FFC000"/>
                </a:solidFill>
              </a:rPr>
              <a:t>’, ‘w’) as f: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	</a:t>
            </a:r>
            <a:r>
              <a:rPr lang="en-US" sz="1000" dirty="0" err="1">
                <a:solidFill>
                  <a:srgbClr val="FFC000"/>
                </a:solidFill>
              </a:rPr>
              <a:t>f.write</a:t>
            </a:r>
            <a:r>
              <a:rPr lang="en-US" sz="1000" dirty="0">
                <a:solidFill>
                  <a:srgbClr val="FFC000"/>
                </a:solidFill>
              </a:rPr>
              <a:t>(“</a:t>
            </a:r>
            <a:r>
              <a:rPr lang="en-US" sz="1000" dirty="0" err="1">
                <a:solidFill>
                  <a:srgbClr val="FFC000"/>
                </a:solidFill>
              </a:rPr>
              <a:t>Coab</a:t>
            </a:r>
            <a:r>
              <a:rPr lang="en-US" sz="1000" dirty="0">
                <a:solidFill>
                  <a:srgbClr val="FFC000"/>
                </a:solidFill>
              </a:rPr>
              <a:t> testing”)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</a:t>
            </a:r>
            <a:r>
              <a:rPr lang="en-US" sz="1000" dirty="0" err="1">
                <a:solidFill>
                  <a:srgbClr val="FFC000"/>
                </a:solidFill>
              </a:rPr>
              <a:t>files.download</a:t>
            </a:r>
            <a:r>
              <a:rPr lang="en-US" sz="1000" dirty="0">
                <a:solidFill>
                  <a:srgbClr val="FFC000"/>
                </a:solidFill>
              </a:rPr>
              <a:t>(‘</a:t>
            </a:r>
            <a:r>
              <a:rPr lang="en-US" sz="1000" dirty="0" err="1">
                <a:solidFill>
                  <a:srgbClr val="FFC000"/>
                </a:solidFill>
              </a:rPr>
              <a:t>example.txt</a:t>
            </a:r>
            <a:r>
              <a:rPr lang="en-US" sz="1000" dirty="0">
                <a:solidFill>
                  <a:srgbClr val="FFC000"/>
                </a:solidFill>
              </a:rPr>
              <a:t>’)</a:t>
            </a:r>
            <a:endParaRPr lang="en-US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Using an in-built GPU :</a:t>
            </a:r>
          </a:p>
          <a:p>
            <a:r>
              <a:rPr lang="en-US" sz="1400" dirty="0"/>
              <a:t>       </a:t>
            </a:r>
            <a:r>
              <a:rPr lang="en-US" sz="1200" b="1" dirty="0"/>
              <a:t>First enable GPU – </a:t>
            </a:r>
          </a:p>
          <a:p>
            <a:r>
              <a:rPr lang="en-US" sz="1400" dirty="0"/>
              <a:t>       </a:t>
            </a:r>
            <a:r>
              <a:rPr lang="en-US" sz="1000" dirty="0"/>
              <a:t>In </a:t>
            </a:r>
            <a:r>
              <a:rPr lang="en-US" sz="1000" dirty="0" err="1"/>
              <a:t>Colab</a:t>
            </a:r>
            <a:r>
              <a:rPr lang="en-US" sz="1000" dirty="0"/>
              <a:t>, got to </a:t>
            </a:r>
            <a:r>
              <a:rPr lang="en-US" sz="1000" dirty="0">
                <a:solidFill>
                  <a:srgbClr val="FFC000"/>
                </a:solidFill>
              </a:rPr>
              <a:t>Runtime&gt;Change runtime type &gt; GPU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</a:t>
            </a:r>
            <a:r>
              <a:rPr lang="en-US" sz="1000" dirty="0">
                <a:solidFill>
                  <a:srgbClr val="00B050"/>
                </a:solidFill>
              </a:rPr>
              <a:t>import</a:t>
            </a:r>
            <a:r>
              <a:rPr lang="en-US" sz="1000" dirty="0">
                <a:solidFill>
                  <a:srgbClr val="FFC000"/>
                </a:solidFill>
              </a:rPr>
              <a:t> </a:t>
            </a:r>
            <a:r>
              <a:rPr lang="en-US" sz="1000" dirty="0" err="1">
                <a:solidFill>
                  <a:srgbClr val="FFC000"/>
                </a:solidFill>
              </a:rPr>
              <a:t>tensorflow</a:t>
            </a:r>
            <a:r>
              <a:rPr lang="en-US" sz="1000" dirty="0">
                <a:solidFill>
                  <a:srgbClr val="FFC000"/>
                </a:solidFill>
              </a:rPr>
              <a:t> </a:t>
            </a:r>
            <a:r>
              <a:rPr lang="en-US" sz="1000" dirty="0">
                <a:solidFill>
                  <a:srgbClr val="00B050"/>
                </a:solidFill>
              </a:rPr>
              <a:t>as</a:t>
            </a:r>
            <a:r>
              <a:rPr lang="en-US" sz="1000" dirty="0">
                <a:solidFill>
                  <a:srgbClr val="FFC000"/>
                </a:solidFill>
              </a:rPr>
              <a:t> </a:t>
            </a:r>
            <a:r>
              <a:rPr lang="en-US" sz="1000" dirty="0" err="1">
                <a:solidFill>
                  <a:srgbClr val="FFC000"/>
                </a:solidFill>
              </a:rPr>
              <a:t>tf</a:t>
            </a:r>
            <a:endParaRPr lang="en-US" sz="1000" dirty="0">
              <a:solidFill>
                <a:srgbClr val="FFC000"/>
              </a:solidFill>
            </a:endParaRPr>
          </a:p>
          <a:p>
            <a:r>
              <a:rPr lang="en-US" sz="1000" dirty="0">
                <a:solidFill>
                  <a:srgbClr val="FFC000"/>
                </a:solidFill>
              </a:rPr>
              <a:t>	</a:t>
            </a:r>
            <a:r>
              <a:rPr lang="en-US" sz="1000" dirty="0">
                <a:solidFill>
                  <a:srgbClr val="00B050"/>
                </a:solidFill>
              </a:rPr>
              <a:t>if</a:t>
            </a:r>
            <a:r>
              <a:rPr lang="en-US" sz="1000" dirty="0">
                <a:solidFill>
                  <a:srgbClr val="FFC000"/>
                </a:solidFill>
              </a:rPr>
              <a:t> </a:t>
            </a:r>
            <a:r>
              <a:rPr lang="en-US" sz="1000" dirty="0" err="1">
                <a:solidFill>
                  <a:srgbClr val="FFC000"/>
                </a:solidFill>
              </a:rPr>
              <a:t>tf.test.gpu_device_name</a:t>
            </a:r>
            <a:r>
              <a:rPr lang="en-US" sz="1000" dirty="0">
                <a:solidFill>
                  <a:srgbClr val="FFC000"/>
                </a:solidFill>
              </a:rPr>
              <a:t>():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	print(‘GPU is available’)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</a:t>
            </a:r>
            <a:r>
              <a:rPr lang="en-US" sz="1000" dirty="0">
                <a:solidFill>
                  <a:srgbClr val="00B050"/>
                </a:solidFill>
              </a:rPr>
              <a:t>else: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	print(‘No GPU found’)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Perform basic calculations in code cells</a:t>
            </a:r>
          </a:p>
          <a:p>
            <a:r>
              <a:rPr lang="en-US" sz="1400" dirty="0"/>
              <a:t>	</a:t>
            </a:r>
            <a:r>
              <a:rPr lang="en-US" sz="1000" dirty="0" err="1">
                <a:solidFill>
                  <a:srgbClr val="FFC000"/>
                </a:solidFill>
              </a:rPr>
              <a:t>a,b</a:t>
            </a:r>
            <a:r>
              <a:rPr lang="en-US" sz="1000" dirty="0">
                <a:solidFill>
                  <a:srgbClr val="FFC000"/>
                </a:solidFill>
              </a:rPr>
              <a:t> = 10, 2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print(‘sum is :’ ,</a:t>
            </a:r>
            <a:r>
              <a:rPr lang="en-US" sz="1000" dirty="0" err="1">
                <a:solidFill>
                  <a:srgbClr val="FFC000"/>
                </a:solidFill>
              </a:rPr>
              <a:t>a+b</a:t>
            </a:r>
            <a:r>
              <a:rPr lang="en-US" sz="1000" dirty="0">
                <a:solidFill>
                  <a:srgbClr val="FFC000"/>
                </a:solidFill>
              </a:rPr>
              <a:t>)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print(‘a div b is:’ , a/b)</a:t>
            </a:r>
          </a:p>
          <a:p>
            <a:r>
              <a:rPr lang="en-US" sz="1200" b="1" dirty="0"/>
              <a:t>         Taking inputs from keyboard: 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num 1 = float(input(‘Enter first number:’))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num2 = float(input(‘Enter second number:’))</a:t>
            </a:r>
          </a:p>
          <a:p>
            <a:r>
              <a:rPr lang="en-US" sz="1000" dirty="0">
                <a:solidFill>
                  <a:srgbClr val="FFC000"/>
                </a:solidFill>
              </a:rPr>
              <a:t>	print(‘Sum is :’ , num1+num2)</a:t>
            </a:r>
          </a:p>
        </p:txBody>
      </p:sp>
    </p:spTree>
    <p:extLst>
      <p:ext uri="{BB962C8B-B14F-4D97-AF65-F5344CB8AC3E}">
        <p14:creationId xmlns:p14="http://schemas.microsoft.com/office/powerpoint/2010/main" val="14854117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6C4D-4994-28C2-4303-C059E4A8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222D210F-230D-C934-2722-C9CA3084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761AA-02C6-E928-229F-8C7151E550A5}"/>
              </a:ext>
            </a:extLst>
          </p:cNvPr>
          <p:cNvSpPr txBox="1"/>
          <p:nvPr/>
        </p:nvSpPr>
        <p:spPr>
          <a:xfrm>
            <a:off x="2754673" y="469000"/>
            <a:ext cx="363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Getting familiar in using </a:t>
            </a:r>
            <a:r>
              <a:rPr lang="en-US" sz="2000" b="1" dirty="0" err="1"/>
              <a:t>Colab</a:t>
            </a:r>
            <a:endParaRPr lang="en-US" sz="2000" b="1" dirty="0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A93D7148-FEC7-2CB3-22F2-823352931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42" y="990310"/>
            <a:ext cx="2919623" cy="16879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3122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DB74-7E43-72E4-CDFC-C87A5532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4B751CF-4E2A-72DB-6B55-FF843079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8770E-3E1E-53F1-7BDA-DFEF1BC38ED7}"/>
              </a:ext>
            </a:extLst>
          </p:cNvPr>
          <p:cNvSpPr txBox="1"/>
          <p:nvPr/>
        </p:nvSpPr>
        <p:spPr>
          <a:xfrm>
            <a:off x="2754673" y="469000"/>
            <a:ext cx="363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Getting familiar in using </a:t>
            </a:r>
            <a:r>
              <a:rPr lang="en-US" sz="2000" b="1" dirty="0" err="1"/>
              <a:t>Colab</a:t>
            </a:r>
            <a:endParaRPr lang="en-US" sz="2000" b="1" dirty="0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F1EB69FF-B6F1-9736-44F4-071F143BB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42" y="990310"/>
            <a:ext cx="2919623" cy="16879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E985C2-37F9-41E7-3047-D2D1CBC8E176}"/>
              </a:ext>
            </a:extLst>
          </p:cNvPr>
          <p:cNvSpPr txBox="1"/>
          <p:nvPr/>
        </p:nvSpPr>
        <p:spPr>
          <a:xfrm>
            <a:off x="1088331" y="2990768"/>
            <a:ext cx="315875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Lets assume, we would like plot 2D data using matplotlib, which is not installed in </a:t>
            </a:r>
            <a:r>
              <a:rPr lang="en-US" sz="1400" dirty="0" err="1"/>
              <a:t>Colab</a:t>
            </a:r>
            <a:r>
              <a:rPr lang="en-US" sz="1400" dirty="0"/>
              <a:t> environment</a:t>
            </a:r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4E44540-1E4E-82AE-5CC1-C1D83DC05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205" y="1066923"/>
            <a:ext cx="3634653" cy="29932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70870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6160-7EA1-EB77-F37A-2A7018C5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D94A14B-F166-7CC2-D97A-883E824C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923" y="4799875"/>
            <a:ext cx="1483112" cy="273844"/>
          </a:xfrm>
        </p:spPr>
        <p:txBody>
          <a:bodyPr/>
          <a:lstStyle/>
          <a:p>
            <a:r>
              <a:rPr lang="en-US"/>
              <a:t>S. Sharma, UJ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7719D-5665-F5EC-A4C4-5CC09680DA6B}"/>
              </a:ext>
            </a:extLst>
          </p:cNvPr>
          <p:cNvSpPr txBox="1"/>
          <p:nvPr/>
        </p:nvSpPr>
        <p:spPr>
          <a:xfrm>
            <a:off x="3875809" y="565760"/>
            <a:ext cx="1392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Tutorials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DEF1E-92DA-0235-F913-475E238F9D0F}"/>
              </a:ext>
            </a:extLst>
          </p:cNvPr>
          <p:cNvSpPr txBox="1"/>
          <p:nvPr/>
        </p:nvSpPr>
        <p:spPr>
          <a:xfrm>
            <a:off x="3061105" y="2571750"/>
            <a:ext cx="343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satyam.tiwari@doctoral.uj.edu.pl</a:t>
            </a:r>
          </a:p>
        </p:txBody>
      </p:sp>
      <p:pic>
        <p:nvPicPr>
          <p:cNvPr id="7" name="Picture 6" descr="A person with glasses smiling&#10;&#10;AI-generated content may be incorrect.">
            <a:extLst>
              <a:ext uri="{FF2B5EF4-FFF2-40B4-BE49-F238E27FC236}">
                <a16:creationId xmlns:a16="http://schemas.microsoft.com/office/drawing/2014/main" id="{92C563AF-DA1C-84DE-A3DD-DCE25074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54" y="1166413"/>
            <a:ext cx="769677" cy="115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45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4730</Words>
  <Application>Microsoft Office PowerPoint</Application>
  <PresentationFormat>On-screen Show (16:9)</PresentationFormat>
  <Paragraphs>947</Paragraphs>
  <Slides>72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Sushil Sharma</dc:creator>
  <cp:lastModifiedBy>Sushil Sharma</cp:lastModifiedBy>
  <cp:revision>262</cp:revision>
  <dcterms:created xsi:type="dcterms:W3CDTF">2022-10-09T16:05:20Z</dcterms:created>
  <dcterms:modified xsi:type="dcterms:W3CDTF">2025-11-05T14:49:06Z</dcterms:modified>
</cp:coreProperties>
</file>