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9" r:id="rId15"/>
    <p:sldId id="280" r:id="rId16"/>
    <p:sldId id="281" r:id="rId17"/>
    <p:sldId id="282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g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Image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Imag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44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4.png"/><Relationship Id="rId7" Type="http://schemas.openxmlformats.org/officeDocument/2006/relationships/image" Target="../media/image46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6.png"/><Relationship Id="rId10" Type="http://schemas.openxmlformats.org/officeDocument/2006/relationships/image" Target="../media/image45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4.png"/><Relationship Id="rId7" Type="http://schemas.openxmlformats.org/officeDocument/2006/relationships/image" Target="../media/image49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6.png"/><Relationship Id="rId10" Type="http://schemas.openxmlformats.org/officeDocument/2006/relationships/image" Target="../media/image45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4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54.png"/><Relationship Id="rId5" Type="http://schemas.openxmlformats.org/officeDocument/2006/relationships/image" Target="../media/image36.png"/><Relationship Id="rId10" Type="http://schemas.openxmlformats.org/officeDocument/2006/relationships/image" Target="../media/image53.png"/><Relationship Id="rId4" Type="http://schemas.openxmlformats.org/officeDocument/2006/relationships/image" Target="../media/image43.png"/><Relationship Id="rId9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4.png"/><Relationship Id="rId7" Type="http://schemas.openxmlformats.org/officeDocument/2006/relationships/image" Target="../media/image50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6.png"/><Relationship Id="rId10" Type="http://schemas.openxmlformats.org/officeDocument/2006/relationships/image" Target="../media/image55.png"/><Relationship Id="rId4" Type="http://schemas.openxmlformats.org/officeDocument/2006/relationships/image" Target="../media/image43.png"/><Relationship Id="rId9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4.png"/><Relationship Id="rId7" Type="http://schemas.openxmlformats.org/officeDocument/2006/relationships/image" Target="../media/image50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6.png"/><Relationship Id="rId10" Type="http://schemas.openxmlformats.org/officeDocument/2006/relationships/image" Target="../media/image55.png"/><Relationship Id="rId4" Type="http://schemas.openxmlformats.org/officeDocument/2006/relationships/image" Target="../media/image43.png"/><Relationship Id="rId9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2.gif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9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151" name="Rectangle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2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pic>
        <p:nvPicPr>
          <p:cNvPr id="15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932" y="2319264"/>
            <a:ext cx="8700671" cy="9077472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Python…"/>
          <p:cNvSpPr txBox="1"/>
          <p:nvPr/>
        </p:nvSpPr>
        <p:spPr>
          <a:xfrm>
            <a:off x="12917667" y="2580076"/>
            <a:ext cx="7848067" cy="78319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12600" b="1">
                <a:solidFill>
                  <a:srgbClr val="FFFFFF"/>
                </a:solidFill>
              </a:defRPr>
            </a:pPr>
            <a:r>
              <a:t>Python </a:t>
            </a:r>
          </a:p>
          <a:p>
            <a:pPr>
              <a:lnSpc>
                <a:spcPct val="150000"/>
              </a:lnSpc>
              <a:defRPr sz="12600" b="1">
                <a:solidFill>
                  <a:srgbClr val="FFFFFF"/>
                </a:solidFill>
              </a:defRPr>
            </a:pPr>
            <a:r>
              <a:t>for </a:t>
            </a:r>
          </a:p>
          <a:p>
            <a:pPr>
              <a:lnSpc>
                <a:spcPct val="150000"/>
              </a:lnSpc>
              <a:defRPr sz="12600" b="1">
                <a:solidFill>
                  <a:srgbClr val="FFFFFF"/>
                </a:solidFill>
              </a:defRPr>
            </a:pPr>
            <a:r>
              <a:t>Beginners</a:t>
            </a:r>
          </a:p>
        </p:txBody>
      </p:sp>
      <p:sp>
        <p:nvSpPr>
          <p:cNvPr id="156" name="S. Sharma, UJ"/>
          <p:cNvSpPr/>
          <p:nvPr/>
        </p:nvSpPr>
        <p:spPr>
          <a:xfrm>
            <a:off x="2679344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157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158" name="Picture 3" descr="Picture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Shape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25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0" name="04/11/2022"/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21</a:t>
            </a:r>
            <a:r>
              <a:rPr dirty="0"/>
              <a:t>/11/2022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1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162" name="Rectangle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3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65" name="S. Sharma, UJ"/>
          <p:cNvSpPr/>
          <p:nvPr/>
        </p:nvSpPr>
        <p:spPr>
          <a:xfrm>
            <a:off x="2679344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166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167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1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169" name="04/11/2022"/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21</a:t>
            </a:r>
            <a:r>
              <a:rPr dirty="0"/>
              <a:t>/11/2022</a:t>
            </a:r>
          </a:p>
        </p:txBody>
      </p:sp>
      <p:sp>
        <p:nvSpPr>
          <p:cNvPr id="170" name="Glimpse of last lecture"/>
          <p:cNvSpPr txBox="1"/>
          <p:nvPr/>
        </p:nvSpPr>
        <p:spPr>
          <a:xfrm>
            <a:off x="8646558" y="1092458"/>
            <a:ext cx="690753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r>
              <a:t>Glimpse of last lecture</a:t>
            </a:r>
          </a:p>
        </p:txBody>
      </p:sp>
      <p:grpSp>
        <p:nvGrpSpPr>
          <p:cNvPr id="175" name="Group"/>
          <p:cNvGrpSpPr/>
          <p:nvPr/>
        </p:nvGrpSpPr>
        <p:grpSpPr>
          <a:xfrm>
            <a:off x="5954162" y="2225077"/>
            <a:ext cx="11222195" cy="10030470"/>
            <a:chOff x="0" y="0"/>
            <a:chExt cx="11222193" cy="10030469"/>
          </a:xfrm>
        </p:grpSpPr>
        <p:pic>
          <p:nvPicPr>
            <p:cNvPr id="171" name="Image" descr="Image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20333"/>
              <a:ext cx="6024183" cy="9981930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190500" dist="8455" dir="5400000" rotWithShape="0">
                <a:schemeClr val="accent5"/>
              </a:outerShdw>
            </a:effectLst>
          </p:spPr>
        </p:pic>
        <p:pic>
          <p:nvPicPr>
            <p:cNvPr id="172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3287" y="21951"/>
              <a:ext cx="5019954" cy="6995018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190500" dist="8455" dir="5400000" rotWithShape="0">
                <a:schemeClr val="accent5"/>
              </a:outerShdw>
            </a:effectLst>
          </p:spPr>
        </p:pic>
        <p:pic>
          <p:nvPicPr>
            <p:cNvPr id="173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93287" y="7180600"/>
              <a:ext cx="5019954" cy="2849870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190500" dist="8455" dir="5400000" rotWithShape="0">
                <a:schemeClr val="accent5"/>
              </a:outerShdw>
            </a:effectLst>
          </p:spPr>
        </p:pic>
        <p:sp>
          <p:nvSpPr>
            <p:cNvPr id="174" name="Rectangle"/>
            <p:cNvSpPr/>
            <p:nvPr/>
          </p:nvSpPr>
          <p:spPr>
            <a:xfrm>
              <a:off x="7030" y="0"/>
              <a:ext cx="11215164" cy="10022596"/>
            </a:xfrm>
            <a:prstGeom prst="rect">
              <a:avLst/>
            </a:prstGeom>
            <a:noFill/>
            <a:ln w="635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76" name="Line"/>
          <p:cNvSpPr/>
          <p:nvPr/>
        </p:nvSpPr>
        <p:spPr>
          <a:xfrm>
            <a:off x="7437176" y="2854011"/>
            <a:ext cx="396995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77" name="Line"/>
          <p:cNvSpPr/>
          <p:nvPr/>
        </p:nvSpPr>
        <p:spPr>
          <a:xfrm>
            <a:off x="7437176" y="3198725"/>
            <a:ext cx="396995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78" name="Line"/>
          <p:cNvSpPr/>
          <p:nvPr/>
        </p:nvSpPr>
        <p:spPr>
          <a:xfrm>
            <a:off x="7437176" y="3568839"/>
            <a:ext cx="175494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79" name="Line"/>
          <p:cNvSpPr/>
          <p:nvPr/>
        </p:nvSpPr>
        <p:spPr>
          <a:xfrm>
            <a:off x="7437176" y="3938954"/>
            <a:ext cx="396995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180" name="Rectangle Rectangle" descr="Rectangle Rectangl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429309" y="4053092"/>
            <a:ext cx="1770677" cy="444257"/>
          </a:xfrm>
          <a:prstGeom prst="rect">
            <a:avLst/>
          </a:prstGeom>
          <a:effectLst>
            <a:outerShdw blurRad="190500" dir="5400000" rotWithShape="0">
              <a:schemeClr val="accent5">
                <a:alpha val="20665"/>
              </a:schemeClr>
            </a:outerShdw>
          </a:effectLst>
        </p:spPr>
      </p:pic>
      <p:sp>
        <p:nvSpPr>
          <p:cNvPr id="181" name="Line"/>
          <p:cNvSpPr/>
          <p:nvPr/>
        </p:nvSpPr>
        <p:spPr>
          <a:xfrm>
            <a:off x="7351200" y="7240311"/>
            <a:ext cx="174909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2" name="Line"/>
          <p:cNvSpPr/>
          <p:nvPr/>
        </p:nvSpPr>
        <p:spPr>
          <a:xfrm>
            <a:off x="7440100" y="7568278"/>
            <a:ext cx="11932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3" name="Line"/>
          <p:cNvSpPr/>
          <p:nvPr/>
        </p:nvSpPr>
        <p:spPr>
          <a:xfrm>
            <a:off x="7440100" y="8348421"/>
            <a:ext cx="11932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4" name="Line"/>
          <p:cNvSpPr/>
          <p:nvPr/>
        </p:nvSpPr>
        <p:spPr>
          <a:xfrm>
            <a:off x="7440100" y="7958349"/>
            <a:ext cx="58587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185" name="Rectangle Rectangle" descr="Rectangle Rectangl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391209" y="8829118"/>
            <a:ext cx="1770677" cy="391730"/>
          </a:xfrm>
          <a:prstGeom prst="rect">
            <a:avLst/>
          </a:prstGeom>
          <a:effectLst>
            <a:outerShdw blurRad="190500" dir="5400000" rotWithShape="0">
              <a:schemeClr val="accent5">
                <a:alpha val="20665"/>
              </a:schemeClr>
            </a:outerShdw>
          </a:effectLst>
        </p:spPr>
      </p:pic>
      <p:sp>
        <p:nvSpPr>
          <p:cNvPr id="186" name="Rectangle"/>
          <p:cNvSpPr/>
          <p:nvPr/>
        </p:nvSpPr>
        <p:spPr>
          <a:xfrm>
            <a:off x="9681307" y="3325564"/>
            <a:ext cx="1586668" cy="486552"/>
          </a:xfrm>
          <a:prstGeom prst="rect">
            <a:avLst/>
          </a:prstGeom>
          <a:solidFill>
            <a:schemeClr val="accent4">
              <a:hueOff val="-476017"/>
              <a:lumOff val="-10042"/>
              <a:alpha val="67535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7" name="Rectangle"/>
          <p:cNvSpPr/>
          <p:nvPr/>
        </p:nvSpPr>
        <p:spPr>
          <a:xfrm>
            <a:off x="7999603" y="7715074"/>
            <a:ext cx="892836" cy="486552"/>
          </a:xfrm>
          <a:prstGeom prst="rect">
            <a:avLst/>
          </a:prstGeom>
          <a:solidFill>
            <a:schemeClr val="accent4">
              <a:hueOff val="-476017"/>
              <a:lumOff val="-10042"/>
              <a:alpha val="67535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8" name="Line"/>
          <p:cNvSpPr/>
          <p:nvPr/>
        </p:nvSpPr>
        <p:spPr>
          <a:xfrm>
            <a:off x="7368347" y="8699576"/>
            <a:ext cx="181640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1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19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20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22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23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24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3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226" name="04/11/2022"/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21</a:t>
            </a:r>
            <a:r>
              <a:rPr dirty="0"/>
              <a:t>/11/2022</a:t>
            </a:r>
          </a:p>
        </p:txBody>
      </p:sp>
      <p:sp>
        <p:nvSpPr>
          <p:cNvPr id="227" name="Sets"/>
          <p:cNvSpPr txBox="1"/>
          <p:nvPr/>
        </p:nvSpPr>
        <p:spPr>
          <a:xfrm>
            <a:off x="11372613" y="1262574"/>
            <a:ext cx="1455421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r>
              <a:t>Sets</a:t>
            </a:r>
          </a:p>
        </p:txBody>
      </p:sp>
      <p:sp>
        <p:nvSpPr>
          <p:cNvPr id="228" name="‘Set’ in python offers to store unordered collection of elements but without duplicity."/>
          <p:cNvSpPr txBox="1"/>
          <p:nvPr/>
        </p:nvSpPr>
        <p:spPr>
          <a:xfrm>
            <a:off x="2557977" y="2269651"/>
            <a:ext cx="18657342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900">
                <a:solidFill>
                  <a:srgbClr val="FFFFFF"/>
                </a:solidFill>
              </a:defRPr>
            </a:pPr>
            <a:r>
              <a:t>‘Set’ in python offers to store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unordered collection</a:t>
            </a:r>
            <a:r>
              <a:t> of elements but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without duplicity</a:t>
            </a:r>
            <a:r>
              <a:t>.</a:t>
            </a:r>
          </a:p>
        </p:txBody>
      </p:sp>
      <p:sp>
        <p:nvSpPr>
          <p:cNvPr id="229" name="‘Set’ objects also support the basic mathematical functionalists :…"/>
          <p:cNvSpPr txBox="1"/>
          <p:nvPr/>
        </p:nvSpPr>
        <p:spPr>
          <a:xfrm>
            <a:off x="2598257" y="3058040"/>
            <a:ext cx="14545857" cy="1256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900">
                <a:solidFill>
                  <a:srgbClr val="FFFFFF"/>
                </a:solidFill>
              </a:defRPr>
            </a:pPr>
            <a:r>
              <a:t>‘Set’ objects also support the basic mathematical functionalists : </a:t>
            </a:r>
          </a:p>
          <a:p>
            <a:pPr algn="l">
              <a:defRPr sz="3900">
                <a:solidFill>
                  <a:srgbClr val="FFFFFF"/>
                </a:solidFill>
              </a:defRPr>
            </a:pPr>
            <a:r>
              <a:t>union, intersection, difference.</a:t>
            </a:r>
          </a:p>
        </p:txBody>
      </p:sp>
      <p:grpSp>
        <p:nvGrpSpPr>
          <p:cNvPr id="243" name="Group"/>
          <p:cNvGrpSpPr/>
          <p:nvPr/>
        </p:nvGrpSpPr>
        <p:grpSpPr>
          <a:xfrm>
            <a:off x="5125532" y="4529275"/>
            <a:ext cx="3844212" cy="2987403"/>
            <a:chOff x="0" y="0"/>
            <a:chExt cx="3844211" cy="2987402"/>
          </a:xfrm>
        </p:grpSpPr>
        <p:sp>
          <p:nvSpPr>
            <p:cNvPr id="230" name="Circle"/>
            <p:cNvSpPr/>
            <p:nvPr/>
          </p:nvSpPr>
          <p:spPr>
            <a:xfrm>
              <a:off x="0" y="0"/>
              <a:ext cx="2285876" cy="2285876"/>
            </a:xfrm>
            <a:prstGeom prst="ellips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31" name="Circle"/>
            <p:cNvSpPr/>
            <p:nvPr/>
          </p:nvSpPr>
          <p:spPr>
            <a:xfrm>
              <a:off x="1558335" y="0"/>
              <a:ext cx="2285877" cy="2285876"/>
            </a:xfrm>
            <a:prstGeom prst="ellipse">
              <a:avLst/>
            </a:prstGeom>
            <a:noFill/>
            <a:ln w="254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32" name="1"/>
            <p:cNvSpPr txBox="1"/>
            <p:nvPr/>
          </p:nvSpPr>
          <p:spPr>
            <a:xfrm>
              <a:off x="531283" y="423401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233" name="2"/>
            <p:cNvSpPr txBox="1"/>
            <p:nvPr/>
          </p:nvSpPr>
          <p:spPr>
            <a:xfrm>
              <a:off x="1765183" y="1046598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234" name="3"/>
            <p:cNvSpPr txBox="1"/>
            <p:nvPr/>
          </p:nvSpPr>
          <p:spPr>
            <a:xfrm>
              <a:off x="670777" y="1530301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235" name="4"/>
            <p:cNvSpPr txBox="1"/>
            <p:nvPr/>
          </p:nvSpPr>
          <p:spPr>
            <a:xfrm>
              <a:off x="1332143" y="117360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236" name="6"/>
            <p:cNvSpPr txBox="1"/>
            <p:nvPr/>
          </p:nvSpPr>
          <p:spPr>
            <a:xfrm>
              <a:off x="2559388" y="117360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6</a:t>
              </a:r>
            </a:p>
          </p:txBody>
        </p:sp>
        <p:sp>
          <p:nvSpPr>
            <p:cNvPr id="237" name="5"/>
            <p:cNvSpPr txBox="1"/>
            <p:nvPr/>
          </p:nvSpPr>
          <p:spPr>
            <a:xfrm>
              <a:off x="1765183" y="556993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238" name="9"/>
            <p:cNvSpPr txBox="1"/>
            <p:nvPr/>
          </p:nvSpPr>
          <p:spPr>
            <a:xfrm>
              <a:off x="2999083" y="817102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9</a:t>
              </a:r>
            </a:p>
          </p:txBody>
        </p:sp>
        <p:sp>
          <p:nvSpPr>
            <p:cNvPr id="239" name="10"/>
            <p:cNvSpPr txBox="1"/>
            <p:nvPr/>
          </p:nvSpPr>
          <p:spPr>
            <a:xfrm>
              <a:off x="2474654" y="1555701"/>
              <a:ext cx="453238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10</a:t>
              </a:r>
            </a:p>
          </p:txBody>
        </p:sp>
        <p:sp>
          <p:nvSpPr>
            <p:cNvPr id="240" name="A"/>
            <p:cNvSpPr txBox="1"/>
            <p:nvPr/>
          </p:nvSpPr>
          <p:spPr>
            <a:xfrm>
              <a:off x="955294" y="2415898"/>
              <a:ext cx="375286" cy="560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 b="1">
                  <a:solidFill>
                    <a:srgbClr val="FFFFFF"/>
                  </a:solidFill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241" name="B"/>
            <p:cNvSpPr txBox="1"/>
            <p:nvPr/>
          </p:nvSpPr>
          <p:spPr>
            <a:xfrm>
              <a:off x="2510011" y="2426953"/>
              <a:ext cx="382525" cy="560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 b="1">
                  <a:solidFill>
                    <a:srgbClr val="FFFFFF"/>
                  </a:solidFill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242" name="4"/>
            <p:cNvSpPr txBox="1"/>
            <p:nvPr/>
          </p:nvSpPr>
          <p:spPr>
            <a:xfrm>
              <a:off x="2999083" y="244360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257" name="Group"/>
          <p:cNvGrpSpPr/>
          <p:nvPr/>
        </p:nvGrpSpPr>
        <p:grpSpPr>
          <a:xfrm>
            <a:off x="10348640" y="4584253"/>
            <a:ext cx="11030829" cy="3875433"/>
            <a:chOff x="533480" y="105220"/>
            <a:chExt cx="11030827" cy="3875432"/>
          </a:xfrm>
        </p:grpSpPr>
        <p:sp>
          <p:nvSpPr>
            <p:cNvPr id="244" name="A ∪ B"/>
            <p:cNvSpPr/>
            <p:nvPr/>
          </p:nvSpPr>
          <p:spPr>
            <a:xfrm>
              <a:off x="533480" y="6829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∪ B</a:t>
              </a:r>
            </a:p>
          </p:txBody>
        </p:sp>
        <p:sp>
          <p:nvSpPr>
            <p:cNvPr id="245" name="A ∩ B"/>
            <p:cNvSpPr/>
            <p:nvPr/>
          </p:nvSpPr>
          <p:spPr>
            <a:xfrm>
              <a:off x="533480" y="178632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∩ B</a:t>
              </a:r>
            </a:p>
          </p:txBody>
        </p:sp>
        <p:sp>
          <p:nvSpPr>
            <p:cNvPr id="246" name="A - B"/>
            <p:cNvSpPr/>
            <p:nvPr/>
          </p:nvSpPr>
          <p:spPr>
            <a:xfrm>
              <a:off x="533480" y="271065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- B</a:t>
              </a:r>
            </a:p>
          </p:txBody>
        </p:sp>
        <p:sp>
          <p:nvSpPr>
            <p:cNvPr id="247" name="= 1, 3, 4, 5, 2, 6, 9, 10"/>
            <p:cNvSpPr/>
            <p:nvPr/>
          </p:nvSpPr>
          <p:spPr>
            <a:xfrm>
              <a:off x="2995377" y="6829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700">
                  <a:solidFill>
                    <a:srgbClr val="FFFFFF"/>
                  </a:solidFill>
                </a:defRPr>
              </a:lvl1pPr>
            </a:lstStyle>
            <a:p>
              <a:r>
                <a:t>= 1, 3, 4, 5, 2, 6, 9, 10</a:t>
              </a:r>
            </a:p>
          </p:txBody>
        </p:sp>
        <p:sp>
          <p:nvSpPr>
            <p:cNvPr id="248" name="= 5, 2"/>
            <p:cNvSpPr/>
            <p:nvPr/>
          </p:nvSpPr>
          <p:spPr>
            <a:xfrm>
              <a:off x="1754886" y="178632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700">
                  <a:solidFill>
                    <a:srgbClr val="FFFFFF"/>
                  </a:solidFill>
                </a:defRPr>
              </a:lvl1pPr>
            </a:lstStyle>
            <a:p>
              <a:r>
                <a:t>= 5, 2</a:t>
              </a:r>
            </a:p>
          </p:txBody>
        </p:sp>
        <p:sp>
          <p:nvSpPr>
            <p:cNvPr id="249" name="= 1, 3, 4"/>
            <p:cNvSpPr/>
            <p:nvPr/>
          </p:nvSpPr>
          <p:spPr>
            <a:xfrm>
              <a:off x="1919572" y="271065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700">
                  <a:solidFill>
                    <a:srgbClr val="FFFFFF"/>
                  </a:solidFill>
                </a:defRPr>
              </a:lvl1pPr>
            </a:lstStyle>
            <a:p>
              <a:r>
                <a:t>= 1, 3, 4</a:t>
              </a:r>
            </a:p>
          </p:txBody>
        </p:sp>
        <p:sp>
          <p:nvSpPr>
            <p:cNvPr id="250" name="Line"/>
            <p:cNvSpPr/>
            <p:nvPr/>
          </p:nvSpPr>
          <p:spPr>
            <a:xfrm flipH="1">
              <a:off x="4935244" y="105220"/>
              <a:ext cx="1" cy="348417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251" name="A ^ B…"/>
            <p:cNvSpPr/>
            <p:nvPr/>
          </p:nvSpPr>
          <p:spPr>
            <a:xfrm>
              <a:off x="10294308" y="133304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3100">
                  <a:solidFill>
                    <a:srgbClr val="FFFFFF"/>
                  </a:solidFill>
                </a:defRPr>
              </a:pPr>
              <a:r>
                <a:t>A ^ B 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(in either of them but not in both)</a:t>
              </a:r>
            </a:p>
          </p:txBody>
        </p:sp>
        <p:sp>
          <p:nvSpPr>
            <p:cNvPr id="252" name="A &amp; B"/>
            <p:cNvSpPr/>
            <p:nvPr/>
          </p:nvSpPr>
          <p:spPr>
            <a:xfrm>
              <a:off x="6380891" y="169680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&amp; B</a:t>
              </a:r>
            </a:p>
          </p:txBody>
        </p:sp>
        <p:sp>
          <p:nvSpPr>
            <p:cNvPr id="253" name="A - B"/>
            <p:cNvSpPr/>
            <p:nvPr/>
          </p:nvSpPr>
          <p:spPr>
            <a:xfrm>
              <a:off x="6494079" y="271065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- B</a:t>
              </a:r>
            </a:p>
          </p:txBody>
        </p:sp>
        <p:sp>
          <p:nvSpPr>
            <p:cNvPr id="254" name="Line"/>
            <p:cNvSpPr/>
            <p:nvPr/>
          </p:nvSpPr>
          <p:spPr>
            <a:xfrm>
              <a:off x="7987168" y="510538"/>
              <a:ext cx="1" cy="310185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255" name="A | B"/>
            <p:cNvSpPr/>
            <p:nvPr/>
          </p:nvSpPr>
          <p:spPr>
            <a:xfrm>
              <a:off x="6461205" y="6829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| B</a:t>
              </a:r>
            </a:p>
          </p:txBody>
        </p:sp>
        <p:sp>
          <p:nvSpPr>
            <p:cNvPr id="256" name="Python equivalent"/>
            <p:cNvSpPr/>
            <p:nvPr/>
          </p:nvSpPr>
          <p:spPr>
            <a:xfrm>
              <a:off x="6479915" y="23052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000000"/>
                  </a:solidFill>
                </a:defRPr>
              </a:lvl1pPr>
            </a:lstStyle>
            <a:p>
              <a:r>
                <a:t>Python equivalent</a:t>
              </a:r>
            </a:p>
          </p:txBody>
        </p:sp>
      </p:grpSp>
      <p:sp>
        <p:nvSpPr>
          <p:cNvPr id="258" name="SetA= {1,2,3,4,5}…"/>
          <p:cNvSpPr txBox="1"/>
          <p:nvPr/>
        </p:nvSpPr>
        <p:spPr>
          <a:xfrm>
            <a:off x="7981988" y="10736913"/>
            <a:ext cx="2860854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 SetA= {1,2,3,4,5}</a:t>
            </a:r>
          </a:p>
          <a:p>
            <a:r>
              <a:t>   </a:t>
            </a:r>
            <a:r>
              <a:rPr>
                <a:solidFill>
                  <a:srgbClr val="FFFFFF"/>
                </a:solidFill>
              </a:rPr>
              <a:t>SetB= {2,5,6,9,10}</a:t>
            </a:r>
          </a:p>
        </p:txBody>
      </p:sp>
      <p:pic>
        <p:nvPicPr>
          <p:cNvPr id="259" name="Like dictionary (with keys only) using curly braces Like dictionary (with keys only) using curly braces" descr="Like dictionary (with keys only) using curly braces Like dictionary (with keys only) using curly braces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024006" y="9646165"/>
            <a:ext cx="8030084" cy="600023"/>
          </a:xfrm>
          <a:prstGeom prst="rect">
            <a:avLst/>
          </a:prstGeom>
          <a:effectLst>
            <a:outerShdw blurRad="190500" dist="8455" dir="5400000" rotWithShape="0">
              <a:srgbClr val="929292"/>
            </a:outerShdw>
          </a:effectLst>
        </p:spPr>
      </p:pic>
      <p:sp>
        <p:nvSpPr>
          <p:cNvPr id="260" name="‘Set’ can be constructed using two ways :"/>
          <p:cNvSpPr txBox="1"/>
          <p:nvPr/>
        </p:nvSpPr>
        <p:spPr>
          <a:xfrm>
            <a:off x="2658268" y="8727513"/>
            <a:ext cx="9397709" cy="67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900">
                <a:solidFill>
                  <a:srgbClr val="FFFFFF"/>
                </a:solidFill>
              </a:defRPr>
            </a:pPr>
            <a:r>
              <a:t>‘Set’ can be constructed using</a:t>
            </a:r>
            <a:r>
              <a:rPr u="sng"/>
              <a:t> two ways</a:t>
            </a:r>
            <a:r>
              <a:t> :</a:t>
            </a:r>
          </a:p>
        </p:txBody>
      </p:sp>
      <p:sp>
        <p:nvSpPr>
          <p:cNvPr id="261" name="Using set( ) function"/>
          <p:cNvSpPr txBox="1"/>
          <p:nvPr/>
        </p:nvSpPr>
        <p:spPr>
          <a:xfrm>
            <a:off x="3305406" y="9684265"/>
            <a:ext cx="3288489" cy="523823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ffectLst>
            <a:outerShdw blurRad="190500" dist="8455" dir="5400000" rotWithShape="0">
              <a:srgbClr val="929292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 b="1">
                <a:solidFill>
                  <a:srgbClr val="FFFFFF"/>
                </a:solidFill>
              </a:defRPr>
            </a:lvl1pPr>
          </a:lstStyle>
          <a:p>
            <a:r>
              <a:t>Using set( ) function</a:t>
            </a:r>
          </a:p>
        </p:txBody>
      </p:sp>
      <p:sp>
        <p:nvSpPr>
          <p:cNvPr id="262" name="Set1 = {‘Mango’, ‘Banana’, ‘Apple’}…"/>
          <p:cNvSpPr txBox="1"/>
          <p:nvPr/>
        </p:nvSpPr>
        <p:spPr>
          <a:xfrm>
            <a:off x="9864882" y="10762313"/>
            <a:ext cx="6605550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>
              <a:defRPr>
                <a:solidFill>
                  <a:srgbClr val="FFFFFF"/>
                </a:solidFill>
              </a:defRPr>
            </a:pPr>
            <a:r>
              <a:t>Set1 = {‘Mango’, ‘Banana’, ‘Apple’}</a:t>
            </a:r>
          </a:p>
          <a:p>
            <a:r>
              <a:t> </a:t>
            </a:r>
            <a:r>
              <a:rPr>
                <a:solidFill>
                  <a:srgbClr val="FFFFFF"/>
                </a:solidFill>
              </a:rPr>
              <a:t>Set2 = {‘tree’, ‘house’, ‘Banana'}</a:t>
            </a:r>
          </a:p>
        </p:txBody>
      </p:sp>
      <p:sp>
        <p:nvSpPr>
          <p:cNvPr id="263" name="x = set(‘Mango’, ‘Banana’, ‘Apple’)…"/>
          <p:cNvSpPr txBox="1"/>
          <p:nvPr/>
        </p:nvSpPr>
        <p:spPr>
          <a:xfrm>
            <a:off x="2333513" y="10727832"/>
            <a:ext cx="6605550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algn="l">
              <a:defRPr>
                <a:solidFill>
                  <a:srgbClr val="FFFFFF"/>
                </a:solidFill>
              </a:defRPr>
            </a:pPr>
            <a:r>
              <a:t>x = set(‘Mango’, ‘Banana’, ‘Apple’)</a:t>
            </a:r>
          </a:p>
          <a:p>
            <a:pPr lvl="1" algn="l">
              <a:defRPr>
                <a:solidFill>
                  <a:srgbClr val="FFFFFF"/>
                </a:solidFill>
              </a:defRPr>
            </a:pPr>
            <a:r>
              <a:t>y = set(‘tree’, ‘house’, ‘Banana’)</a:t>
            </a:r>
          </a:p>
        </p:txBody>
      </p:sp>
      <p:pic>
        <p:nvPicPr>
          <p:cNvPr id="264" name="Rectangle Rectangle" descr="Rectangle Rectangl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6176663" y="9025899"/>
            <a:ext cx="6158241" cy="3433325"/>
          </a:xfrm>
          <a:prstGeom prst="rect">
            <a:avLst/>
          </a:prstGeom>
          <a:effectLst>
            <a:outerShdw blurRad="190500" dist="8455" dir="5400000" rotWithShape="0">
              <a:srgbClr val="FFFFFF"/>
            </a:outerShdw>
          </a:effectLst>
        </p:spPr>
      </p:pic>
      <p:sp>
        <p:nvSpPr>
          <p:cNvPr id="265" name="Hands-On 9"/>
          <p:cNvSpPr txBox="1"/>
          <p:nvPr/>
        </p:nvSpPr>
        <p:spPr>
          <a:xfrm>
            <a:off x="19442623" y="8376856"/>
            <a:ext cx="2633727" cy="634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 b="1">
                <a:solidFill>
                  <a:srgbClr val="FFFFFF"/>
                </a:solidFill>
              </a:defRPr>
            </a:lvl1pPr>
          </a:lstStyle>
          <a:p>
            <a:r>
              <a:t>Hands-On 9</a:t>
            </a:r>
          </a:p>
        </p:txBody>
      </p:sp>
      <p:sp>
        <p:nvSpPr>
          <p:cNvPr id="266" name="A = {‘Mango’, ‘Banana’, ‘Apple’}…"/>
          <p:cNvSpPr txBox="1"/>
          <p:nvPr/>
        </p:nvSpPr>
        <p:spPr>
          <a:xfrm>
            <a:off x="15815481" y="9269033"/>
            <a:ext cx="6605549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>
              <a:defRPr>
                <a:solidFill>
                  <a:srgbClr val="FFFFFF"/>
                </a:solidFill>
              </a:defRPr>
            </a:pPr>
            <a:r>
              <a:t>A = {‘Mango’, ‘Banana’, ‘Apple’}</a:t>
            </a:r>
          </a:p>
          <a:p>
            <a:r>
              <a:rPr>
                <a:solidFill>
                  <a:srgbClr val="FFFFFF"/>
                </a:solidFill>
              </a:rPr>
              <a:t> B = {‘tree’, ‘house’, ‘Banana'}</a:t>
            </a:r>
          </a:p>
        </p:txBody>
      </p:sp>
      <p:sp>
        <p:nvSpPr>
          <p:cNvPr id="267" name="A ^ B"/>
          <p:cNvSpPr txBox="1"/>
          <p:nvPr/>
        </p:nvSpPr>
        <p:spPr>
          <a:xfrm>
            <a:off x="18955123" y="11333054"/>
            <a:ext cx="1094220" cy="573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A ^ B</a:t>
            </a:r>
          </a:p>
        </p:txBody>
      </p:sp>
      <p:sp>
        <p:nvSpPr>
          <p:cNvPr id="268" name="A &amp; B"/>
          <p:cNvSpPr txBox="1"/>
          <p:nvPr/>
        </p:nvSpPr>
        <p:spPr>
          <a:xfrm>
            <a:off x="18949217" y="10334037"/>
            <a:ext cx="1106031" cy="57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A &amp; B</a:t>
            </a:r>
          </a:p>
        </p:txBody>
      </p:sp>
      <p:sp>
        <p:nvSpPr>
          <p:cNvPr id="269" name="A - B"/>
          <p:cNvSpPr txBox="1"/>
          <p:nvPr/>
        </p:nvSpPr>
        <p:spPr>
          <a:xfrm>
            <a:off x="17358849" y="11317861"/>
            <a:ext cx="1011150" cy="57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A - B</a:t>
            </a:r>
          </a:p>
        </p:txBody>
      </p:sp>
      <p:sp>
        <p:nvSpPr>
          <p:cNvPr id="270" name="A | B"/>
          <p:cNvSpPr txBox="1"/>
          <p:nvPr/>
        </p:nvSpPr>
        <p:spPr>
          <a:xfrm>
            <a:off x="17391723" y="10342757"/>
            <a:ext cx="945402" cy="573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A | B</a:t>
            </a:r>
          </a:p>
        </p:txBody>
      </p:sp>
      <p:pic>
        <p:nvPicPr>
          <p:cNvPr id="271" name="Rectangle Rectangle" descr="Rectangle Rectangl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101145" y="10585667"/>
            <a:ext cx="5697011" cy="1256133"/>
          </a:xfrm>
          <a:prstGeom prst="rect">
            <a:avLst/>
          </a:prstGeom>
        </p:spPr>
      </p:pic>
      <p:pic>
        <p:nvPicPr>
          <p:cNvPr id="273" name="Rectangle Rectangle" descr="Rectangle Rectangl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039442" y="10585667"/>
            <a:ext cx="7999213" cy="1256133"/>
          </a:xfrm>
          <a:prstGeom prst="rect">
            <a:avLst/>
          </a:prstGeom>
        </p:spPr>
      </p:pic>
      <p:pic>
        <p:nvPicPr>
          <p:cNvPr id="275" name="Screen Shot 2022-10-18 at 9.55.01 PM.png" descr="Screen Shot 2022-10-18 at 9.55.01 PM.png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1404194" y="4509417"/>
            <a:ext cx="3190876" cy="34079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Screen Shot 2022-10-18 at 9.55.01 PM.png" descr="Screen Shot 2022-10-18 at 9.55.01 PM.png"/>
          <p:cNvPicPr>
            <a:picLocks/>
          </p:cNvPicPr>
          <p:nvPr/>
        </p:nvPicPr>
        <p:blipFill>
          <a:blip r:embed="rId7">
            <a:alphaModFix amt="98693"/>
          </a:blip>
          <a:stretch>
            <a:fillRect/>
          </a:stretch>
        </p:blipFill>
        <p:spPr>
          <a:xfrm>
            <a:off x="2075769" y="3058760"/>
            <a:ext cx="20232461" cy="9282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1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278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279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81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282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283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4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285" name="04/11/2022"/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21</a:t>
            </a:r>
            <a:r>
              <a:rPr dirty="0"/>
              <a:t>/11/2022</a:t>
            </a:r>
          </a:p>
        </p:txBody>
      </p:sp>
      <p:sp>
        <p:nvSpPr>
          <p:cNvPr id="286" name="Sets"/>
          <p:cNvSpPr txBox="1"/>
          <p:nvPr/>
        </p:nvSpPr>
        <p:spPr>
          <a:xfrm>
            <a:off x="11372613" y="1262574"/>
            <a:ext cx="1455421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r>
              <a:t>Sets</a:t>
            </a:r>
          </a:p>
        </p:txBody>
      </p:sp>
      <p:sp>
        <p:nvSpPr>
          <p:cNvPr id="287" name="‘Set’ in python offers to store unordered collection of elements but without duplicity."/>
          <p:cNvSpPr txBox="1"/>
          <p:nvPr/>
        </p:nvSpPr>
        <p:spPr>
          <a:xfrm>
            <a:off x="2557977" y="2269651"/>
            <a:ext cx="18657342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900">
                <a:solidFill>
                  <a:srgbClr val="FFFFFF"/>
                </a:solidFill>
              </a:defRPr>
            </a:pPr>
            <a:r>
              <a:t>‘Set’ in python offers to store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unordered collection</a:t>
            </a:r>
            <a:r>
              <a:t> of elements but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without duplicity</a:t>
            </a:r>
            <a:r>
              <a:t>.</a:t>
            </a:r>
          </a:p>
        </p:txBody>
      </p:sp>
      <p:sp>
        <p:nvSpPr>
          <p:cNvPr id="288" name="‘Set’ objects also support the basic mathematical functionalists :…"/>
          <p:cNvSpPr txBox="1"/>
          <p:nvPr/>
        </p:nvSpPr>
        <p:spPr>
          <a:xfrm>
            <a:off x="2598257" y="3058040"/>
            <a:ext cx="14545857" cy="1256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900">
                <a:solidFill>
                  <a:srgbClr val="FFFFFF"/>
                </a:solidFill>
              </a:defRPr>
            </a:pPr>
            <a:r>
              <a:t>‘Set’ objects also support the basic mathematical functionalists : </a:t>
            </a:r>
          </a:p>
          <a:p>
            <a:pPr algn="l">
              <a:defRPr sz="3900">
                <a:solidFill>
                  <a:srgbClr val="FFFFFF"/>
                </a:solidFill>
              </a:defRPr>
            </a:pPr>
            <a:r>
              <a:t>union, intersection, difference.</a:t>
            </a:r>
          </a:p>
        </p:txBody>
      </p:sp>
      <p:grpSp>
        <p:nvGrpSpPr>
          <p:cNvPr id="302" name="Group"/>
          <p:cNvGrpSpPr/>
          <p:nvPr/>
        </p:nvGrpSpPr>
        <p:grpSpPr>
          <a:xfrm>
            <a:off x="5125532" y="4529275"/>
            <a:ext cx="3844212" cy="2987403"/>
            <a:chOff x="0" y="0"/>
            <a:chExt cx="3844211" cy="2987402"/>
          </a:xfrm>
        </p:grpSpPr>
        <p:sp>
          <p:nvSpPr>
            <p:cNvPr id="289" name="Circle"/>
            <p:cNvSpPr/>
            <p:nvPr/>
          </p:nvSpPr>
          <p:spPr>
            <a:xfrm>
              <a:off x="0" y="0"/>
              <a:ext cx="2285876" cy="2285876"/>
            </a:xfrm>
            <a:prstGeom prst="ellips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90" name="Circle"/>
            <p:cNvSpPr/>
            <p:nvPr/>
          </p:nvSpPr>
          <p:spPr>
            <a:xfrm>
              <a:off x="1558335" y="0"/>
              <a:ext cx="2285877" cy="2285876"/>
            </a:xfrm>
            <a:prstGeom prst="ellipse">
              <a:avLst/>
            </a:prstGeom>
            <a:noFill/>
            <a:ln w="254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91" name="1"/>
            <p:cNvSpPr txBox="1"/>
            <p:nvPr/>
          </p:nvSpPr>
          <p:spPr>
            <a:xfrm>
              <a:off x="531283" y="423401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292" name="2"/>
            <p:cNvSpPr txBox="1"/>
            <p:nvPr/>
          </p:nvSpPr>
          <p:spPr>
            <a:xfrm>
              <a:off x="1765183" y="1046598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293" name="3"/>
            <p:cNvSpPr txBox="1"/>
            <p:nvPr/>
          </p:nvSpPr>
          <p:spPr>
            <a:xfrm>
              <a:off x="670777" y="1530301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294" name="4"/>
            <p:cNvSpPr txBox="1"/>
            <p:nvPr/>
          </p:nvSpPr>
          <p:spPr>
            <a:xfrm>
              <a:off x="1332143" y="117360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295" name="6"/>
            <p:cNvSpPr txBox="1"/>
            <p:nvPr/>
          </p:nvSpPr>
          <p:spPr>
            <a:xfrm>
              <a:off x="2559388" y="117360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6</a:t>
              </a:r>
            </a:p>
          </p:txBody>
        </p:sp>
        <p:sp>
          <p:nvSpPr>
            <p:cNvPr id="296" name="5"/>
            <p:cNvSpPr txBox="1"/>
            <p:nvPr/>
          </p:nvSpPr>
          <p:spPr>
            <a:xfrm>
              <a:off x="1765183" y="556993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297" name="9"/>
            <p:cNvSpPr txBox="1"/>
            <p:nvPr/>
          </p:nvSpPr>
          <p:spPr>
            <a:xfrm>
              <a:off x="2999083" y="817102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9</a:t>
              </a:r>
            </a:p>
          </p:txBody>
        </p:sp>
        <p:sp>
          <p:nvSpPr>
            <p:cNvPr id="298" name="10"/>
            <p:cNvSpPr txBox="1"/>
            <p:nvPr/>
          </p:nvSpPr>
          <p:spPr>
            <a:xfrm>
              <a:off x="2474654" y="1555701"/>
              <a:ext cx="453238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10</a:t>
              </a:r>
            </a:p>
          </p:txBody>
        </p:sp>
        <p:sp>
          <p:nvSpPr>
            <p:cNvPr id="299" name="A"/>
            <p:cNvSpPr txBox="1"/>
            <p:nvPr/>
          </p:nvSpPr>
          <p:spPr>
            <a:xfrm>
              <a:off x="955294" y="2415898"/>
              <a:ext cx="375286" cy="560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 b="1">
                  <a:solidFill>
                    <a:srgbClr val="FFFFFF"/>
                  </a:solidFill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300" name="B"/>
            <p:cNvSpPr txBox="1"/>
            <p:nvPr/>
          </p:nvSpPr>
          <p:spPr>
            <a:xfrm>
              <a:off x="2510011" y="2426953"/>
              <a:ext cx="382525" cy="560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 b="1">
                  <a:solidFill>
                    <a:srgbClr val="FFFFFF"/>
                  </a:solidFill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301" name="4"/>
            <p:cNvSpPr txBox="1"/>
            <p:nvPr/>
          </p:nvSpPr>
          <p:spPr>
            <a:xfrm>
              <a:off x="2999083" y="244360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316" name="Group"/>
          <p:cNvGrpSpPr/>
          <p:nvPr/>
        </p:nvGrpSpPr>
        <p:grpSpPr>
          <a:xfrm>
            <a:off x="10348640" y="4584253"/>
            <a:ext cx="11030829" cy="3875433"/>
            <a:chOff x="533480" y="105220"/>
            <a:chExt cx="11030827" cy="3875432"/>
          </a:xfrm>
        </p:grpSpPr>
        <p:sp>
          <p:nvSpPr>
            <p:cNvPr id="303" name="A ∪ B"/>
            <p:cNvSpPr/>
            <p:nvPr/>
          </p:nvSpPr>
          <p:spPr>
            <a:xfrm>
              <a:off x="533480" y="6829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∪ B</a:t>
              </a:r>
            </a:p>
          </p:txBody>
        </p:sp>
        <p:sp>
          <p:nvSpPr>
            <p:cNvPr id="304" name="A ∩ B"/>
            <p:cNvSpPr/>
            <p:nvPr/>
          </p:nvSpPr>
          <p:spPr>
            <a:xfrm>
              <a:off x="533480" y="178632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∩ B</a:t>
              </a:r>
            </a:p>
          </p:txBody>
        </p:sp>
        <p:sp>
          <p:nvSpPr>
            <p:cNvPr id="305" name="A - B"/>
            <p:cNvSpPr/>
            <p:nvPr/>
          </p:nvSpPr>
          <p:spPr>
            <a:xfrm>
              <a:off x="533480" y="271065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- B</a:t>
              </a:r>
            </a:p>
          </p:txBody>
        </p:sp>
        <p:sp>
          <p:nvSpPr>
            <p:cNvPr id="306" name="= 1, 3, 4, 5, 2, 6, 9, 10"/>
            <p:cNvSpPr/>
            <p:nvPr/>
          </p:nvSpPr>
          <p:spPr>
            <a:xfrm>
              <a:off x="2995377" y="6829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700">
                  <a:solidFill>
                    <a:srgbClr val="FFFFFF"/>
                  </a:solidFill>
                </a:defRPr>
              </a:lvl1pPr>
            </a:lstStyle>
            <a:p>
              <a:r>
                <a:t>= 1, 3, 4, 5, 2, 6, 9, 10</a:t>
              </a:r>
            </a:p>
          </p:txBody>
        </p:sp>
        <p:sp>
          <p:nvSpPr>
            <p:cNvPr id="307" name="= 5, 2"/>
            <p:cNvSpPr/>
            <p:nvPr/>
          </p:nvSpPr>
          <p:spPr>
            <a:xfrm>
              <a:off x="1754886" y="178632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700">
                  <a:solidFill>
                    <a:srgbClr val="FFFFFF"/>
                  </a:solidFill>
                </a:defRPr>
              </a:lvl1pPr>
            </a:lstStyle>
            <a:p>
              <a:r>
                <a:t>= 5, 2</a:t>
              </a:r>
            </a:p>
          </p:txBody>
        </p:sp>
        <p:sp>
          <p:nvSpPr>
            <p:cNvPr id="308" name="= 1, 3, 4"/>
            <p:cNvSpPr/>
            <p:nvPr/>
          </p:nvSpPr>
          <p:spPr>
            <a:xfrm>
              <a:off x="1919572" y="271065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700">
                  <a:solidFill>
                    <a:srgbClr val="FFFFFF"/>
                  </a:solidFill>
                </a:defRPr>
              </a:lvl1pPr>
            </a:lstStyle>
            <a:p>
              <a:r>
                <a:t>= 1, 3, 4</a:t>
              </a:r>
            </a:p>
          </p:txBody>
        </p:sp>
        <p:sp>
          <p:nvSpPr>
            <p:cNvPr id="309" name="Line"/>
            <p:cNvSpPr/>
            <p:nvPr/>
          </p:nvSpPr>
          <p:spPr>
            <a:xfrm flipH="1">
              <a:off x="4935244" y="105220"/>
              <a:ext cx="1" cy="348417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10" name="A ^ B…"/>
            <p:cNvSpPr/>
            <p:nvPr/>
          </p:nvSpPr>
          <p:spPr>
            <a:xfrm>
              <a:off x="10294308" y="133304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3100">
                  <a:solidFill>
                    <a:srgbClr val="FFFFFF"/>
                  </a:solidFill>
                </a:defRPr>
              </a:pPr>
              <a:r>
                <a:t>A ^ B 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(in either of them but not in both)</a:t>
              </a:r>
            </a:p>
          </p:txBody>
        </p:sp>
        <p:sp>
          <p:nvSpPr>
            <p:cNvPr id="311" name="A &amp; B"/>
            <p:cNvSpPr/>
            <p:nvPr/>
          </p:nvSpPr>
          <p:spPr>
            <a:xfrm>
              <a:off x="6380891" y="169680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&amp; B</a:t>
              </a:r>
            </a:p>
          </p:txBody>
        </p:sp>
        <p:sp>
          <p:nvSpPr>
            <p:cNvPr id="312" name="A - B"/>
            <p:cNvSpPr/>
            <p:nvPr/>
          </p:nvSpPr>
          <p:spPr>
            <a:xfrm>
              <a:off x="6494079" y="271065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- B</a:t>
              </a:r>
            </a:p>
          </p:txBody>
        </p:sp>
        <p:sp>
          <p:nvSpPr>
            <p:cNvPr id="313" name="Line"/>
            <p:cNvSpPr/>
            <p:nvPr/>
          </p:nvSpPr>
          <p:spPr>
            <a:xfrm>
              <a:off x="7987168" y="510538"/>
              <a:ext cx="1" cy="310185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14" name="A | B"/>
            <p:cNvSpPr/>
            <p:nvPr/>
          </p:nvSpPr>
          <p:spPr>
            <a:xfrm>
              <a:off x="6461205" y="6829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| B</a:t>
              </a:r>
            </a:p>
          </p:txBody>
        </p:sp>
        <p:sp>
          <p:nvSpPr>
            <p:cNvPr id="315" name="Python equivalent"/>
            <p:cNvSpPr/>
            <p:nvPr/>
          </p:nvSpPr>
          <p:spPr>
            <a:xfrm>
              <a:off x="6479915" y="23052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000000"/>
                  </a:solidFill>
                </a:defRPr>
              </a:lvl1pPr>
            </a:lstStyle>
            <a:p>
              <a:r>
                <a:t>Python equivalent</a:t>
              </a:r>
            </a:p>
          </p:txBody>
        </p:sp>
      </p:grpSp>
      <p:sp>
        <p:nvSpPr>
          <p:cNvPr id="317" name="SetA= {1,2,3,4,5}…"/>
          <p:cNvSpPr txBox="1"/>
          <p:nvPr/>
        </p:nvSpPr>
        <p:spPr>
          <a:xfrm>
            <a:off x="7981988" y="10736913"/>
            <a:ext cx="2860854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 SetA= {1,2,3,4,5}</a:t>
            </a:r>
          </a:p>
          <a:p>
            <a:r>
              <a:t>   </a:t>
            </a:r>
            <a:r>
              <a:rPr>
                <a:solidFill>
                  <a:srgbClr val="FFFFFF"/>
                </a:solidFill>
              </a:rPr>
              <a:t>SetB= {2,5,6,9,10}</a:t>
            </a:r>
          </a:p>
        </p:txBody>
      </p:sp>
      <p:pic>
        <p:nvPicPr>
          <p:cNvPr id="318" name="Like dictionary (with keys only) using curly braces Like dictionary (with keys only) using curly braces" descr="Like dictionary (with keys only) using curly braces Like dictionary (with keys only) using curly braces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024006" y="9646165"/>
            <a:ext cx="8030084" cy="600023"/>
          </a:xfrm>
          <a:prstGeom prst="rect">
            <a:avLst/>
          </a:prstGeom>
          <a:effectLst>
            <a:outerShdw blurRad="190500" dist="8455" dir="5400000" rotWithShape="0">
              <a:srgbClr val="929292"/>
            </a:outerShdw>
          </a:effectLst>
        </p:spPr>
      </p:pic>
      <p:sp>
        <p:nvSpPr>
          <p:cNvPr id="319" name="‘Set’ can be constructed using two ways :"/>
          <p:cNvSpPr txBox="1"/>
          <p:nvPr/>
        </p:nvSpPr>
        <p:spPr>
          <a:xfrm>
            <a:off x="2658268" y="8727513"/>
            <a:ext cx="9397709" cy="67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900">
                <a:solidFill>
                  <a:srgbClr val="FFFFFF"/>
                </a:solidFill>
              </a:defRPr>
            </a:pPr>
            <a:r>
              <a:t>‘Set’ can be constructed using</a:t>
            </a:r>
            <a:r>
              <a:rPr u="sng"/>
              <a:t> two ways</a:t>
            </a:r>
            <a:r>
              <a:t> :</a:t>
            </a:r>
          </a:p>
        </p:txBody>
      </p:sp>
      <p:sp>
        <p:nvSpPr>
          <p:cNvPr id="320" name="Using set( ) function"/>
          <p:cNvSpPr txBox="1"/>
          <p:nvPr/>
        </p:nvSpPr>
        <p:spPr>
          <a:xfrm>
            <a:off x="3305406" y="9684265"/>
            <a:ext cx="3288489" cy="523823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ffectLst>
            <a:outerShdw blurRad="190500" dist="8455" dir="5400000" rotWithShape="0">
              <a:srgbClr val="929292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 b="1">
                <a:solidFill>
                  <a:srgbClr val="FFFFFF"/>
                </a:solidFill>
              </a:defRPr>
            </a:lvl1pPr>
          </a:lstStyle>
          <a:p>
            <a:r>
              <a:t>Using set( ) function</a:t>
            </a:r>
          </a:p>
        </p:txBody>
      </p:sp>
      <p:sp>
        <p:nvSpPr>
          <p:cNvPr id="321" name="Set1 = {‘Mango’, ‘Banana’, ‘Apple’}…"/>
          <p:cNvSpPr txBox="1"/>
          <p:nvPr/>
        </p:nvSpPr>
        <p:spPr>
          <a:xfrm>
            <a:off x="9864882" y="10762313"/>
            <a:ext cx="6605550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>
              <a:defRPr>
                <a:solidFill>
                  <a:srgbClr val="FFFFFF"/>
                </a:solidFill>
              </a:defRPr>
            </a:pPr>
            <a:r>
              <a:t>Set1 = {‘Mango’, ‘Banana’, ‘Apple’}</a:t>
            </a:r>
          </a:p>
          <a:p>
            <a:r>
              <a:t> </a:t>
            </a:r>
            <a:r>
              <a:rPr>
                <a:solidFill>
                  <a:srgbClr val="FFFFFF"/>
                </a:solidFill>
              </a:rPr>
              <a:t>Set2 = {‘tree’, ‘house’, ‘Banana'}</a:t>
            </a:r>
          </a:p>
        </p:txBody>
      </p:sp>
      <p:sp>
        <p:nvSpPr>
          <p:cNvPr id="322" name="x = set(‘Mango’, ‘Banana’, ‘Apple’)…"/>
          <p:cNvSpPr txBox="1"/>
          <p:nvPr/>
        </p:nvSpPr>
        <p:spPr>
          <a:xfrm>
            <a:off x="2333513" y="10727832"/>
            <a:ext cx="6605550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algn="l">
              <a:defRPr>
                <a:solidFill>
                  <a:srgbClr val="FFFFFF"/>
                </a:solidFill>
              </a:defRPr>
            </a:pPr>
            <a:r>
              <a:t>x = set(‘Mango’, ‘Banana’, ‘Apple’)</a:t>
            </a:r>
          </a:p>
          <a:p>
            <a:pPr lvl="1" algn="l">
              <a:defRPr>
                <a:solidFill>
                  <a:srgbClr val="FFFFFF"/>
                </a:solidFill>
              </a:defRPr>
            </a:pPr>
            <a:r>
              <a:t>y = set(‘tree’, ‘house’, ‘Banana’)</a:t>
            </a:r>
          </a:p>
        </p:txBody>
      </p:sp>
      <p:pic>
        <p:nvPicPr>
          <p:cNvPr id="323" name="Rectangle Rectangle" descr="Rectangle Rectangl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6176663" y="9025899"/>
            <a:ext cx="6158241" cy="3433325"/>
          </a:xfrm>
          <a:prstGeom prst="rect">
            <a:avLst/>
          </a:prstGeom>
          <a:effectLst>
            <a:outerShdw blurRad="190500" dist="8455" dir="5400000" rotWithShape="0">
              <a:srgbClr val="FFFFFF"/>
            </a:outerShdw>
          </a:effectLst>
        </p:spPr>
      </p:pic>
      <p:sp>
        <p:nvSpPr>
          <p:cNvPr id="324" name="Hands-On 9"/>
          <p:cNvSpPr txBox="1"/>
          <p:nvPr/>
        </p:nvSpPr>
        <p:spPr>
          <a:xfrm>
            <a:off x="19442623" y="8376856"/>
            <a:ext cx="2633727" cy="634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 b="1">
                <a:solidFill>
                  <a:srgbClr val="FFFFFF"/>
                </a:solidFill>
              </a:defRPr>
            </a:lvl1pPr>
          </a:lstStyle>
          <a:p>
            <a:r>
              <a:t>Hands-On 9</a:t>
            </a:r>
          </a:p>
        </p:txBody>
      </p:sp>
      <p:sp>
        <p:nvSpPr>
          <p:cNvPr id="325" name="A = {‘Mango’, ‘Banana’, ‘Apple’}…"/>
          <p:cNvSpPr txBox="1"/>
          <p:nvPr/>
        </p:nvSpPr>
        <p:spPr>
          <a:xfrm>
            <a:off x="15815481" y="9269033"/>
            <a:ext cx="6605549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>
              <a:defRPr>
                <a:solidFill>
                  <a:srgbClr val="FFFFFF"/>
                </a:solidFill>
              </a:defRPr>
            </a:pPr>
            <a:r>
              <a:t>A = {‘Mango’, ‘Banana’, ‘Apple’}</a:t>
            </a:r>
          </a:p>
          <a:p>
            <a:r>
              <a:rPr>
                <a:solidFill>
                  <a:srgbClr val="FFFFFF"/>
                </a:solidFill>
              </a:rPr>
              <a:t> B = {‘tree’, ‘house’, ‘Banana'}</a:t>
            </a:r>
          </a:p>
        </p:txBody>
      </p:sp>
      <p:sp>
        <p:nvSpPr>
          <p:cNvPr id="326" name="A ^ B"/>
          <p:cNvSpPr txBox="1"/>
          <p:nvPr/>
        </p:nvSpPr>
        <p:spPr>
          <a:xfrm>
            <a:off x="18955123" y="11333054"/>
            <a:ext cx="1094220" cy="573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A ^ B</a:t>
            </a:r>
          </a:p>
        </p:txBody>
      </p:sp>
      <p:sp>
        <p:nvSpPr>
          <p:cNvPr id="327" name="A &amp; B"/>
          <p:cNvSpPr txBox="1"/>
          <p:nvPr/>
        </p:nvSpPr>
        <p:spPr>
          <a:xfrm>
            <a:off x="18949217" y="10334037"/>
            <a:ext cx="1106031" cy="57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A &amp; B</a:t>
            </a:r>
          </a:p>
        </p:txBody>
      </p:sp>
      <p:sp>
        <p:nvSpPr>
          <p:cNvPr id="328" name="A - B"/>
          <p:cNvSpPr txBox="1"/>
          <p:nvPr/>
        </p:nvSpPr>
        <p:spPr>
          <a:xfrm>
            <a:off x="17358849" y="11317861"/>
            <a:ext cx="1011150" cy="57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A - B</a:t>
            </a:r>
          </a:p>
        </p:txBody>
      </p:sp>
      <p:sp>
        <p:nvSpPr>
          <p:cNvPr id="329" name="A | B"/>
          <p:cNvSpPr txBox="1"/>
          <p:nvPr/>
        </p:nvSpPr>
        <p:spPr>
          <a:xfrm>
            <a:off x="17391723" y="10342757"/>
            <a:ext cx="945402" cy="573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A | B</a:t>
            </a:r>
          </a:p>
        </p:txBody>
      </p:sp>
      <p:pic>
        <p:nvPicPr>
          <p:cNvPr id="330" name="Rectangle Rectangle" descr="Rectangle Rectangl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101145" y="10585667"/>
            <a:ext cx="5697011" cy="1256133"/>
          </a:xfrm>
          <a:prstGeom prst="rect">
            <a:avLst/>
          </a:prstGeom>
        </p:spPr>
      </p:pic>
      <p:pic>
        <p:nvPicPr>
          <p:cNvPr id="332" name="Rectangle Rectangle" descr="Rectangle Rectangl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039442" y="10585667"/>
            <a:ext cx="7999213" cy="1256133"/>
          </a:xfrm>
          <a:prstGeom prst="rect">
            <a:avLst/>
          </a:prstGeom>
        </p:spPr>
      </p:pic>
      <p:pic>
        <p:nvPicPr>
          <p:cNvPr id="334" name="Screen Shot 2022-10-18 at 9.55.01 PM.png" descr="Screen Shot 2022-10-18 at 9.55.01 PM.png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1404194" y="4509417"/>
            <a:ext cx="3190876" cy="34079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35" name="Screen Shot 2022-10-18 at 9.55.01 PM.png" descr="Screen Shot 2022-10-18 at 9.55.01 PM.png"/>
          <p:cNvPicPr>
            <a:picLocks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2075769" y="8447916"/>
            <a:ext cx="20207062" cy="38937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1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337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338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340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341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342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5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344" name="04/11/2022"/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21</a:t>
            </a:r>
            <a:r>
              <a:rPr dirty="0"/>
              <a:t>/11/2022</a:t>
            </a:r>
          </a:p>
        </p:txBody>
      </p:sp>
      <p:sp>
        <p:nvSpPr>
          <p:cNvPr id="345" name="Sets"/>
          <p:cNvSpPr txBox="1"/>
          <p:nvPr/>
        </p:nvSpPr>
        <p:spPr>
          <a:xfrm>
            <a:off x="11372613" y="1262574"/>
            <a:ext cx="1455421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r>
              <a:t>Sets</a:t>
            </a:r>
          </a:p>
        </p:txBody>
      </p:sp>
      <p:sp>
        <p:nvSpPr>
          <p:cNvPr id="346" name="‘Set’ in python offers to store unordered collection of elements but without duplicity."/>
          <p:cNvSpPr txBox="1"/>
          <p:nvPr/>
        </p:nvSpPr>
        <p:spPr>
          <a:xfrm>
            <a:off x="2557977" y="2269651"/>
            <a:ext cx="18657342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900">
                <a:solidFill>
                  <a:srgbClr val="FFFFFF"/>
                </a:solidFill>
              </a:defRPr>
            </a:pPr>
            <a:r>
              <a:t>‘Set’ in python offers to store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unordered collection</a:t>
            </a:r>
            <a:r>
              <a:t> of elements but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without duplicity</a:t>
            </a:r>
            <a:r>
              <a:t>.</a:t>
            </a:r>
          </a:p>
        </p:txBody>
      </p:sp>
      <p:sp>
        <p:nvSpPr>
          <p:cNvPr id="347" name="‘Set’ objects also support the basic mathematical functionalists :…"/>
          <p:cNvSpPr txBox="1"/>
          <p:nvPr/>
        </p:nvSpPr>
        <p:spPr>
          <a:xfrm>
            <a:off x="2598257" y="3058040"/>
            <a:ext cx="14545857" cy="1256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900">
                <a:solidFill>
                  <a:srgbClr val="FFFFFF"/>
                </a:solidFill>
              </a:defRPr>
            </a:pPr>
            <a:r>
              <a:t>‘Set’ objects also support the basic mathematical functionalists : </a:t>
            </a:r>
          </a:p>
          <a:p>
            <a:pPr algn="l">
              <a:defRPr sz="3900">
                <a:solidFill>
                  <a:srgbClr val="FFFFFF"/>
                </a:solidFill>
              </a:defRPr>
            </a:pPr>
            <a:r>
              <a:t>union, intersection, difference.</a:t>
            </a:r>
          </a:p>
        </p:txBody>
      </p:sp>
      <p:grpSp>
        <p:nvGrpSpPr>
          <p:cNvPr id="361" name="Group"/>
          <p:cNvGrpSpPr/>
          <p:nvPr/>
        </p:nvGrpSpPr>
        <p:grpSpPr>
          <a:xfrm>
            <a:off x="5125532" y="4529275"/>
            <a:ext cx="3844212" cy="2987403"/>
            <a:chOff x="0" y="0"/>
            <a:chExt cx="3844211" cy="2987402"/>
          </a:xfrm>
        </p:grpSpPr>
        <p:sp>
          <p:nvSpPr>
            <p:cNvPr id="348" name="Circle"/>
            <p:cNvSpPr/>
            <p:nvPr/>
          </p:nvSpPr>
          <p:spPr>
            <a:xfrm>
              <a:off x="0" y="0"/>
              <a:ext cx="2285876" cy="2285876"/>
            </a:xfrm>
            <a:prstGeom prst="ellips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349" name="Circle"/>
            <p:cNvSpPr/>
            <p:nvPr/>
          </p:nvSpPr>
          <p:spPr>
            <a:xfrm>
              <a:off x="1558335" y="0"/>
              <a:ext cx="2285877" cy="2285876"/>
            </a:xfrm>
            <a:prstGeom prst="ellipse">
              <a:avLst/>
            </a:prstGeom>
            <a:noFill/>
            <a:ln w="254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350" name="1"/>
            <p:cNvSpPr txBox="1"/>
            <p:nvPr/>
          </p:nvSpPr>
          <p:spPr>
            <a:xfrm>
              <a:off x="531283" y="423401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351" name="2"/>
            <p:cNvSpPr txBox="1"/>
            <p:nvPr/>
          </p:nvSpPr>
          <p:spPr>
            <a:xfrm>
              <a:off x="1765183" y="1046598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352" name="3"/>
            <p:cNvSpPr txBox="1"/>
            <p:nvPr/>
          </p:nvSpPr>
          <p:spPr>
            <a:xfrm>
              <a:off x="670777" y="1530301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353" name="4"/>
            <p:cNvSpPr txBox="1"/>
            <p:nvPr/>
          </p:nvSpPr>
          <p:spPr>
            <a:xfrm>
              <a:off x="1332143" y="117360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354" name="6"/>
            <p:cNvSpPr txBox="1"/>
            <p:nvPr/>
          </p:nvSpPr>
          <p:spPr>
            <a:xfrm>
              <a:off x="2559388" y="117360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6</a:t>
              </a:r>
            </a:p>
          </p:txBody>
        </p:sp>
        <p:sp>
          <p:nvSpPr>
            <p:cNvPr id="355" name="5"/>
            <p:cNvSpPr txBox="1"/>
            <p:nvPr/>
          </p:nvSpPr>
          <p:spPr>
            <a:xfrm>
              <a:off x="1765183" y="556993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356" name="9"/>
            <p:cNvSpPr txBox="1"/>
            <p:nvPr/>
          </p:nvSpPr>
          <p:spPr>
            <a:xfrm>
              <a:off x="2999083" y="817102"/>
              <a:ext cx="28377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9</a:t>
              </a:r>
            </a:p>
          </p:txBody>
        </p:sp>
        <p:sp>
          <p:nvSpPr>
            <p:cNvPr id="357" name="10"/>
            <p:cNvSpPr txBox="1"/>
            <p:nvPr/>
          </p:nvSpPr>
          <p:spPr>
            <a:xfrm>
              <a:off x="2474654" y="1555701"/>
              <a:ext cx="453238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10</a:t>
              </a:r>
            </a:p>
          </p:txBody>
        </p:sp>
        <p:sp>
          <p:nvSpPr>
            <p:cNvPr id="358" name="A"/>
            <p:cNvSpPr txBox="1"/>
            <p:nvPr/>
          </p:nvSpPr>
          <p:spPr>
            <a:xfrm>
              <a:off x="955294" y="2415898"/>
              <a:ext cx="375286" cy="560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 b="1">
                  <a:solidFill>
                    <a:srgbClr val="FFFFFF"/>
                  </a:solidFill>
                </a:defRPr>
              </a:lvl1pPr>
            </a:lstStyle>
            <a:p>
              <a:r>
                <a:t>A</a:t>
              </a:r>
            </a:p>
          </p:txBody>
        </p:sp>
        <p:sp>
          <p:nvSpPr>
            <p:cNvPr id="359" name="B"/>
            <p:cNvSpPr txBox="1"/>
            <p:nvPr/>
          </p:nvSpPr>
          <p:spPr>
            <a:xfrm>
              <a:off x="2510011" y="2426953"/>
              <a:ext cx="382525" cy="5604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 b="1">
                  <a:solidFill>
                    <a:srgbClr val="FFFFFF"/>
                  </a:solidFill>
                </a:defRPr>
              </a:lvl1pPr>
            </a:lstStyle>
            <a:p>
              <a:r>
                <a:t>B</a:t>
              </a:r>
            </a:p>
          </p:txBody>
        </p:sp>
        <p:sp>
          <p:nvSpPr>
            <p:cNvPr id="360" name="4"/>
            <p:cNvSpPr txBox="1"/>
            <p:nvPr/>
          </p:nvSpPr>
          <p:spPr>
            <a:xfrm>
              <a:off x="2999083" y="244360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4</a:t>
              </a:r>
            </a:p>
          </p:txBody>
        </p:sp>
      </p:grpSp>
      <p:sp>
        <p:nvSpPr>
          <p:cNvPr id="362" name="SetA= {1,2,3,4,5}…"/>
          <p:cNvSpPr txBox="1"/>
          <p:nvPr/>
        </p:nvSpPr>
        <p:spPr>
          <a:xfrm>
            <a:off x="7981988" y="10736913"/>
            <a:ext cx="2860854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 SetA= {1,2,3,4,5}</a:t>
            </a:r>
          </a:p>
          <a:p>
            <a:r>
              <a:t>   </a:t>
            </a:r>
            <a:r>
              <a:rPr>
                <a:solidFill>
                  <a:srgbClr val="FFFFFF"/>
                </a:solidFill>
              </a:rPr>
              <a:t>SetB= {2,5,6,9,10}</a:t>
            </a:r>
          </a:p>
        </p:txBody>
      </p:sp>
      <p:pic>
        <p:nvPicPr>
          <p:cNvPr id="363" name="Like dictionary (with keys only) using curly braces Like dictionary (with keys only) using curly braces" descr="Like dictionary (with keys only) using curly braces Like dictionary (with keys only) using curly braces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024006" y="9646165"/>
            <a:ext cx="8030084" cy="600023"/>
          </a:xfrm>
          <a:prstGeom prst="rect">
            <a:avLst/>
          </a:prstGeom>
          <a:effectLst>
            <a:outerShdw blurRad="190500" dist="8455" dir="5400000" rotWithShape="0">
              <a:srgbClr val="929292"/>
            </a:outerShdw>
          </a:effectLst>
        </p:spPr>
      </p:pic>
      <p:sp>
        <p:nvSpPr>
          <p:cNvPr id="364" name="‘Set’ can be constructed using two ways :"/>
          <p:cNvSpPr txBox="1"/>
          <p:nvPr/>
        </p:nvSpPr>
        <p:spPr>
          <a:xfrm>
            <a:off x="2658268" y="8727513"/>
            <a:ext cx="9397709" cy="67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900">
                <a:solidFill>
                  <a:srgbClr val="FFFFFF"/>
                </a:solidFill>
              </a:defRPr>
            </a:pPr>
            <a:r>
              <a:t>‘Set’ can be constructed using</a:t>
            </a:r>
            <a:r>
              <a:rPr u="sng"/>
              <a:t> two ways</a:t>
            </a:r>
            <a:r>
              <a:t> :</a:t>
            </a:r>
          </a:p>
        </p:txBody>
      </p:sp>
      <p:sp>
        <p:nvSpPr>
          <p:cNvPr id="365" name="Using set( ) function"/>
          <p:cNvSpPr txBox="1"/>
          <p:nvPr/>
        </p:nvSpPr>
        <p:spPr>
          <a:xfrm>
            <a:off x="3305406" y="9684265"/>
            <a:ext cx="3288489" cy="523823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ffectLst>
            <a:outerShdw blurRad="190500" dist="8455" dir="5400000" rotWithShape="0">
              <a:srgbClr val="929292"/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 b="1">
                <a:solidFill>
                  <a:srgbClr val="FFFFFF"/>
                </a:solidFill>
              </a:defRPr>
            </a:lvl1pPr>
          </a:lstStyle>
          <a:p>
            <a:r>
              <a:t>Using set( ) function</a:t>
            </a:r>
          </a:p>
        </p:txBody>
      </p:sp>
      <p:sp>
        <p:nvSpPr>
          <p:cNvPr id="366" name="Set1 = {‘Mango’, ‘Banana’, ‘Apple’}…"/>
          <p:cNvSpPr txBox="1"/>
          <p:nvPr/>
        </p:nvSpPr>
        <p:spPr>
          <a:xfrm>
            <a:off x="9864882" y="10762313"/>
            <a:ext cx="6605550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>
              <a:defRPr>
                <a:solidFill>
                  <a:srgbClr val="FFFFFF"/>
                </a:solidFill>
              </a:defRPr>
            </a:pPr>
            <a:r>
              <a:t>Set1 = {‘Mango’, ‘Banana’, ‘Apple’}</a:t>
            </a:r>
          </a:p>
          <a:p>
            <a:r>
              <a:t> </a:t>
            </a:r>
            <a:r>
              <a:rPr>
                <a:solidFill>
                  <a:srgbClr val="FFFFFF"/>
                </a:solidFill>
              </a:rPr>
              <a:t>Set2 = {‘tree’, ‘house’, ‘Banana'}</a:t>
            </a:r>
          </a:p>
        </p:txBody>
      </p:sp>
      <p:sp>
        <p:nvSpPr>
          <p:cNvPr id="367" name="x = set((‘Mango’, ‘Banana’, ‘Apple’))…"/>
          <p:cNvSpPr txBox="1"/>
          <p:nvPr/>
        </p:nvSpPr>
        <p:spPr>
          <a:xfrm>
            <a:off x="2333513" y="10727832"/>
            <a:ext cx="6605550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algn="l">
              <a:defRPr>
                <a:solidFill>
                  <a:srgbClr val="FFFFFF"/>
                </a:solidFill>
              </a:defRPr>
            </a:pPr>
            <a:r>
              <a:t>x = set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(</a:t>
            </a:r>
            <a:r>
              <a:t>(‘Mango’, ‘Banana’, ‘Apple’)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)</a:t>
            </a:r>
          </a:p>
          <a:p>
            <a:pPr lvl="1" algn="l">
              <a:defRPr>
                <a:solidFill>
                  <a:srgbClr val="FFFFFF"/>
                </a:solidFill>
              </a:defRPr>
            </a:pPr>
            <a:r>
              <a:t>y = set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(</a:t>
            </a:r>
            <a:r>
              <a:t>(‘tree’, ‘house’, ‘Banana’)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)</a:t>
            </a:r>
          </a:p>
        </p:txBody>
      </p:sp>
      <p:pic>
        <p:nvPicPr>
          <p:cNvPr id="368" name="Rectangle Rectangle" descr="Rectangle Rectangl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6176663" y="9025899"/>
            <a:ext cx="6158241" cy="3433325"/>
          </a:xfrm>
          <a:prstGeom prst="rect">
            <a:avLst/>
          </a:prstGeom>
          <a:effectLst>
            <a:outerShdw blurRad="190500" dist="8455" dir="5400000" rotWithShape="0">
              <a:srgbClr val="FFFFFF"/>
            </a:outerShdw>
          </a:effectLst>
        </p:spPr>
      </p:pic>
      <p:sp>
        <p:nvSpPr>
          <p:cNvPr id="369" name="Hands-On 9"/>
          <p:cNvSpPr txBox="1"/>
          <p:nvPr/>
        </p:nvSpPr>
        <p:spPr>
          <a:xfrm>
            <a:off x="19442623" y="8376856"/>
            <a:ext cx="2633727" cy="634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 b="1">
                <a:solidFill>
                  <a:srgbClr val="FFFFFF"/>
                </a:solidFill>
              </a:defRPr>
            </a:lvl1pPr>
          </a:lstStyle>
          <a:p>
            <a:r>
              <a:t>Hands-On 9</a:t>
            </a:r>
          </a:p>
        </p:txBody>
      </p:sp>
      <p:sp>
        <p:nvSpPr>
          <p:cNvPr id="370" name="A = {‘Mango’, ‘Banana’, ‘Apple’}…"/>
          <p:cNvSpPr txBox="1"/>
          <p:nvPr/>
        </p:nvSpPr>
        <p:spPr>
          <a:xfrm>
            <a:off x="15815481" y="9269033"/>
            <a:ext cx="6605549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>
              <a:defRPr>
                <a:solidFill>
                  <a:srgbClr val="FFFFFF"/>
                </a:solidFill>
              </a:defRPr>
            </a:pPr>
            <a:r>
              <a:t>A = {‘Mango’, ‘Banana’, ‘Apple’}</a:t>
            </a:r>
          </a:p>
          <a:p>
            <a:r>
              <a:rPr>
                <a:solidFill>
                  <a:srgbClr val="FFFFFF"/>
                </a:solidFill>
              </a:rPr>
              <a:t> B = {‘tree’, ‘house’, ‘Banana'}</a:t>
            </a:r>
          </a:p>
        </p:txBody>
      </p:sp>
      <p:sp>
        <p:nvSpPr>
          <p:cNvPr id="371" name="A ^ B"/>
          <p:cNvSpPr txBox="1"/>
          <p:nvPr/>
        </p:nvSpPr>
        <p:spPr>
          <a:xfrm>
            <a:off x="18955123" y="11333054"/>
            <a:ext cx="1094220" cy="573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A ^ B</a:t>
            </a:r>
          </a:p>
        </p:txBody>
      </p:sp>
      <p:sp>
        <p:nvSpPr>
          <p:cNvPr id="372" name="A &amp; B"/>
          <p:cNvSpPr txBox="1"/>
          <p:nvPr/>
        </p:nvSpPr>
        <p:spPr>
          <a:xfrm>
            <a:off x="18949217" y="10334037"/>
            <a:ext cx="1106031" cy="57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A &amp; B</a:t>
            </a:r>
          </a:p>
        </p:txBody>
      </p:sp>
      <p:sp>
        <p:nvSpPr>
          <p:cNvPr id="373" name="A - B"/>
          <p:cNvSpPr txBox="1"/>
          <p:nvPr/>
        </p:nvSpPr>
        <p:spPr>
          <a:xfrm>
            <a:off x="17358849" y="11317861"/>
            <a:ext cx="1011150" cy="57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A - B</a:t>
            </a:r>
          </a:p>
        </p:txBody>
      </p:sp>
      <p:sp>
        <p:nvSpPr>
          <p:cNvPr id="374" name="A | B"/>
          <p:cNvSpPr txBox="1"/>
          <p:nvPr/>
        </p:nvSpPr>
        <p:spPr>
          <a:xfrm>
            <a:off x="17391723" y="10342757"/>
            <a:ext cx="945402" cy="573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A | B</a:t>
            </a:r>
          </a:p>
        </p:txBody>
      </p:sp>
      <p:pic>
        <p:nvPicPr>
          <p:cNvPr id="375" name="Rectangle Rectangle" descr="Rectangle Rectangl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101145" y="10585667"/>
            <a:ext cx="5697011" cy="1256133"/>
          </a:xfrm>
          <a:prstGeom prst="rect">
            <a:avLst/>
          </a:prstGeom>
        </p:spPr>
      </p:pic>
      <p:pic>
        <p:nvPicPr>
          <p:cNvPr id="377" name="Rectangle Rectangle" descr="Rectangle Rectangl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039442" y="10585667"/>
            <a:ext cx="7999213" cy="1256133"/>
          </a:xfrm>
          <a:prstGeom prst="rect">
            <a:avLst/>
          </a:prstGeom>
        </p:spPr>
      </p:pic>
      <p:grpSp>
        <p:nvGrpSpPr>
          <p:cNvPr id="392" name="Group"/>
          <p:cNvGrpSpPr/>
          <p:nvPr/>
        </p:nvGrpSpPr>
        <p:grpSpPr>
          <a:xfrm>
            <a:off x="10348640" y="4584253"/>
            <a:ext cx="11030829" cy="3875433"/>
            <a:chOff x="533480" y="105220"/>
            <a:chExt cx="11030827" cy="3875432"/>
          </a:xfrm>
        </p:grpSpPr>
        <p:sp>
          <p:nvSpPr>
            <p:cNvPr id="379" name="A ∪ B"/>
            <p:cNvSpPr/>
            <p:nvPr/>
          </p:nvSpPr>
          <p:spPr>
            <a:xfrm>
              <a:off x="533480" y="6829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∪ B</a:t>
              </a:r>
            </a:p>
          </p:txBody>
        </p:sp>
        <p:sp>
          <p:nvSpPr>
            <p:cNvPr id="380" name="A ∩ B"/>
            <p:cNvSpPr/>
            <p:nvPr/>
          </p:nvSpPr>
          <p:spPr>
            <a:xfrm>
              <a:off x="533480" y="178632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∩ B</a:t>
              </a:r>
            </a:p>
          </p:txBody>
        </p:sp>
        <p:sp>
          <p:nvSpPr>
            <p:cNvPr id="381" name="A - B"/>
            <p:cNvSpPr/>
            <p:nvPr/>
          </p:nvSpPr>
          <p:spPr>
            <a:xfrm>
              <a:off x="533480" y="271065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- B</a:t>
              </a:r>
            </a:p>
          </p:txBody>
        </p:sp>
        <p:sp>
          <p:nvSpPr>
            <p:cNvPr id="382" name="= 1, 3, 4, 5, 2, 6, 9, 10"/>
            <p:cNvSpPr/>
            <p:nvPr/>
          </p:nvSpPr>
          <p:spPr>
            <a:xfrm>
              <a:off x="2995377" y="6829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700">
                  <a:solidFill>
                    <a:srgbClr val="FFFFFF"/>
                  </a:solidFill>
                </a:defRPr>
              </a:lvl1pPr>
            </a:lstStyle>
            <a:p>
              <a:r>
                <a:t>= 1, 3, 4, 5, 2, 6, 9, 10</a:t>
              </a:r>
            </a:p>
          </p:txBody>
        </p:sp>
        <p:sp>
          <p:nvSpPr>
            <p:cNvPr id="383" name="= 5, 2"/>
            <p:cNvSpPr/>
            <p:nvPr/>
          </p:nvSpPr>
          <p:spPr>
            <a:xfrm>
              <a:off x="1754886" y="178632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700">
                  <a:solidFill>
                    <a:srgbClr val="FFFFFF"/>
                  </a:solidFill>
                </a:defRPr>
              </a:lvl1pPr>
            </a:lstStyle>
            <a:p>
              <a:r>
                <a:t>= 5, 2</a:t>
              </a:r>
            </a:p>
          </p:txBody>
        </p:sp>
        <p:sp>
          <p:nvSpPr>
            <p:cNvPr id="384" name="= 1, 3, 4"/>
            <p:cNvSpPr/>
            <p:nvPr/>
          </p:nvSpPr>
          <p:spPr>
            <a:xfrm>
              <a:off x="1792572" y="271065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700">
                  <a:solidFill>
                    <a:srgbClr val="FFFFFF"/>
                  </a:solidFill>
                </a:defRPr>
              </a:lvl1pPr>
            </a:lstStyle>
            <a:p>
              <a:r>
                <a:t>= 1, 3, 4</a:t>
              </a:r>
            </a:p>
          </p:txBody>
        </p:sp>
        <p:sp>
          <p:nvSpPr>
            <p:cNvPr id="385" name="Line"/>
            <p:cNvSpPr/>
            <p:nvPr/>
          </p:nvSpPr>
          <p:spPr>
            <a:xfrm flipH="1">
              <a:off x="4935244" y="105220"/>
              <a:ext cx="1" cy="348417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86" name="A ^ B…"/>
            <p:cNvSpPr/>
            <p:nvPr/>
          </p:nvSpPr>
          <p:spPr>
            <a:xfrm>
              <a:off x="10294308" y="133304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3100">
                  <a:solidFill>
                    <a:srgbClr val="FFFFFF"/>
                  </a:solidFill>
                </a:defRPr>
              </a:pPr>
              <a:r>
                <a:t>A ^ B </a:t>
              </a:r>
            </a:p>
            <a:p>
              <a:pPr>
                <a:defRPr>
                  <a:solidFill>
                    <a:srgbClr val="FFFFFF"/>
                  </a:solidFill>
                </a:defRPr>
              </a:pPr>
              <a:r>
                <a:t>(in either of them but not in both)</a:t>
              </a:r>
            </a:p>
          </p:txBody>
        </p:sp>
        <p:sp>
          <p:nvSpPr>
            <p:cNvPr id="387" name="A &amp; B"/>
            <p:cNvSpPr/>
            <p:nvPr/>
          </p:nvSpPr>
          <p:spPr>
            <a:xfrm>
              <a:off x="6380891" y="169680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&amp; B</a:t>
              </a:r>
            </a:p>
          </p:txBody>
        </p:sp>
        <p:sp>
          <p:nvSpPr>
            <p:cNvPr id="388" name="A - B"/>
            <p:cNvSpPr/>
            <p:nvPr/>
          </p:nvSpPr>
          <p:spPr>
            <a:xfrm>
              <a:off x="6494079" y="271065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- B</a:t>
              </a:r>
            </a:p>
          </p:txBody>
        </p:sp>
        <p:sp>
          <p:nvSpPr>
            <p:cNvPr id="389" name="Line"/>
            <p:cNvSpPr/>
            <p:nvPr/>
          </p:nvSpPr>
          <p:spPr>
            <a:xfrm>
              <a:off x="7987168" y="510538"/>
              <a:ext cx="1" cy="310185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ysDot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/>
            </a:p>
          </p:txBody>
        </p:sp>
        <p:sp>
          <p:nvSpPr>
            <p:cNvPr id="390" name="A | B"/>
            <p:cNvSpPr/>
            <p:nvPr/>
          </p:nvSpPr>
          <p:spPr>
            <a:xfrm>
              <a:off x="6461205" y="6829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100">
                  <a:solidFill>
                    <a:srgbClr val="FFFFFF"/>
                  </a:solidFill>
                </a:defRPr>
              </a:lvl1pPr>
            </a:lstStyle>
            <a:p>
              <a:r>
                <a:t>A | B</a:t>
              </a:r>
            </a:p>
          </p:txBody>
        </p:sp>
        <p:sp>
          <p:nvSpPr>
            <p:cNvPr id="391" name="Python equivalent"/>
            <p:cNvSpPr/>
            <p:nvPr/>
          </p:nvSpPr>
          <p:spPr>
            <a:xfrm>
              <a:off x="6479915" y="23052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000000"/>
                  </a:solidFill>
                </a:defRPr>
              </a:lvl1pPr>
            </a:lstStyle>
            <a:p>
              <a:r>
                <a:t>Python equivalent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" grpId="1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394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395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397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398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399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400" name="6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6</a:t>
            </a:r>
          </a:p>
        </p:txBody>
      </p:sp>
      <p:sp>
        <p:nvSpPr>
          <p:cNvPr id="401" name="04/11/2022"/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21</a:t>
            </a:r>
            <a:r>
              <a:rPr dirty="0"/>
              <a:t>/11/2022</a:t>
            </a:r>
          </a:p>
        </p:txBody>
      </p:sp>
      <p:sp>
        <p:nvSpPr>
          <p:cNvPr id="402" name="Frequently used methods on Sets"/>
          <p:cNvSpPr txBox="1"/>
          <p:nvPr/>
        </p:nvSpPr>
        <p:spPr>
          <a:xfrm>
            <a:off x="7065962" y="1342821"/>
            <a:ext cx="10252076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r>
              <a:t>Frequently used methods on Sets</a:t>
            </a:r>
          </a:p>
        </p:txBody>
      </p:sp>
      <p:graphicFrame>
        <p:nvGraphicFramePr>
          <p:cNvPr id="403" name="Table 1"/>
          <p:cNvGraphicFramePr/>
          <p:nvPr/>
        </p:nvGraphicFramePr>
        <p:xfrm>
          <a:off x="3584609" y="2672163"/>
          <a:ext cx="17892363" cy="928704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4207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94052">
                <a:tc>
                  <a:txBody>
                    <a:bodyPr/>
                    <a:lstStyle/>
                    <a:p>
                      <a:pPr defTabSz="914400"/>
                      <a:r>
                        <a:rPr sz="4000" b="1">
                          <a:solidFill>
                            <a:srgbClr val="FFFFFF"/>
                          </a:solidFill>
                        </a:rPr>
                        <a:t>add( )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R>
                    <a:lnT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800">
                          <a:solidFill>
                            <a:srgbClr val="FFFFFF"/>
                          </a:solidFill>
                        </a:rPr>
                        <a:t>Adds element to the set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custDash>
                        <a:ds d="200000" sp="200000"/>
                      </a:custDash>
                      <a:miter lim="400000"/>
                    </a:lnR>
                    <a:lnT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custDash>
                        <a:ds d="200000" sp="200000"/>
                      </a:custDash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4052">
                <a:tc>
                  <a:txBody>
                    <a:bodyPr/>
                    <a:lstStyle/>
                    <a:p>
                      <a:pPr defTabSz="914400"/>
                      <a:r>
                        <a:rPr sz="4000" b="1">
                          <a:solidFill>
                            <a:srgbClr val="FFFFFF"/>
                          </a:solidFill>
                        </a:rPr>
                        <a:t>clear( )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800">
                          <a:solidFill>
                            <a:srgbClr val="FFFFFF"/>
                          </a:solidFill>
                        </a:rPr>
                        <a:t>Remove all the elements from set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4052">
                <a:tc>
                  <a:txBody>
                    <a:bodyPr/>
                    <a:lstStyle/>
                    <a:p>
                      <a:pPr defTabSz="914400"/>
                      <a:r>
                        <a:rPr sz="4000" b="1">
                          <a:solidFill>
                            <a:srgbClr val="FFFFFF"/>
                          </a:solidFill>
                        </a:rPr>
                        <a:t>remove( )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800">
                          <a:solidFill>
                            <a:srgbClr val="FFFFFF"/>
                          </a:solidFill>
                        </a:rPr>
                        <a:t>Remove the specified element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4052">
                <a:tc>
                  <a:txBody>
                    <a:bodyPr/>
                    <a:lstStyle/>
                    <a:p>
                      <a:pPr defTabSz="914400"/>
                      <a:r>
                        <a:rPr sz="4000" b="1">
                          <a:solidFill>
                            <a:srgbClr val="FFFFFF"/>
                          </a:solidFill>
                        </a:rPr>
                        <a:t>difference( )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800">
                          <a:solidFill>
                            <a:srgbClr val="FFFFFF"/>
                          </a:solidFill>
                        </a:rPr>
                        <a:t>Difference b/w two or more sets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4052">
                <a:tc>
                  <a:txBody>
                    <a:bodyPr/>
                    <a:lstStyle/>
                    <a:p>
                      <a:pPr defTabSz="914400"/>
                      <a:r>
                        <a:rPr sz="4000" b="1">
                          <a:solidFill>
                            <a:srgbClr val="FFFFFF"/>
                          </a:solidFill>
                        </a:rPr>
                        <a:t>intersection( )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457200">
                        <a:lnSpc>
                          <a:spcPts val="5900"/>
                        </a:lnSpc>
                      </a:pPr>
                      <a:r>
                        <a:rPr sz="3800">
                          <a:solidFill>
                            <a:srgbClr val="FFFFFF"/>
                          </a:solidFill>
                        </a:rPr>
                        <a:t>Intersection of two sets (common element)
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4052">
                <a:tc>
                  <a:txBody>
                    <a:bodyPr/>
                    <a:lstStyle/>
                    <a:p>
                      <a:pPr defTabSz="914400"/>
                      <a:r>
                        <a:rPr sz="4000" b="1">
                          <a:solidFill>
                            <a:srgbClr val="FFFFFF"/>
                          </a:solidFill>
                        </a:rPr>
                        <a:t>union( )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R>
                    <a:lnB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800">
                          <a:solidFill>
                            <a:srgbClr val="FFFFFF"/>
                          </a:solidFill>
                        </a:rPr>
                        <a:t>Union of sets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custDash>
                        <a:ds d="200000" sp="200000"/>
                      </a:custDash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94052">
                <a:tc>
                  <a:txBody>
                    <a:bodyPr/>
                    <a:lstStyle/>
                    <a:p>
                      <a:pPr defTabSz="914400"/>
                      <a:r>
                        <a:rPr sz="4000" b="1">
                          <a:solidFill>
                            <a:srgbClr val="FFFFFF"/>
                          </a:solidFill>
                        </a:rPr>
                        <a:t>update( )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R>
                    <a:lnT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T>
                    <a:lnB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miter lim="400000"/>
                    </a:lnL>
                    <a:lnR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custDash>
                        <a:ds d="200000" sp="200000"/>
                      </a:custDash>
                      <a:miter lim="400000"/>
                    </a:lnR>
                    <a:lnB w="12700">
                      <a:solidFill>
                        <a:schemeClr val="accent2">
                          <a:hueOff val="-85258"/>
                          <a:satOff val="14347"/>
                          <a:lumOff val="22373"/>
                        </a:schemeClr>
                      </a:solidFill>
                      <a:custDash>
                        <a:ds d="200000" sp="200000"/>
                      </a:custDash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4" name="Try to add list into Sets"/>
          <p:cNvSpPr txBox="1"/>
          <p:nvPr/>
        </p:nvSpPr>
        <p:spPr>
          <a:xfrm>
            <a:off x="12213284" y="10776557"/>
            <a:ext cx="4667315" cy="60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r>
              <a:t>Try to add list into Sets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" grpId="1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406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407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409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410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411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7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7</a:t>
            </a:r>
          </a:p>
        </p:txBody>
      </p:sp>
      <p:sp>
        <p:nvSpPr>
          <p:cNvPr id="413" name="04/11/2022"/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21</a:t>
            </a:r>
            <a:r>
              <a:rPr dirty="0"/>
              <a:t>/11/2022</a:t>
            </a:r>
          </a:p>
        </p:txBody>
      </p:sp>
      <p:sp>
        <p:nvSpPr>
          <p:cNvPr id="414" name="Hands-On with sets"/>
          <p:cNvSpPr txBox="1"/>
          <p:nvPr/>
        </p:nvSpPr>
        <p:spPr>
          <a:xfrm>
            <a:off x="9148127" y="1342821"/>
            <a:ext cx="6087746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r>
              <a:t>Hands-On with sets</a:t>
            </a:r>
          </a:p>
        </p:txBody>
      </p:sp>
      <p:sp>
        <p:nvSpPr>
          <p:cNvPr id="415" name="How to check if an element/item is in a given set : index, key"/>
          <p:cNvSpPr txBox="1"/>
          <p:nvPr/>
        </p:nvSpPr>
        <p:spPr>
          <a:xfrm>
            <a:off x="2452870" y="2617520"/>
            <a:ext cx="11813086" cy="5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228600" indent="-228600">
              <a:buSzPct val="80000"/>
              <a:buBlip>
                <a:blip r:embed="rId3"/>
              </a:buBlip>
              <a:defRPr sz="3300">
                <a:solidFill>
                  <a:srgbClr val="FFFFFF"/>
                </a:solidFill>
              </a:defRPr>
            </a:pPr>
            <a:r>
              <a:t> How to check if an element/item is in a given set : </a:t>
            </a:r>
            <a:r>
              <a:rPr strike="sngStrike"/>
              <a:t>index</a:t>
            </a:r>
            <a:r>
              <a:t>, </a:t>
            </a:r>
            <a:r>
              <a:rPr strike="sngStrike"/>
              <a:t>key</a:t>
            </a:r>
          </a:p>
        </p:txBody>
      </p:sp>
      <p:sp>
        <p:nvSpPr>
          <p:cNvPr id="416" name="Using ‘in’ keyword"/>
          <p:cNvSpPr txBox="1"/>
          <p:nvPr/>
        </p:nvSpPr>
        <p:spPr>
          <a:xfrm>
            <a:off x="11379482" y="3341201"/>
            <a:ext cx="3051557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U</a:t>
            </a:r>
            <a:r>
              <a:rPr>
                <a:solidFill>
                  <a:srgbClr val="FFFFFF"/>
                </a:solidFill>
              </a:rPr>
              <a:t>sing</a:t>
            </a:r>
            <a:r>
              <a:t> ‘in’ </a:t>
            </a:r>
            <a:r>
              <a:rPr>
                <a:solidFill>
                  <a:srgbClr val="FFFFFF"/>
                </a:solidFill>
              </a:rPr>
              <a:t>keyword</a:t>
            </a:r>
          </a:p>
        </p:txBody>
      </p:sp>
      <p:grpSp>
        <p:nvGrpSpPr>
          <p:cNvPr id="419" name="Rectangle"/>
          <p:cNvGrpSpPr/>
          <p:nvPr/>
        </p:nvGrpSpPr>
        <p:grpSpPr>
          <a:xfrm>
            <a:off x="2715580" y="4129550"/>
            <a:ext cx="13944127" cy="1758335"/>
            <a:chOff x="0" y="0"/>
            <a:chExt cx="13944125" cy="1758333"/>
          </a:xfrm>
        </p:grpSpPr>
        <p:sp>
          <p:nvSpPr>
            <p:cNvPr id="418" name="Rectangle"/>
            <p:cNvSpPr/>
            <p:nvPr/>
          </p:nvSpPr>
          <p:spPr>
            <a:xfrm>
              <a:off x="101599" y="63500"/>
              <a:ext cx="13740927" cy="149163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417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-1"/>
              <a:ext cx="13944127" cy="1758335"/>
            </a:xfrm>
            <a:prstGeom prst="rect">
              <a:avLst/>
            </a:prstGeom>
            <a:effectLst/>
          </p:spPr>
        </p:pic>
      </p:grpSp>
      <p:sp>
        <p:nvSpPr>
          <p:cNvPr id="420" name="my_firstSet = {34, 22, 12, 100, 20000, 1, 2, 5, 8, 213, 35, ‘banana’, ‘mango’, ‘orange’}"/>
          <p:cNvSpPr txBox="1"/>
          <p:nvPr/>
        </p:nvSpPr>
        <p:spPr>
          <a:xfrm>
            <a:off x="3112702" y="4387462"/>
            <a:ext cx="1171072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my_firstSet = {34, 22, 12, 100, 20000, 1, 2, 5, 8, 213, 35, ‘banana’, ‘mango’, ‘orange’}</a:t>
            </a:r>
          </a:p>
        </p:txBody>
      </p:sp>
      <p:sp>
        <p:nvSpPr>
          <p:cNvPr id="421" name="print(‘mango’ in my_firstSet)"/>
          <p:cNvSpPr txBox="1"/>
          <p:nvPr/>
        </p:nvSpPr>
        <p:spPr>
          <a:xfrm>
            <a:off x="3138698" y="4965843"/>
            <a:ext cx="393649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print(‘mango’ in my_firstSet)</a:t>
            </a:r>
          </a:p>
        </p:txBody>
      </p:sp>
      <p:grpSp>
        <p:nvGrpSpPr>
          <p:cNvPr id="424" name="Rectangle"/>
          <p:cNvGrpSpPr/>
          <p:nvPr/>
        </p:nvGrpSpPr>
        <p:grpSpPr>
          <a:xfrm>
            <a:off x="2438887" y="7394216"/>
            <a:ext cx="19506226" cy="4553038"/>
            <a:chOff x="0" y="0"/>
            <a:chExt cx="19506224" cy="4553036"/>
          </a:xfrm>
        </p:grpSpPr>
        <p:sp>
          <p:nvSpPr>
            <p:cNvPr id="423" name="Rectangle"/>
            <p:cNvSpPr/>
            <p:nvPr/>
          </p:nvSpPr>
          <p:spPr>
            <a:xfrm>
              <a:off x="190499" y="127000"/>
              <a:ext cx="19125226" cy="40577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422" name="Rectangle Rectangle" descr="Rectangle Rectangl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" y="0"/>
              <a:ext cx="19506226" cy="4553037"/>
            </a:xfrm>
            <a:prstGeom prst="rect">
              <a:avLst/>
            </a:prstGeom>
            <a:effectLst/>
          </p:spPr>
        </p:pic>
      </p:grpSp>
      <p:sp>
        <p:nvSpPr>
          <p:cNvPr id="425" name="difference( )               : return the difference between sets…"/>
          <p:cNvSpPr txBox="1"/>
          <p:nvPr/>
        </p:nvSpPr>
        <p:spPr>
          <a:xfrm>
            <a:off x="2857836" y="7804675"/>
            <a:ext cx="11001360" cy="10804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3300">
                <a:solidFill>
                  <a:srgbClr val="000000"/>
                </a:solidFill>
              </a:defRPr>
            </a:pPr>
            <a:r>
              <a:t>difference( )               : return the difference between sets</a:t>
            </a:r>
          </a:p>
          <a:p>
            <a:pPr algn="l">
              <a:defRPr sz="3300">
                <a:solidFill>
                  <a:srgbClr val="000000"/>
                </a:solidFill>
              </a:defRPr>
            </a:pPr>
            <a:r>
              <a:t>difference_update( )  : removes the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same items</a:t>
            </a:r>
            <a:r>
              <a:t> in two sets</a:t>
            </a:r>
          </a:p>
        </p:txBody>
      </p:sp>
      <p:pic>
        <p:nvPicPr>
          <p:cNvPr id="426" name="intersection( )             : return interaction (common)of sets… intersection( )             : return interaction (common)of setsintersection_update( ): remove the uncommon item in sets " descr="intersection( )             : return interaction (common)of sets… intersection( )             : return interaction (common)of setsintersection_update( ): remove the uncommon item in sets 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2780325" y="9141377"/>
            <a:ext cx="11156382" cy="1258267"/>
          </a:xfrm>
          <a:prstGeom prst="rect">
            <a:avLst/>
          </a:prstGeom>
          <a:effectLst>
            <a:outerShdw blurRad="355600" rotWithShape="0">
              <a:srgbClr val="000000">
                <a:alpha val="75000"/>
              </a:srgbClr>
            </a:outerShdw>
          </a:effectLst>
        </p:spPr>
      </p:pic>
      <p:grpSp>
        <p:nvGrpSpPr>
          <p:cNvPr id="429" name="isdisjoint( ) : return true if no-common item in sets, otherwise false"/>
          <p:cNvGrpSpPr/>
          <p:nvPr/>
        </p:nvGrpSpPr>
        <p:grpSpPr>
          <a:xfrm>
            <a:off x="2819736" y="10795580"/>
            <a:ext cx="13037466" cy="737567"/>
            <a:chOff x="0" y="0"/>
            <a:chExt cx="13037464" cy="737565"/>
          </a:xfrm>
        </p:grpSpPr>
        <p:sp>
          <p:nvSpPr>
            <p:cNvPr id="428" name="isdisjoint( ) : return true if no-common item in sets, otherwise false"/>
            <p:cNvSpPr txBox="1"/>
            <p:nvPr/>
          </p:nvSpPr>
          <p:spPr>
            <a:xfrm>
              <a:off x="38100" y="25400"/>
              <a:ext cx="12961266" cy="6232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l">
                <a:defRPr sz="3300">
                  <a:solidFill>
                    <a:srgbClr val="000000"/>
                  </a:solidFill>
                </a:defRPr>
              </a:pPr>
              <a:r>
                <a:t>isdisjoint( ) : </a:t>
              </a:r>
              <a:r>
                <a:rPr i="1"/>
                <a:t>return </a:t>
              </a:r>
              <a:r>
                <a:rPr i="1"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rPr>
                <a:t>true if no-common item</a:t>
              </a:r>
              <a:r>
                <a:rPr i="1"/>
                <a:t> in sets</a:t>
              </a:r>
              <a:r>
                <a:t>, otherwise false</a:t>
              </a:r>
            </a:p>
          </p:txBody>
        </p:sp>
        <p:pic>
          <p:nvPicPr>
            <p:cNvPr id="427" name="isdisjoint( ) : return true if no-common item in sets, otherwise false isdisjoint( ) : return true if no-common item in sets, otherwise false" descr="isdisjoint( ) : return true if no-common item in sets, otherwise false isdisjoint( ) : return true if no-common item in sets, otherwise fals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13037466" cy="737566"/>
            </a:xfrm>
            <a:prstGeom prst="rect">
              <a:avLst/>
            </a:prstGeom>
            <a:effectLst/>
          </p:spPr>
        </p:pic>
      </p:grpSp>
      <p:grpSp>
        <p:nvGrpSpPr>
          <p:cNvPr id="432" name="issubset( )   : one set has all elements…"/>
          <p:cNvGrpSpPr/>
          <p:nvPr/>
        </p:nvGrpSpPr>
        <p:grpSpPr>
          <a:xfrm>
            <a:off x="14206742" y="8279308"/>
            <a:ext cx="7402410" cy="2210767"/>
            <a:chOff x="0" y="0"/>
            <a:chExt cx="7402409" cy="2210765"/>
          </a:xfrm>
        </p:grpSpPr>
        <p:sp>
          <p:nvSpPr>
            <p:cNvPr id="431" name="issubset( )   : one set has all elements…"/>
            <p:cNvSpPr txBox="1"/>
            <p:nvPr/>
          </p:nvSpPr>
          <p:spPr>
            <a:xfrm>
              <a:off x="38100" y="25400"/>
              <a:ext cx="7326210" cy="20964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l">
                <a:defRPr sz="3300">
                  <a:solidFill>
                    <a:srgbClr val="000000"/>
                  </a:solidFill>
                </a:defRPr>
              </a:pPr>
              <a:r>
                <a:t>issubset( )   : one set has all elements    </a:t>
              </a:r>
            </a:p>
            <a:p>
              <a:pPr algn="l">
                <a:defRPr sz="3300">
                  <a:solidFill>
                    <a:srgbClr val="000000"/>
                  </a:solidFill>
                </a:defRPr>
              </a:pPr>
              <a:r>
                <a:t>                     of other set with     </a:t>
              </a:r>
            </a:p>
            <a:p>
              <a:pPr algn="l">
                <a:defRPr sz="3300">
                  <a:solidFill>
                    <a:srgbClr val="000000"/>
                  </a:solidFill>
                </a:defRPr>
              </a:pPr>
              <a:r>
                <a:t>                     additional elements</a:t>
              </a:r>
            </a:p>
            <a:p>
              <a:pPr algn="l">
                <a:defRPr sz="3300">
                  <a:solidFill>
                    <a:srgbClr val="000000"/>
                  </a:solidFill>
                </a:defRPr>
              </a:pPr>
              <a:r>
                <a:t>issuperset( ) : opposite to issubset</a:t>
              </a:r>
            </a:p>
          </p:txBody>
        </p:sp>
        <p:pic>
          <p:nvPicPr>
            <p:cNvPr id="430" name="issubset( )   : one set has all elements… issubset( )   : one set has all elements                         of other set with                          additional elementsissuperset( ) : opposite to issubset" descr="issubset( )   : one set has all elements… issubset( )   : one set has all elements                         of other set with                          additional elementsissuperset( ) : opposite to issubset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7402410" cy="2210766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" grpId="1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434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435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437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438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439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440" name="8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8</a:t>
            </a:r>
          </a:p>
        </p:txBody>
      </p:sp>
      <p:sp>
        <p:nvSpPr>
          <p:cNvPr id="441" name="04/11/2022"/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21</a:t>
            </a:r>
            <a:r>
              <a:rPr dirty="0"/>
              <a:t>/11/2022</a:t>
            </a:r>
          </a:p>
        </p:txBody>
      </p:sp>
      <p:sp>
        <p:nvSpPr>
          <p:cNvPr id="442" name="Hands-On with sets"/>
          <p:cNvSpPr txBox="1"/>
          <p:nvPr/>
        </p:nvSpPr>
        <p:spPr>
          <a:xfrm>
            <a:off x="9148127" y="1342821"/>
            <a:ext cx="6087746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r>
              <a:t>Hands-On with sets</a:t>
            </a:r>
          </a:p>
        </p:txBody>
      </p:sp>
      <p:sp>
        <p:nvSpPr>
          <p:cNvPr id="443" name="How to check if an element/item is in a given set : index, key"/>
          <p:cNvSpPr txBox="1"/>
          <p:nvPr/>
        </p:nvSpPr>
        <p:spPr>
          <a:xfrm>
            <a:off x="2452870" y="2617520"/>
            <a:ext cx="11813086" cy="5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228600" indent="-228600">
              <a:buSzPct val="80000"/>
              <a:buBlip>
                <a:blip r:embed="rId3"/>
              </a:buBlip>
              <a:defRPr sz="3300">
                <a:solidFill>
                  <a:srgbClr val="FFFFFF"/>
                </a:solidFill>
              </a:defRPr>
            </a:pPr>
            <a:r>
              <a:t> How to check if an element/item is in a given set : </a:t>
            </a:r>
            <a:r>
              <a:rPr strike="sngStrike"/>
              <a:t>index</a:t>
            </a:r>
            <a:r>
              <a:t>, </a:t>
            </a:r>
            <a:r>
              <a:rPr strike="sngStrike"/>
              <a:t>key</a:t>
            </a:r>
          </a:p>
        </p:txBody>
      </p:sp>
      <p:sp>
        <p:nvSpPr>
          <p:cNvPr id="444" name="Using ‘in’ keyword"/>
          <p:cNvSpPr txBox="1"/>
          <p:nvPr/>
        </p:nvSpPr>
        <p:spPr>
          <a:xfrm>
            <a:off x="11379482" y="3341201"/>
            <a:ext cx="3051557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U</a:t>
            </a:r>
            <a:r>
              <a:rPr>
                <a:solidFill>
                  <a:srgbClr val="FFFFFF"/>
                </a:solidFill>
              </a:rPr>
              <a:t>sing</a:t>
            </a:r>
            <a:r>
              <a:t> ‘in’ </a:t>
            </a:r>
            <a:r>
              <a:rPr>
                <a:solidFill>
                  <a:srgbClr val="FFFFFF"/>
                </a:solidFill>
              </a:rPr>
              <a:t>keyword</a:t>
            </a:r>
          </a:p>
        </p:txBody>
      </p:sp>
      <p:grpSp>
        <p:nvGrpSpPr>
          <p:cNvPr id="447" name="Rectangle"/>
          <p:cNvGrpSpPr/>
          <p:nvPr/>
        </p:nvGrpSpPr>
        <p:grpSpPr>
          <a:xfrm>
            <a:off x="2438887" y="7394216"/>
            <a:ext cx="19506226" cy="4553038"/>
            <a:chOff x="0" y="0"/>
            <a:chExt cx="19506224" cy="4553036"/>
          </a:xfrm>
        </p:grpSpPr>
        <p:sp>
          <p:nvSpPr>
            <p:cNvPr id="446" name="Rectangle"/>
            <p:cNvSpPr/>
            <p:nvPr/>
          </p:nvSpPr>
          <p:spPr>
            <a:xfrm>
              <a:off x="190499" y="127000"/>
              <a:ext cx="19125226" cy="40577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445" name="Rectangle Rectangle" descr="Rectangle Rectangl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0"/>
              <a:ext cx="19506226" cy="4553037"/>
            </a:xfrm>
            <a:prstGeom prst="rect">
              <a:avLst/>
            </a:prstGeom>
            <a:effectLst/>
          </p:spPr>
        </p:pic>
      </p:grpSp>
      <p:sp>
        <p:nvSpPr>
          <p:cNvPr id="448" name="difference( )               : return the difference between sets…"/>
          <p:cNvSpPr txBox="1"/>
          <p:nvPr/>
        </p:nvSpPr>
        <p:spPr>
          <a:xfrm>
            <a:off x="2857836" y="7804675"/>
            <a:ext cx="11001360" cy="10804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3300">
                <a:solidFill>
                  <a:srgbClr val="000000"/>
                </a:solidFill>
              </a:defRPr>
            </a:pPr>
            <a:r>
              <a:t>difference( )               : return the difference between sets</a:t>
            </a:r>
          </a:p>
          <a:p>
            <a:pPr algn="l">
              <a:defRPr sz="3300">
                <a:solidFill>
                  <a:srgbClr val="000000"/>
                </a:solidFill>
              </a:defRPr>
            </a:pPr>
            <a:r>
              <a:t>difference_update( )  : removes the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same items</a:t>
            </a:r>
            <a:r>
              <a:t> in two sets</a:t>
            </a:r>
          </a:p>
        </p:txBody>
      </p:sp>
      <p:pic>
        <p:nvPicPr>
          <p:cNvPr id="449" name="intersection( )             : return interaction (common)of sets… intersection( )             : return interaction (common)of setsintersection_update( ): remove the uncommon item in sets " descr="intersection( )             : return interaction (common)of sets… intersection( )             : return interaction (common)of setsintersection_update( ): remove the uncommon item in sets 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780325" y="9141377"/>
            <a:ext cx="11156382" cy="1258267"/>
          </a:xfrm>
          <a:prstGeom prst="rect">
            <a:avLst/>
          </a:prstGeom>
          <a:effectLst>
            <a:outerShdw blurRad="355600" rotWithShape="0">
              <a:srgbClr val="000000">
                <a:alpha val="75000"/>
              </a:srgbClr>
            </a:outerShdw>
          </a:effectLst>
        </p:spPr>
      </p:pic>
      <p:grpSp>
        <p:nvGrpSpPr>
          <p:cNvPr id="452" name="isdisjoint( ) : return true if no-common item in sets, otherwise false"/>
          <p:cNvGrpSpPr/>
          <p:nvPr/>
        </p:nvGrpSpPr>
        <p:grpSpPr>
          <a:xfrm>
            <a:off x="2819736" y="10795580"/>
            <a:ext cx="13037466" cy="737567"/>
            <a:chOff x="0" y="0"/>
            <a:chExt cx="13037464" cy="737565"/>
          </a:xfrm>
        </p:grpSpPr>
        <p:sp>
          <p:nvSpPr>
            <p:cNvPr id="451" name="isdisjoint( ) : return true if no-common item in sets, otherwise false"/>
            <p:cNvSpPr txBox="1"/>
            <p:nvPr/>
          </p:nvSpPr>
          <p:spPr>
            <a:xfrm>
              <a:off x="38100" y="25400"/>
              <a:ext cx="12961266" cy="6232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l">
                <a:defRPr sz="3300">
                  <a:solidFill>
                    <a:srgbClr val="000000"/>
                  </a:solidFill>
                </a:defRPr>
              </a:pPr>
              <a:r>
                <a:t>isdisjoint( ) : </a:t>
              </a:r>
              <a:r>
                <a:rPr i="1"/>
                <a:t>return </a:t>
              </a:r>
              <a:r>
                <a:rPr i="1"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rPr>
                <a:t>true if no-common item</a:t>
              </a:r>
              <a:r>
                <a:rPr i="1"/>
                <a:t> in sets</a:t>
              </a:r>
              <a:r>
                <a:t>, otherwise </a:t>
              </a:r>
              <a:r>
                <a: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rPr>
                <a:t>false</a:t>
              </a:r>
            </a:p>
          </p:txBody>
        </p:sp>
        <p:pic>
          <p:nvPicPr>
            <p:cNvPr id="450" name="isdisjoint( ) : return true if no-common item in sets, otherwise false isdisjoint( ) : return true if no-common item in sets, otherwise false" descr="isdisjoint( ) : return true if no-common item in sets, otherwise false isdisjoint( ) : return true if no-common item in sets, otherwise fals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13037466" cy="737566"/>
            </a:xfrm>
            <a:prstGeom prst="rect">
              <a:avLst/>
            </a:prstGeom>
            <a:effectLst/>
          </p:spPr>
        </p:pic>
      </p:grpSp>
      <p:grpSp>
        <p:nvGrpSpPr>
          <p:cNvPr id="455" name="issubset( )   : one set has all elements…"/>
          <p:cNvGrpSpPr/>
          <p:nvPr/>
        </p:nvGrpSpPr>
        <p:grpSpPr>
          <a:xfrm>
            <a:off x="14206742" y="8279308"/>
            <a:ext cx="7402410" cy="2210767"/>
            <a:chOff x="0" y="0"/>
            <a:chExt cx="7402409" cy="2210765"/>
          </a:xfrm>
        </p:grpSpPr>
        <p:sp>
          <p:nvSpPr>
            <p:cNvPr id="454" name="issubset( )   : one set has all elements…"/>
            <p:cNvSpPr txBox="1"/>
            <p:nvPr/>
          </p:nvSpPr>
          <p:spPr>
            <a:xfrm>
              <a:off x="38100" y="25400"/>
              <a:ext cx="7326210" cy="20964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l">
                <a:defRPr sz="3300">
                  <a:solidFill>
                    <a:srgbClr val="000000"/>
                  </a:solidFill>
                </a:defRPr>
              </a:pPr>
              <a:r>
                <a:t>issubset( )   : one set has all elements    </a:t>
              </a:r>
            </a:p>
            <a:p>
              <a:pPr algn="l">
                <a:defRPr sz="3300">
                  <a:solidFill>
                    <a:srgbClr val="000000"/>
                  </a:solidFill>
                </a:defRPr>
              </a:pPr>
              <a:r>
                <a:t>                     of other set with     </a:t>
              </a:r>
            </a:p>
            <a:p>
              <a:pPr algn="l">
                <a:defRPr sz="3300">
                  <a:solidFill>
                    <a:srgbClr val="000000"/>
                  </a:solidFill>
                </a:defRPr>
              </a:pPr>
              <a:r>
                <a:t>                     additional elements</a:t>
              </a:r>
            </a:p>
            <a:p>
              <a:pPr algn="l">
                <a:defRPr sz="3300">
                  <a:solidFill>
                    <a:srgbClr val="000000"/>
                  </a:solidFill>
                </a:defRPr>
              </a:pPr>
              <a:r>
                <a:t>issuperset( ) : opposite to issubset</a:t>
              </a:r>
            </a:p>
          </p:txBody>
        </p:sp>
        <p:pic>
          <p:nvPicPr>
            <p:cNvPr id="453" name="issubset( )   : one set has all elements… issubset( )   : one set has all elements                         of other set with                          additional elementsissuperset( ) : opposite to issubset" descr="issubset( )   : one set has all elements… issubset( )   : one set has all elements                         of other set with                          additional elementsissuperset( ) : opposite to issubset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7402410" cy="2210766"/>
            </a:xfrm>
            <a:prstGeom prst="rect">
              <a:avLst/>
            </a:prstGeom>
            <a:effectLst/>
          </p:spPr>
        </p:pic>
      </p:grpSp>
      <p:grpSp>
        <p:nvGrpSpPr>
          <p:cNvPr id="458" name="Rectangle"/>
          <p:cNvGrpSpPr/>
          <p:nvPr/>
        </p:nvGrpSpPr>
        <p:grpSpPr>
          <a:xfrm>
            <a:off x="2715580" y="4129551"/>
            <a:ext cx="13944127" cy="2748259"/>
            <a:chOff x="0" y="0"/>
            <a:chExt cx="13944125" cy="2748258"/>
          </a:xfrm>
        </p:grpSpPr>
        <p:sp>
          <p:nvSpPr>
            <p:cNvPr id="457" name="Rectangle"/>
            <p:cNvSpPr/>
            <p:nvPr/>
          </p:nvSpPr>
          <p:spPr>
            <a:xfrm>
              <a:off x="101599" y="63500"/>
              <a:ext cx="13740927" cy="248155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456" name="Rectangle Rectangle" descr="Rectangle Rectangle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-1" y="0"/>
              <a:ext cx="13944127" cy="2748259"/>
            </a:xfrm>
            <a:prstGeom prst="rect">
              <a:avLst/>
            </a:prstGeom>
            <a:effectLst/>
          </p:spPr>
        </p:pic>
      </p:grpSp>
      <p:sp>
        <p:nvSpPr>
          <p:cNvPr id="459" name="my_firstSet = {34, 22, 12, 100, 20000, 1, 2, 5, 8, 213, 35, ‘banana’, ‘mango’, ‘orange’}"/>
          <p:cNvSpPr txBox="1"/>
          <p:nvPr/>
        </p:nvSpPr>
        <p:spPr>
          <a:xfrm>
            <a:off x="3112702" y="4387462"/>
            <a:ext cx="1171072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my_firstSet = {34, 22, 12, 100, 20000, 1, 2, 5, 8, 213, 35, ‘banana’, ‘mango’, ‘orange’}</a:t>
            </a:r>
          </a:p>
        </p:txBody>
      </p:sp>
      <p:sp>
        <p:nvSpPr>
          <p:cNvPr id="460" name="my_secondSet = { 22, 100, 213, ‘banana’}"/>
          <p:cNvSpPr txBox="1"/>
          <p:nvPr/>
        </p:nvSpPr>
        <p:spPr>
          <a:xfrm>
            <a:off x="3107096" y="5067768"/>
            <a:ext cx="582564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my_secondSet = { 22, 100, 213, ‘banana’}</a:t>
            </a:r>
          </a:p>
        </p:txBody>
      </p:sp>
      <p:sp>
        <p:nvSpPr>
          <p:cNvPr id="461" name="my_thirdSet = { 34, 100, 213, ‘grapes’}"/>
          <p:cNvSpPr txBox="1"/>
          <p:nvPr/>
        </p:nvSpPr>
        <p:spPr>
          <a:xfrm>
            <a:off x="3113245" y="5890839"/>
            <a:ext cx="5356861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my_thirdSet = { 34, 100, 213, ‘grapes’}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" grpId="1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463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464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466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467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468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9</a:t>
            </a:r>
          </a:p>
        </p:txBody>
      </p:sp>
      <p:sp>
        <p:nvSpPr>
          <p:cNvPr id="470" name="04/11/2022"/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dirty="0"/>
              <a:t>21</a:t>
            </a:r>
            <a:r>
              <a:rPr dirty="0"/>
              <a:t>/11/2022</a:t>
            </a:r>
          </a:p>
        </p:txBody>
      </p:sp>
      <p:graphicFrame>
        <p:nvGraphicFramePr>
          <p:cNvPr id="471" name="Table 1"/>
          <p:cNvGraphicFramePr/>
          <p:nvPr/>
        </p:nvGraphicFramePr>
        <p:xfrm>
          <a:off x="2729512" y="3528925"/>
          <a:ext cx="18924975" cy="8605525"/>
        </p:xfrm>
        <a:graphic>
          <a:graphicData uri="http://schemas.openxmlformats.org/drawingml/2006/table">
            <a:tbl>
              <a:tblPr firstRow="1" firstCol="1">
                <a:tableStyleId>{C7B018BB-80A7-4F77-B60F-C8B233D01FF8}</a:tableStyleId>
              </a:tblPr>
              <a:tblGrid>
                <a:gridCol w="3784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4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4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84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2036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Mutability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Mixed data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Duplicacy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Ordered /Indexing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036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  <a:r>
                        <a:t>String</a:t>
                      </a:r>
                    </a:p>
                    <a:p>
                      <a:pPr defTabSz="914400">
                        <a:tabLst>
                          <a:tab pos="1663700" algn="l"/>
                        </a:tabLst>
                        <a:defRPr sz="2300"/>
                      </a:pPr>
                      <a:r>
                        <a:t>(single Or double quotes)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No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No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50800" marR="50800" marT="50800" marB="50800" anchor="ctr" horzOverflow="overflow">
                    <a:blipFill rotWithShape="1">
                      <a:blip r:embed="rId3"/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036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List[ ]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  <a:p>
                      <a:pPr defTabSz="914400">
                        <a:defRPr sz="2500"/>
                      </a:pPr>
                      <a:r>
                        <a:t>(</a:t>
                      </a:r>
                      <a:r>
                        <a:rPr>
                          <a:solidFill>
                            <a:srgbClr val="FFFFFF"/>
                          </a:solidFill>
                        </a:rPr>
                        <a:t>list, set, tuple, int and dict.</a:t>
                      </a:r>
                      <a:r>
                        <a:t>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50800" marR="50800" marT="50800" marB="50800" anchor="ctr" horzOverflow="overflow">
                    <a:blipFill rotWithShape="1">
                      <a:blip r:embed="rId3"/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036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Tuple( )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No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  <a:p>
                      <a:pPr defTabSz="914400">
                        <a:defRPr sz="2500"/>
                      </a:pPr>
                      <a:r>
                        <a:t>(</a:t>
                      </a:r>
                      <a:r>
                        <a:rPr>
                          <a:solidFill>
                            <a:srgbClr val="FFFFFF"/>
                          </a:solidFill>
                        </a:rPr>
                        <a:t>list, set, tuple, int, dict.</a:t>
                      </a:r>
                      <a:r>
                        <a:t>)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FFFFFF"/>
                          </a:solidFill>
                        </a:rPr>
                        <a:t>Yes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036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Dictionary{ }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olidFill>
                            <a:srgbClr val="FFFFFF"/>
                          </a:solidFill>
                        </a:defRPr>
                      </a:pPr>
                      <a:r>
                        <a:t>Yes </a:t>
                      </a:r>
                    </a:p>
                    <a:p>
                      <a:pPr defTabSz="914400">
                        <a:defRPr sz="2500">
                          <a:solidFill>
                            <a:srgbClr val="FFFFFF"/>
                          </a:solidFill>
                        </a:defRPr>
                      </a:pPr>
                      <a:r>
                        <a:t>Keys are immutable type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  <a:p>
                      <a:pPr defTabSz="914400">
                        <a:defRPr sz="2000"/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Key can be int, str and tuple</a:t>
                      </a:r>
                      <a:r>
                        <a:t> </a:t>
                      </a:r>
                      <a:r>
                        <a:rPr>
                          <a:solidFill>
                            <a:srgbClr val="FFFFFF"/>
                          </a:solidFill>
                        </a:rPr>
                        <a:t>but values can be of any data type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No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No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036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3200" b="1"/>
                        <a:t>Set( )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3">
                        <a:hueOff val="362282"/>
                        <a:satOff val="31803"/>
                        <a:lumOff val="-1824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No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olidFill>
                            <a:srgbClr val="FFFFFF"/>
                          </a:solidFill>
                        </a:defRPr>
                      </a:pPr>
                      <a:r>
                        <a:t>Yes</a:t>
                      </a:r>
                    </a:p>
                    <a:p>
                      <a:pPr defTabSz="914400"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Only </a:t>
                      </a:r>
                      <a:r>
                        <a:rPr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t>int, str, tuple</a:t>
                      </a:r>
                      <a:r>
                        <a:rPr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  <a:p>
                      <a:pPr defTabSz="914400"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Not </a:t>
                      </a:r>
                      <a:r>
                        <a:rPr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t>list, set,dict</a:t>
                      </a:r>
                      <a:r>
                        <a:rPr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No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No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72" name="Comparison b/w data types"/>
          <p:cNvSpPr txBox="1"/>
          <p:nvPr/>
        </p:nvSpPr>
        <p:spPr>
          <a:xfrm>
            <a:off x="8185870" y="1257167"/>
            <a:ext cx="847407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r>
              <a:t>Comparison b/w data types</a:t>
            </a:r>
          </a:p>
        </p:txBody>
      </p:sp>
      <p:sp>
        <p:nvSpPr>
          <p:cNvPr id="473" name="Based on quotes, braces and brackets  : ‘ ’ or “ ”, ( ), { }, [ ]"/>
          <p:cNvSpPr txBox="1"/>
          <p:nvPr/>
        </p:nvSpPr>
        <p:spPr>
          <a:xfrm>
            <a:off x="2765511" y="2544745"/>
            <a:ext cx="1004392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r>
              <a:t>Based on quotes, braces and brackets  : ‘ ’ or “ ”, ( ), { }, [ ]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" grpId="1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475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476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478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479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480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481" name="2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29</a:t>
            </a:r>
          </a:p>
        </p:txBody>
      </p:sp>
      <p:sp>
        <p:nvSpPr>
          <p:cNvPr id="482" name="28/10/2022"/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  <p:sp>
        <p:nvSpPr>
          <p:cNvPr id="483" name="Python - statement"/>
          <p:cNvSpPr txBox="1"/>
          <p:nvPr/>
        </p:nvSpPr>
        <p:spPr>
          <a:xfrm>
            <a:off x="2158487" y="1430047"/>
            <a:ext cx="5900421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Python - </a:t>
            </a:r>
            <a:r>
              <a:rPr u="sng"/>
              <a:t>statement</a:t>
            </a:r>
          </a:p>
        </p:txBody>
      </p:sp>
      <p:grpSp>
        <p:nvGrpSpPr>
          <p:cNvPr id="488" name="Group"/>
          <p:cNvGrpSpPr/>
          <p:nvPr/>
        </p:nvGrpSpPr>
        <p:grpSpPr>
          <a:xfrm>
            <a:off x="2227048" y="4382717"/>
            <a:ext cx="18075377" cy="2108835"/>
            <a:chOff x="0" y="1560381"/>
            <a:chExt cx="18075375" cy="2108834"/>
          </a:xfrm>
        </p:grpSpPr>
        <p:sp>
          <p:nvSpPr>
            <p:cNvPr id="484" name="A statement can be understood as an instruction that the interpreter (in our case Python interpreter)…"/>
            <p:cNvSpPr/>
            <p:nvPr/>
          </p:nvSpPr>
          <p:spPr>
            <a:xfrm>
              <a:off x="0" y="2076754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defRPr sz="3400">
                  <a:solidFill>
                    <a:srgbClr val="FFFFFF"/>
                  </a:solidFill>
                </a:defRPr>
              </a:pPr>
              <a:r>
                <a:t>A statement can be understood as an instruction that the interpreter (in our case Python interpreter)</a:t>
              </a:r>
            </a:p>
            <a:p>
              <a:pPr algn="l">
                <a:defRPr sz="3400">
                  <a:solidFill>
                    <a:srgbClr val="FFFFFF"/>
                  </a:solidFill>
                </a:defRPr>
              </a:pPr>
              <a:r>
                <a:t> can execute. </a:t>
              </a:r>
            </a:p>
            <a:p>
              <a:pPr algn="l">
                <a:defRPr sz="3400">
                  <a:solidFill>
                    <a:srgbClr val="FFFFFF"/>
                  </a:solidFill>
                </a:defRPr>
              </a:pPr>
              <a:endParaRPr/>
            </a:p>
            <a:p>
              <a:pPr algn="l">
                <a:defRPr sz="3400">
                  <a:solidFill>
                    <a:srgbClr val="FFFFFF"/>
                  </a:solidFill>
                </a:defRPr>
              </a:pPr>
              <a:r>
                <a:t>You have been working with two types of statements : assignment statement , print statement</a:t>
              </a:r>
            </a:p>
            <a:p>
              <a:pPr algn="l">
                <a:defRPr sz="3400">
                  <a:solidFill>
                    <a:srgbClr val="FFFFFF"/>
                  </a:solidFill>
                </a:defRPr>
              </a:pPr>
              <a:endParaRPr/>
            </a:p>
            <a:p>
              <a:pPr algn="l">
                <a:defRPr sz="3400">
                  <a:solidFill>
                    <a:srgbClr val="FFFFFF"/>
                  </a:solidFill>
                </a:defRPr>
              </a:pPr>
              <a:endParaRPr/>
            </a:p>
            <a:p>
              <a:pPr algn="l">
                <a:defRPr sz="3400">
                  <a:solidFill>
                    <a:srgbClr val="FFFFFF"/>
                  </a:solidFill>
                </a:defRPr>
              </a:pPr>
              <a:r>
                <a:t>On contrary, comments are not executed by interpreter.</a:t>
              </a:r>
            </a:p>
            <a:p>
              <a:pPr algn="l">
                <a:defRPr sz="3400">
                  <a:solidFill>
                    <a:srgbClr val="FFFFFF"/>
                  </a:solidFill>
                </a:defRPr>
              </a:pPr>
              <a:r>
                <a:t>                                                             </a:t>
              </a:r>
            </a:p>
          </p:txBody>
        </p:sp>
        <p:sp>
          <p:nvSpPr>
            <p:cNvPr id="485" name="Rectangle"/>
            <p:cNvSpPr/>
            <p:nvPr/>
          </p:nvSpPr>
          <p:spPr>
            <a:xfrm>
              <a:off x="7429138" y="2120018"/>
              <a:ext cx="10646238" cy="558395"/>
            </a:xfrm>
            <a:prstGeom prst="rect">
              <a:avLst/>
            </a:prstGeom>
            <a:noFill/>
            <a:ln w="254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ysDot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86" name="Rectangle"/>
            <p:cNvSpPr/>
            <p:nvPr/>
          </p:nvSpPr>
          <p:spPr>
            <a:xfrm>
              <a:off x="10553896" y="1560381"/>
              <a:ext cx="4396722" cy="558395"/>
            </a:xfrm>
            <a:prstGeom prst="rect">
              <a:avLst/>
            </a:prstGeom>
            <a:noFill/>
            <a:ln w="254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ysDot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487" name="“Remember: assignment statement doesn’t produce any result”"/>
            <p:cNvSpPr/>
            <p:nvPr/>
          </p:nvSpPr>
          <p:spPr>
            <a:xfrm>
              <a:off x="7461748" y="239921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2900"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lvl1pPr>
            </a:lstStyle>
            <a:p>
              <a:pPr>
                <a:defRPr sz="3400">
                  <a:solidFill>
                    <a:srgbClr val="FFFFFF"/>
                  </a:solidFill>
                </a:defRPr>
              </a:pPr>
              <a:r>
                <a:rPr sz="2900"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rPr>
                <a:t>“Remember: assignment statement doesn’t produce any result”</a:t>
              </a:r>
            </a:p>
          </p:txBody>
        </p:sp>
      </p:grpSp>
      <p:sp>
        <p:nvSpPr>
          <p:cNvPr id="489" name="Python - Expressions"/>
          <p:cNvSpPr txBox="1"/>
          <p:nvPr/>
        </p:nvSpPr>
        <p:spPr>
          <a:xfrm>
            <a:off x="2126292" y="7244918"/>
            <a:ext cx="6535421" cy="85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Python - </a:t>
            </a:r>
            <a:r>
              <a:rPr u="sng"/>
              <a:t>Expressions</a:t>
            </a:r>
          </a:p>
        </p:txBody>
      </p:sp>
      <p:sp>
        <p:nvSpPr>
          <p:cNvPr id="490" name="An expression may consists of variables, operators and values, which the Python interpreter evaluates…"/>
          <p:cNvSpPr txBox="1"/>
          <p:nvPr/>
        </p:nvSpPr>
        <p:spPr>
          <a:xfrm>
            <a:off x="2238562" y="8371870"/>
            <a:ext cx="20124777" cy="1118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400">
                <a:solidFill>
                  <a:srgbClr val="FFFFFF"/>
                </a:solidFill>
              </a:defRPr>
            </a:pPr>
            <a:r>
              <a:t>An expression may consists of </a:t>
            </a:r>
            <a:r>
              <a:rPr b="1" i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variables</a:t>
            </a:r>
            <a:r>
              <a:t>, </a:t>
            </a:r>
            <a:r>
              <a:rPr b="1" i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operators</a:t>
            </a:r>
            <a:r>
              <a:t> and </a:t>
            </a:r>
            <a:r>
              <a:rPr b="1" i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values</a:t>
            </a:r>
            <a:r>
              <a:rPr b="1" i="1">
                <a:solidFill>
                  <a:srgbClr val="000000"/>
                </a:solidFill>
              </a:rPr>
              <a:t>,</a:t>
            </a:r>
            <a:r>
              <a:rPr b="1" i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 </a:t>
            </a:r>
            <a:r>
              <a:t>which the Python interpreter evaluates</a:t>
            </a:r>
          </a:p>
          <a:p>
            <a:pPr algn="l">
              <a:defRPr sz="3400">
                <a:solidFill>
                  <a:srgbClr val="FFFFFF"/>
                </a:solidFill>
              </a:defRPr>
            </a:pPr>
            <a:r>
              <a:t>and give the result. </a:t>
            </a:r>
          </a:p>
        </p:txBody>
      </p:sp>
      <p:sp>
        <p:nvSpPr>
          <p:cNvPr id="491" name="If, elif, else statements (decision making building blocks in Python)"/>
          <p:cNvSpPr txBox="1"/>
          <p:nvPr/>
        </p:nvSpPr>
        <p:spPr>
          <a:xfrm>
            <a:off x="2204831" y="10276558"/>
            <a:ext cx="1663791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900">
                <a:solidFill>
                  <a:srgbClr val="FFFFFF"/>
                </a:solidFill>
              </a:defRPr>
            </a:pPr>
            <a:r>
              <a:rPr sz="5000" b="1"/>
              <a:t>If, elif, else statements</a:t>
            </a:r>
            <a:r>
              <a:t> (decision making building blocks in Python)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" grpId="1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493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494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496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497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498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499" name="2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29</a:t>
            </a:r>
          </a:p>
        </p:txBody>
      </p:sp>
      <p:sp>
        <p:nvSpPr>
          <p:cNvPr id="501" name="If, if-else, elif statements (decision making building blocks in Python)"/>
          <p:cNvSpPr txBox="1"/>
          <p:nvPr/>
        </p:nvSpPr>
        <p:spPr>
          <a:xfrm>
            <a:off x="2192665" y="1413107"/>
            <a:ext cx="1727164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900">
                <a:solidFill>
                  <a:srgbClr val="FFFFFF"/>
                </a:solidFill>
              </a:defRPr>
            </a:pPr>
            <a:r>
              <a:rPr sz="5000" b="1"/>
              <a:t>If, if-else, elif statements</a:t>
            </a:r>
            <a:r>
              <a:t> (decision making building blocks in Python)</a:t>
            </a:r>
          </a:p>
        </p:txBody>
      </p:sp>
      <p:sp>
        <p:nvSpPr>
          <p:cNvPr id="502" name="If Statement"/>
          <p:cNvSpPr txBox="1"/>
          <p:nvPr/>
        </p:nvSpPr>
        <p:spPr>
          <a:xfrm>
            <a:off x="2749206" y="3314369"/>
            <a:ext cx="3447289" cy="783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500" b="1">
                <a:solidFill>
                  <a:srgbClr val="FFFFFF"/>
                </a:solidFill>
              </a:defRPr>
            </a:lvl1pPr>
          </a:lstStyle>
          <a:p>
            <a:pPr>
              <a:defRPr b="0"/>
            </a:pPr>
            <a:r>
              <a:rPr b="1"/>
              <a:t>If Statement</a:t>
            </a:r>
          </a:p>
        </p:txBody>
      </p:sp>
      <p:sp>
        <p:nvSpPr>
          <p:cNvPr id="503" name="If-else Statement"/>
          <p:cNvSpPr txBox="1"/>
          <p:nvPr/>
        </p:nvSpPr>
        <p:spPr>
          <a:xfrm>
            <a:off x="7778004" y="3276269"/>
            <a:ext cx="4790314" cy="783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500" b="1">
                <a:solidFill>
                  <a:srgbClr val="FFFFFF"/>
                </a:solidFill>
              </a:defRPr>
            </a:lvl1pPr>
          </a:lstStyle>
          <a:p>
            <a:pPr>
              <a:defRPr b="0"/>
            </a:pPr>
            <a:r>
              <a:rPr b="1"/>
              <a:t>If-else Statement</a:t>
            </a:r>
          </a:p>
        </p:txBody>
      </p:sp>
      <p:sp>
        <p:nvSpPr>
          <p:cNvPr id="504" name="False"/>
          <p:cNvSpPr txBox="1"/>
          <p:nvPr/>
        </p:nvSpPr>
        <p:spPr>
          <a:xfrm>
            <a:off x="5122964" y="4997250"/>
            <a:ext cx="758445" cy="411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rgbClr val="000000"/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505" name="Rectangle"/>
          <p:cNvSpPr/>
          <p:nvPr/>
        </p:nvSpPr>
        <p:spPr>
          <a:xfrm>
            <a:off x="7621299" y="4030395"/>
            <a:ext cx="5103724" cy="417063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939800" dist="127000" rotWithShape="0">
              <a:schemeClr val="accent5">
                <a:hueOff val="-82419"/>
                <a:satOff val="-9513"/>
                <a:lumOff val="-16343"/>
              </a:schemeClr>
            </a:outerShdw>
          </a:effec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524" name="Group"/>
          <p:cNvGrpSpPr/>
          <p:nvPr/>
        </p:nvGrpSpPr>
        <p:grpSpPr>
          <a:xfrm>
            <a:off x="8039534" y="4129341"/>
            <a:ext cx="4578825" cy="3731842"/>
            <a:chOff x="-19050" y="0"/>
            <a:chExt cx="4578824" cy="3731841"/>
          </a:xfrm>
        </p:grpSpPr>
        <p:grpSp>
          <p:nvGrpSpPr>
            <p:cNvPr id="508" name="Rectangle"/>
            <p:cNvGrpSpPr/>
            <p:nvPr/>
          </p:nvGrpSpPr>
          <p:grpSpPr>
            <a:xfrm>
              <a:off x="-19051" y="2294481"/>
              <a:ext cx="2571039" cy="596495"/>
              <a:chOff x="0" y="0"/>
              <a:chExt cx="2571037" cy="596494"/>
            </a:xfrm>
          </p:grpSpPr>
          <p:sp>
            <p:nvSpPr>
              <p:cNvPr id="507" name="Rectangle"/>
              <p:cNvSpPr/>
              <p:nvPr/>
            </p:nvSpPr>
            <p:spPr>
              <a:xfrm>
                <a:off x="19050" y="19050"/>
                <a:ext cx="2532938" cy="55839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506" name="Rectangle Rectangle" descr="Rectangle Rectangle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571038" cy="596495"/>
              </a:xfrm>
              <a:prstGeom prst="rect">
                <a:avLst/>
              </a:prstGeom>
              <a:effectLst/>
            </p:spPr>
          </p:pic>
        </p:grpSp>
        <p:grpSp>
          <p:nvGrpSpPr>
            <p:cNvPr id="523" name="Group"/>
            <p:cNvGrpSpPr/>
            <p:nvPr/>
          </p:nvGrpSpPr>
          <p:grpSpPr>
            <a:xfrm>
              <a:off x="59054" y="-1"/>
              <a:ext cx="4500721" cy="3731843"/>
              <a:chOff x="0" y="0"/>
              <a:chExt cx="4500720" cy="3731841"/>
            </a:xfrm>
          </p:grpSpPr>
          <p:sp>
            <p:nvSpPr>
              <p:cNvPr id="509" name="Straight Connector 25"/>
              <p:cNvSpPr/>
              <p:nvPr/>
            </p:nvSpPr>
            <p:spPr>
              <a:xfrm flipH="1">
                <a:off x="1182013" y="1778449"/>
                <a:ext cx="1" cy="558395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512" name="Shape"/>
              <p:cNvGrpSpPr/>
              <p:nvPr/>
            </p:nvGrpSpPr>
            <p:grpSpPr>
              <a:xfrm rot="18900000">
                <a:off x="466371" y="464606"/>
                <a:ext cx="1485809" cy="1412383"/>
                <a:chOff x="0" y="0"/>
                <a:chExt cx="1485808" cy="1412381"/>
              </a:xfrm>
            </p:grpSpPr>
            <p:sp>
              <p:nvSpPr>
                <p:cNvPr id="511" name="Shape"/>
                <p:cNvSpPr/>
                <p:nvPr/>
              </p:nvSpPr>
              <p:spPr>
                <a:xfrm>
                  <a:off x="16482" y="16405"/>
                  <a:ext cx="1452147" cy="137937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17431" y="3822"/>
                      </a:lnTo>
                      <a:lnTo>
                        <a:pt x="21600" y="21600"/>
                      </a:lnTo>
                      <a:lnTo>
                        <a:pt x="3564" y="1759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825500"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pic>
              <p:nvPicPr>
                <p:cNvPr id="510" name="Shape Shape" descr="Shape Shape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-1" y="0"/>
                  <a:ext cx="1485810" cy="1412382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513" name="Test…"/>
              <p:cNvSpPr txBox="1"/>
              <p:nvPr/>
            </p:nvSpPr>
            <p:spPr>
              <a:xfrm>
                <a:off x="641958" y="848701"/>
                <a:ext cx="1054711" cy="5783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Test</a:t>
                </a:r>
              </a:p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Condition</a:t>
                </a:r>
              </a:p>
            </p:txBody>
          </p:sp>
          <p:sp>
            <p:nvSpPr>
              <p:cNvPr id="514" name="Straight Connector 25"/>
              <p:cNvSpPr/>
              <p:nvPr/>
            </p:nvSpPr>
            <p:spPr>
              <a:xfrm flipH="1" flipV="1">
                <a:off x="2149808" y="1137854"/>
                <a:ext cx="1293527" cy="1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515" name="Block of…"/>
              <p:cNvSpPr txBox="1"/>
              <p:nvPr/>
            </p:nvSpPr>
            <p:spPr>
              <a:xfrm>
                <a:off x="-1" y="2313531"/>
                <a:ext cx="2432001" cy="5783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Block of </a:t>
                </a:r>
              </a:p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statements, expression)</a:t>
                </a:r>
              </a:p>
            </p:txBody>
          </p:sp>
          <p:sp>
            <p:nvSpPr>
              <p:cNvPr id="516" name="True"/>
              <p:cNvSpPr txBox="1"/>
              <p:nvPr/>
            </p:nvSpPr>
            <p:spPr>
              <a:xfrm>
                <a:off x="634553" y="1830716"/>
                <a:ext cx="535941" cy="3370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600" b="1">
                    <a:solidFill>
                      <a:srgbClr val="000000"/>
                    </a:solidFill>
                  </a:defRPr>
                </a:lvl1pPr>
              </a:lstStyle>
              <a:p>
                <a:r>
                  <a:t>True</a:t>
                </a:r>
              </a:p>
            </p:txBody>
          </p:sp>
          <p:sp>
            <p:nvSpPr>
              <p:cNvPr id="517" name="False"/>
              <p:cNvSpPr txBox="1"/>
              <p:nvPr/>
            </p:nvSpPr>
            <p:spPr>
              <a:xfrm>
                <a:off x="2281418" y="835621"/>
                <a:ext cx="629616" cy="3370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600" b="1">
                    <a:solidFill>
                      <a:srgbClr val="000000"/>
                    </a:solidFill>
                  </a:defRPr>
                </a:lvl1pPr>
              </a:lstStyle>
              <a:p>
                <a:r>
                  <a:t>False</a:t>
                </a:r>
              </a:p>
            </p:txBody>
          </p:sp>
          <p:sp>
            <p:nvSpPr>
              <p:cNvPr id="518" name="Straight Connector 25"/>
              <p:cNvSpPr/>
              <p:nvPr/>
            </p:nvSpPr>
            <p:spPr>
              <a:xfrm flipH="1">
                <a:off x="1215999" y="0"/>
                <a:ext cx="1" cy="558395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519" name="Straight Connector 25"/>
              <p:cNvSpPr/>
              <p:nvPr/>
            </p:nvSpPr>
            <p:spPr>
              <a:xfrm flipH="1">
                <a:off x="3432283" y="1124404"/>
                <a:ext cx="1" cy="2172785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520" name="Straight Connector 25"/>
              <p:cNvSpPr/>
              <p:nvPr/>
            </p:nvSpPr>
            <p:spPr>
              <a:xfrm flipH="1">
                <a:off x="1169313" y="2873960"/>
                <a:ext cx="1" cy="857882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  <a:tailEnd type="stealth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521" name="Straight Connector 25"/>
              <p:cNvSpPr/>
              <p:nvPr/>
            </p:nvSpPr>
            <p:spPr>
              <a:xfrm flipH="1">
                <a:off x="1159654" y="3278946"/>
                <a:ext cx="2289100" cy="1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522" name="Block of…"/>
              <p:cNvSpPr txBox="1"/>
              <p:nvPr/>
            </p:nvSpPr>
            <p:spPr>
              <a:xfrm>
                <a:off x="2068720" y="1560009"/>
                <a:ext cx="2432001" cy="57830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Block of </a:t>
                </a:r>
              </a:p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statements, expression)</a:t>
                </a:r>
              </a:p>
            </p:txBody>
          </p:sp>
        </p:grpSp>
      </p:grpSp>
      <p:sp>
        <p:nvSpPr>
          <p:cNvPr id="525" name="If-elif Statement"/>
          <p:cNvSpPr txBox="1"/>
          <p:nvPr/>
        </p:nvSpPr>
        <p:spPr>
          <a:xfrm>
            <a:off x="15479883" y="2562919"/>
            <a:ext cx="4493134" cy="783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500" b="1">
                <a:solidFill>
                  <a:srgbClr val="FFFFFF"/>
                </a:solidFill>
              </a:defRPr>
            </a:lvl1pPr>
          </a:lstStyle>
          <a:p>
            <a:pPr>
              <a:defRPr b="0"/>
            </a:pPr>
            <a:r>
              <a:rPr b="1"/>
              <a:t>If-elif Statement</a:t>
            </a:r>
          </a:p>
        </p:txBody>
      </p:sp>
      <p:sp>
        <p:nvSpPr>
          <p:cNvPr id="526" name="Rectangle"/>
          <p:cNvSpPr/>
          <p:nvPr/>
        </p:nvSpPr>
        <p:spPr>
          <a:xfrm>
            <a:off x="13695976" y="3575918"/>
            <a:ext cx="8212418" cy="56627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939800" dist="127000" rotWithShape="0">
              <a:schemeClr val="accent5">
                <a:hueOff val="-82419"/>
                <a:satOff val="-9513"/>
                <a:lumOff val="-16343"/>
              </a:schemeClr>
            </a:outerShdw>
          </a:effec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529" name="Rectangle"/>
          <p:cNvGrpSpPr/>
          <p:nvPr/>
        </p:nvGrpSpPr>
        <p:grpSpPr>
          <a:xfrm>
            <a:off x="14227314" y="6322223"/>
            <a:ext cx="2571039" cy="596495"/>
            <a:chOff x="0" y="0"/>
            <a:chExt cx="2571037" cy="596494"/>
          </a:xfrm>
        </p:grpSpPr>
        <p:sp>
          <p:nvSpPr>
            <p:cNvPr id="528" name="Rectangle"/>
            <p:cNvSpPr/>
            <p:nvPr/>
          </p:nvSpPr>
          <p:spPr>
            <a:xfrm>
              <a:off x="19050" y="19050"/>
              <a:ext cx="2532938" cy="55839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527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571038" cy="596495"/>
            </a:xfrm>
            <a:prstGeom prst="rect">
              <a:avLst/>
            </a:prstGeom>
            <a:effectLst/>
          </p:spPr>
        </p:pic>
      </p:grpSp>
      <p:sp>
        <p:nvSpPr>
          <p:cNvPr id="530" name="Straight Connector 25"/>
          <p:cNvSpPr/>
          <p:nvPr/>
        </p:nvSpPr>
        <p:spPr>
          <a:xfrm>
            <a:off x="15487433" y="5895091"/>
            <a:ext cx="1" cy="558395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533" name="Shape"/>
          <p:cNvGrpSpPr/>
          <p:nvPr/>
        </p:nvGrpSpPr>
        <p:grpSpPr>
          <a:xfrm rot="18900000">
            <a:off x="14771792" y="4593948"/>
            <a:ext cx="1485809" cy="1412383"/>
            <a:chOff x="0" y="0"/>
            <a:chExt cx="1485808" cy="1412381"/>
          </a:xfrm>
        </p:grpSpPr>
        <p:sp>
          <p:nvSpPr>
            <p:cNvPr id="532" name="Shape"/>
            <p:cNvSpPr/>
            <p:nvPr/>
          </p:nvSpPr>
          <p:spPr>
            <a:xfrm>
              <a:off x="16482" y="16405"/>
              <a:ext cx="1452147" cy="1379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7431" y="3822"/>
                  </a:lnTo>
                  <a:lnTo>
                    <a:pt x="21600" y="21600"/>
                  </a:lnTo>
                  <a:lnTo>
                    <a:pt x="3564" y="17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531" name="Shape Shape" descr="Shape Shap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0"/>
              <a:ext cx="1485810" cy="1412382"/>
            </a:xfrm>
            <a:prstGeom prst="rect">
              <a:avLst/>
            </a:prstGeom>
            <a:effectLst/>
          </p:spPr>
        </p:pic>
      </p:grpSp>
      <p:sp>
        <p:nvSpPr>
          <p:cNvPr id="534" name="Test…"/>
          <p:cNvSpPr txBox="1"/>
          <p:nvPr/>
        </p:nvSpPr>
        <p:spPr>
          <a:xfrm>
            <a:off x="14947378" y="4882793"/>
            <a:ext cx="1054710" cy="819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Test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Condition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( if )</a:t>
            </a:r>
          </a:p>
        </p:txBody>
      </p:sp>
      <p:sp>
        <p:nvSpPr>
          <p:cNvPr id="535" name="Straight Connector 25"/>
          <p:cNvSpPr/>
          <p:nvPr/>
        </p:nvSpPr>
        <p:spPr>
          <a:xfrm flipH="1">
            <a:off x="16455228" y="5267195"/>
            <a:ext cx="1293527" cy="1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36" name="Block of…"/>
          <p:cNvSpPr txBox="1"/>
          <p:nvPr/>
        </p:nvSpPr>
        <p:spPr>
          <a:xfrm>
            <a:off x="14305420" y="6303173"/>
            <a:ext cx="2432000" cy="5783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Block of 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statements, expression)</a:t>
            </a:r>
          </a:p>
        </p:txBody>
      </p:sp>
      <p:sp>
        <p:nvSpPr>
          <p:cNvPr id="537" name="True"/>
          <p:cNvSpPr txBox="1"/>
          <p:nvPr/>
        </p:nvSpPr>
        <p:spPr>
          <a:xfrm>
            <a:off x="14939973" y="5960058"/>
            <a:ext cx="535941" cy="33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b="1">
                <a:solidFill>
                  <a:srgbClr val="000000"/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538" name="False"/>
          <p:cNvSpPr txBox="1"/>
          <p:nvPr/>
        </p:nvSpPr>
        <p:spPr>
          <a:xfrm>
            <a:off x="16586838" y="4964963"/>
            <a:ext cx="629616" cy="33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b="1">
                <a:solidFill>
                  <a:srgbClr val="000000"/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539" name="Straight Connector 25"/>
          <p:cNvSpPr/>
          <p:nvPr/>
        </p:nvSpPr>
        <p:spPr>
          <a:xfrm>
            <a:off x="15521420" y="4129341"/>
            <a:ext cx="1" cy="558395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40" name="Straight Connector 25"/>
          <p:cNvSpPr/>
          <p:nvPr/>
        </p:nvSpPr>
        <p:spPr>
          <a:xfrm>
            <a:off x="17737703" y="5253746"/>
            <a:ext cx="1" cy="3546789"/>
          </a:xfrm>
          <a:prstGeom prst="line">
            <a:avLst/>
          </a:prstGeom>
          <a:ln w="25400">
            <a:solidFill>
              <a:srgbClr val="A5300F"/>
            </a:solidFill>
            <a:tailEnd type="stealth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41" name="Straight Connector 25"/>
          <p:cNvSpPr/>
          <p:nvPr/>
        </p:nvSpPr>
        <p:spPr>
          <a:xfrm>
            <a:off x="15474733" y="7003301"/>
            <a:ext cx="1" cy="2172785"/>
          </a:xfrm>
          <a:prstGeom prst="line">
            <a:avLst/>
          </a:prstGeom>
          <a:ln w="25400">
            <a:solidFill>
              <a:srgbClr val="A5300F"/>
            </a:solidFill>
            <a:tailEnd type="stealth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42" name="Straight Connector 25"/>
          <p:cNvSpPr/>
          <p:nvPr/>
        </p:nvSpPr>
        <p:spPr>
          <a:xfrm flipH="1">
            <a:off x="15493428" y="8800029"/>
            <a:ext cx="4539469" cy="1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545" name="Block of…"/>
          <p:cNvGrpSpPr/>
          <p:nvPr/>
        </p:nvGrpSpPr>
        <p:grpSpPr>
          <a:xfrm>
            <a:off x="16483603" y="7014844"/>
            <a:ext cx="2508200" cy="654507"/>
            <a:chOff x="0" y="0"/>
            <a:chExt cx="2508199" cy="654505"/>
          </a:xfrm>
        </p:grpSpPr>
        <p:sp>
          <p:nvSpPr>
            <p:cNvPr id="544" name="Block of…"/>
            <p:cNvSpPr txBox="1"/>
            <p:nvPr/>
          </p:nvSpPr>
          <p:spPr>
            <a:xfrm>
              <a:off x="19049" y="19050"/>
              <a:ext cx="2470101" cy="61640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Block of </a:t>
              </a:r>
            </a:p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statements, expression)</a:t>
              </a:r>
            </a:p>
          </p:txBody>
        </p:sp>
        <p:pic>
          <p:nvPicPr>
            <p:cNvPr id="543" name="Block of… Block of statements, expression)" descr="Block of… Block of statements, expression)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2508200" cy="654506"/>
            </a:xfrm>
            <a:prstGeom prst="rect">
              <a:avLst/>
            </a:prstGeom>
            <a:effectLst/>
          </p:spPr>
        </p:pic>
      </p:grpSp>
      <p:grpSp>
        <p:nvGrpSpPr>
          <p:cNvPr id="548" name="Shape"/>
          <p:cNvGrpSpPr/>
          <p:nvPr/>
        </p:nvGrpSpPr>
        <p:grpSpPr>
          <a:xfrm rot="18900000">
            <a:off x="17020310" y="5437221"/>
            <a:ext cx="1485704" cy="1412168"/>
            <a:chOff x="0" y="0"/>
            <a:chExt cx="1485703" cy="1412167"/>
          </a:xfrm>
        </p:grpSpPr>
        <p:sp>
          <p:nvSpPr>
            <p:cNvPr id="547" name="Shape"/>
            <p:cNvSpPr/>
            <p:nvPr/>
          </p:nvSpPr>
          <p:spPr>
            <a:xfrm>
              <a:off x="16439" y="16204"/>
              <a:ext cx="1452147" cy="1379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7439" y="3638"/>
                  </a:lnTo>
                  <a:lnTo>
                    <a:pt x="21600" y="21600"/>
                  </a:lnTo>
                  <a:lnTo>
                    <a:pt x="3564" y="17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546" name="Shape Shape" descr="Shape Shap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" y="-1"/>
              <a:ext cx="1485704" cy="1412169"/>
            </a:xfrm>
            <a:prstGeom prst="rect">
              <a:avLst/>
            </a:prstGeom>
            <a:effectLst/>
          </p:spPr>
        </p:pic>
      </p:grpSp>
      <p:sp>
        <p:nvSpPr>
          <p:cNvPr id="549" name="Test…"/>
          <p:cNvSpPr txBox="1"/>
          <p:nvPr/>
        </p:nvSpPr>
        <p:spPr>
          <a:xfrm>
            <a:off x="17199094" y="5744010"/>
            <a:ext cx="1054711" cy="819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Test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Condition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( elif )</a:t>
            </a:r>
          </a:p>
        </p:txBody>
      </p:sp>
      <p:sp>
        <p:nvSpPr>
          <p:cNvPr id="550" name="True"/>
          <p:cNvSpPr txBox="1"/>
          <p:nvPr/>
        </p:nvSpPr>
        <p:spPr>
          <a:xfrm>
            <a:off x="17891289" y="6714897"/>
            <a:ext cx="535941" cy="337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b="1">
                <a:solidFill>
                  <a:srgbClr val="000000"/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551" name="False"/>
          <p:cNvSpPr txBox="1"/>
          <p:nvPr/>
        </p:nvSpPr>
        <p:spPr>
          <a:xfrm>
            <a:off x="19069944" y="5791555"/>
            <a:ext cx="629616" cy="33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b="1">
                <a:solidFill>
                  <a:srgbClr val="000000"/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552" name="Straight Connector 25"/>
          <p:cNvSpPr/>
          <p:nvPr/>
        </p:nvSpPr>
        <p:spPr>
          <a:xfrm flipH="1">
            <a:off x="18737988" y="6115713"/>
            <a:ext cx="1293527" cy="1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53" name="Straight Connector 25"/>
          <p:cNvSpPr/>
          <p:nvPr/>
        </p:nvSpPr>
        <p:spPr>
          <a:xfrm>
            <a:off x="20026072" y="6102694"/>
            <a:ext cx="1" cy="2719090"/>
          </a:xfrm>
          <a:prstGeom prst="line">
            <a:avLst/>
          </a:prstGeom>
          <a:ln w="25400">
            <a:solidFill>
              <a:srgbClr val="A5300F"/>
            </a:solidFill>
            <a:tailEnd type="stealth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556" name="Block of…"/>
          <p:cNvGrpSpPr/>
          <p:nvPr/>
        </p:nvGrpSpPr>
        <p:grpSpPr>
          <a:xfrm>
            <a:off x="18620851" y="7764028"/>
            <a:ext cx="2508200" cy="654507"/>
            <a:chOff x="0" y="0"/>
            <a:chExt cx="2508199" cy="654505"/>
          </a:xfrm>
        </p:grpSpPr>
        <p:sp>
          <p:nvSpPr>
            <p:cNvPr id="555" name="Block of…"/>
            <p:cNvSpPr txBox="1"/>
            <p:nvPr/>
          </p:nvSpPr>
          <p:spPr>
            <a:xfrm>
              <a:off x="19049" y="19050"/>
              <a:ext cx="2470101" cy="61640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Block of </a:t>
              </a:r>
            </a:p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statements, expression)</a:t>
              </a:r>
            </a:p>
          </p:txBody>
        </p:sp>
        <p:pic>
          <p:nvPicPr>
            <p:cNvPr id="554" name="Block of… Block of statements, expression)" descr="Block of… Block of statements, expression)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2508200" cy="654506"/>
            </a:xfrm>
            <a:prstGeom prst="rect">
              <a:avLst/>
            </a:prstGeom>
            <a:effectLst/>
          </p:spPr>
        </p:pic>
      </p:grpSp>
      <p:pic>
        <p:nvPicPr>
          <p:cNvPr id="557" name="Screen Shot 2022-10-18 at 9.55.01 PM.png" descr="Screen Shot 2022-10-18 at 9.55.01 PM.png"/>
          <p:cNvPicPr>
            <a:picLocks/>
          </p:cNvPicPr>
          <p:nvPr/>
        </p:nvPicPr>
        <p:blipFill>
          <a:blip r:embed="rId7">
            <a:alphaModFix amt="98000"/>
          </a:blip>
          <a:stretch>
            <a:fillRect/>
          </a:stretch>
        </p:blipFill>
        <p:spPr>
          <a:xfrm>
            <a:off x="7326420" y="2722814"/>
            <a:ext cx="15022695" cy="827037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74" name="Group"/>
          <p:cNvGrpSpPr/>
          <p:nvPr/>
        </p:nvGrpSpPr>
        <p:grpSpPr>
          <a:xfrm>
            <a:off x="2413522" y="4068495"/>
            <a:ext cx="4245656" cy="4170636"/>
            <a:chOff x="0" y="0"/>
            <a:chExt cx="4245655" cy="4170634"/>
          </a:xfrm>
        </p:grpSpPr>
        <p:sp>
          <p:nvSpPr>
            <p:cNvPr id="558" name="Rectangle"/>
            <p:cNvSpPr/>
            <p:nvPr/>
          </p:nvSpPr>
          <p:spPr>
            <a:xfrm>
              <a:off x="0" y="0"/>
              <a:ext cx="4245656" cy="417063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939800" dist="127000" rotWithShape="0">
                <a:schemeClr val="accent5">
                  <a:hueOff val="-82419"/>
                  <a:satOff val="-9513"/>
                  <a:lumOff val="-16343"/>
                </a:scheme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559" name="Straight Connector 25"/>
            <p:cNvSpPr/>
            <p:nvPr/>
          </p:nvSpPr>
          <p:spPr>
            <a:xfrm flipH="1">
              <a:off x="1763351" y="2048647"/>
              <a:ext cx="1" cy="1819996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grpSp>
          <p:nvGrpSpPr>
            <p:cNvPr id="562" name="Shape"/>
            <p:cNvGrpSpPr/>
            <p:nvPr/>
          </p:nvGrpSpPr>
          <p:grpSpPr>
            <a:xfrm rot="18900000">
              <a:off x="1047708" y="696703"/>
              <a:ext cx="1485809" cy="1412383"/>
              <a:chOff x="0" y="0"/>
              <a:chExt cx="1485808" cy="1412381"/>
            </a:xfrm>
          </p:grpSpPr>
          <p:sp>
            <p:nvSpPr>
              <p:cNvPr id="561" name="Shape"/>
              <p:cNvSpPr/>
              <p:nvPr/>
            </p:nvSpPr>
            <p:spPr>
              <a:xfrm>
                <a:off x="16482" y="16405"/>
                <a:ext cx="1452147" cy="13793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7431" y="3822"/>
                    </a:lnTo>
                    <a:lnTo>
                      <a:pt x="21600" y="21600"/>
                    </a:lnTo>
                    <a:lnTo>
                      <a:pt x="3564" y="175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560" name="Shape Shape" descr="Shape Shape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" y="0"/>
                <a:ext cx="1485810" cy="1412382"/>
              </a:xfrm>
              <a:prstGeom prst="rect">
                <a:avLst/>
              </a:prstGeom>
              <a:effectLst/>
            </p:spPr>
          </p:pic>
        </p:grpSp>
        <p:sp>
          <p:nvSpPr>
            <p:cNvPr id="563" name="Test…"/>
            <p:cNvSpPr txBox="1"/>
            <p:nvPr/>
          </p:nvSpPr>
          <p:spPr>
            <a:xfrm>
              <a:off x="1223296" y="1023647"/>
              <a:ext cx="1054710" cy="819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Test</a:t>
              </a:r>
            </a:p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Condition</a:t>
              </a:r>
            </a:p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( </a:t>
              </a:r>
              <a:r>
                <a: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rPr>
                <a:t>if </a:t>
              </a:r>
              <a:r>
                <a:t>)</a:t>
              </a:r>
            </a:p>
          </p:txBody>
        </p:sp>
        <p:sp>
          <p:nvSpPr>
            <p:cNvPr id="564" name="Straight Connector 25"/>
            <p:cNvSpPr/>
            <p:nvPr/>
          </p:nvSpPr>
          <p:spPr>
            <a:xfrm flipH="1" flipV="1">
              <a:off x="2731145" y="1369950"/>
              <a:ext cx="1293528" cy="1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565" name="True"/>
            <p:cNvSpPr txBox="1"/>
            <p:nvPr/>
          </p:nvSpPr>
          <p:spPr>
            <a:xfrm>
              <a:off x="1036445" y="2080940"/>
              <a:ext cx="641351" cy="4117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 b="1">
                  <a:solidFill>
                    <a:srgbClr val="000000"/>
                  </a:solidFill>
                </a:defRPr>
              </a:lvl1pPr>
            </a:lstStyle>
            <a:p>
              <a:r>
                <a:t>True</a:t>
              </a:r>
            </a:p>
          </p:txBody>
        </p:sp>
        <p:sp>
          <p:nvSpPr>
            <p:cNvPr id="566" name="Straight Connector 25"/>
            <p:cNvSpPr/>
            <p:nvPr/>
          </p:nvSpPr>
          <p:spPr>
            <a:xfrm>
              <a:off x="1797337" y="232096"/>
              <a:ext cx="1" cy="558396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567" name="Straight Connector 25"/>
            <p:cNvSpPr/>
            <p:nvPr/>
          </p:nvSpPr>
          <p:spPr>
            <a:xfrm flipH="1">
              <a:off x="4013621" y="1356501"/>
              <a:ext cx="1" cy="2172785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568" name="Straight Connector 25"/>
            <p:cNvSpPr/>
            <p:nvPr/>
          </p:nvSpPr>
          <p:spPr>
            <a:xfrm flipH="1">
              <a:off x="1740991" y="3511043"/>
              <a:ext cx="2289101" cy="1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grpSp>
          <p:nvGrpSpPr>
            <p:cNvPr id="573" name="Group"/>
            <p:cNvGrpSpPr/>
            <p:nvPr/>
          </p:nvGrpSpPr>
          <p:grpSpPr>
            <a:xfrm>
              <a:off x="503232" y="2577378"/>
              <a:ext cx="2571039" cy="597357"/>
              <a:chOff x="-19050" y="-19049"/>
              <a:chExt cx="2571037" cy="597355"/>
            </a:xfrm>
          </p:grpSpPr>
          <p:grpSp>
            <p:nvGrpSpPr>
              <p:cNvPr id="571" name="Rectangle"/>
              <p:cNvGrpSpPr/>
              <p:nvPr/>
            </p:nvGrpSpPr>
            <p:grpSpPr>
              <a:xfrm>
                <a:off x="-19051" y="-19050"/>
                <a:ext cx="2571039" cy="596495"/>
                <a:chOff x="0" y="0"/>
                <a:chExt cx="2571037" cy="596494"/>
              </a:xfrm>
            </p:grpSpPr>
            <p:sp>
              <p:nvSpPr>
                <p:cNvPr id="570" name="Rectangle"/>
                <p:cNvSpPr/>
                <p:nvPr/>
              </p:nvSpPr>
              <p:spPr>
                <a:xfrm>
                  <a:off x="19050" y="19049"/>
                  <a:ext cx="2532938" cy="558396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825500"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pic>
              <p:nvPicPr>
                <p:cNvPr id="569" name="Rectangle Rectangle" descr="Rectangle Rectangle"/>
                <p:cNvPicPr>
                  <a:picLocks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2571038" cy="59649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572" name="Block of…"/>
              <p:cNvSpPr txBox="1"/>
              <p:nvPr/>
            </p:nvSpPr>
            <p:spPr>
              <a:xfrm>
                <a:off x="59054" y="-1"/>
                <a:ext cx="2432001" cy="5783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Block of </a:t>
                </a:r>
              </a:p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statements, expression)</a:t>
                </a:r>
              </a:p>
            </p:txBody>
          </p:sp>
        </p:grpSp>
      </p:grpSp>
      <p:sp>
        <p:nvSpPr>
          <p:cNvPr id="575" name="x = 10…"/>
          <p:cNvSpPr txBox="1"/>
          <p:nvPr/>
        </p:nvSpPr>
        <p:spPr>
          <a:xfrm>
            <a:off x="-846678" y="8776425"/>
            <a:ext cx="8015745" cy="2382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                                 x = 10</a:t>
            </a:r>
          </a:p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                                 If x &gt; 10:</a:t>
            </a:r>
          </a:p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                                     print(“ Number is Greater”)</a:t>
            </a:r>
          </a:p>
          <a:p>
            <a:pPr>
              <a:lnSpc>
                <a:spcPct val="150000"/>
              </a:lnSpc>
              <a:defRPr sz="2700"/>
            </a:pPr>
            <a:r>
              <a:t> 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2BDA84C8-AE08-2AE5-1E68-08C73663794A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" grpId="1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577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578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580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581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582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583" name="2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29</a:t>
            </a:r>
          </a:p>
        </p:txBody>
      </p:sp>
      <p:sp>
        <p:nvSpPr>
          <p:cNvPr id="585" name="If, if-else, elif statements (decision making building blocks in Python)"/>
          <p:cNvSpPr txBox="1"/>
          <p:nvPr/>
        </p:nvSpPr>
        <p:spPr>
          <a:xfrm>
            <a:off x="2192665" y="1413107"/>
            <a:ext cx="1727164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900">
                <a:solidFill>
                  <a:srgbClr val="FFFFFF"/>
                </a:solidFill>
              </a:defRPr>
            </a:pPr>
            <a:r>
              <a:rPr sz="5000" b="1"/>
              <a:t>If, if-else, elif statements</a:t>
            </a:r>
            <a:r>
              <a:t> (decision making building blocks in Python)</a:t>
            </a:r>
          </a:p>
        </p:txBody>
      </p:sp>
      <p:sp>
        <p:nvSpPr>
          <p:cNvPr id="586" name="If Statement"/>
          <p:cNvSpPr txBox="1"/>
          <p:nvPr/>
        </p:nvSpPr>
        <p:spPr>
          <a:xfrm>
            <a:off x="2749206" y="3314369"/>
            <a:ext cx="3447289" cy="783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500" b="1">
                <a:solidFill>
                  <a:srgbClr val="FFFFFF"/>
                </a:solidFill>
              </a:defRPr>
            </a:lvl1pPr>
          </a:lstStyle>
          <a:p>
            <a:pPr>
              <a:defRPr b="0"/>
            </a:pPr>
            <a:r>
              <a:rPr b="1"/>
              <a:t>If Statement</a:t>
            </a:r>
          </a:p>
        </p:txBody>
      </p:sp>
      <p:sp>
        <p:nvSpPr>
          <p:cNvPr id="587" name="If-else Statement"/>
          <p:cNvSpPr txBox="1"/>
          <p:nvPr/>
        </p:nvSpPr>
        <p:spPr>
          <a:xfrm>
            <a:off x="7778004" y="3276269"/>
            <a:ext cx="4790314" cy="783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500" b="1">
                <a:solidFill>
                  <a:srgbClr val="FFFFFF"/>
                </a:solidFill>
              </a:defRPr>
            </a:lvl1pPr>
          </a:lstStyle>
          <a:p>
            <a:pPr>
              <a:defRPr b="0"/>
            </a:pPr>
            <a:r>
              <a:rPr b="1"/>
              <a:t>If-else Statement</a:t>
            </a:r>
          </a:p>
        </p:txBody>
      </p:sp>
      <p:sp>
        <p:nvSpPr>
          <p:cNvPr id="588" name="False"/>
          <p:cNvSpPr txBox="1"/>
          <p:nvPr/>
        </p:nvSpPr>
        <p:spPr>
          <a:xfrm>
            <a:off x="5122964" y="4997250"/>
            <a:ext cx="758445" cy="411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rgbClr val="000000"/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589" name="Rectangle"/>
          <p:cNvSpPr/>
          <p:nvPr/>
        </p:nvSpPr>
        <p:spPr>
          <a:xfrm>
            <a:off x="7621299" y="4030395"/>
            <a:ext cx="5103724" cy="417063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939800" dist="127000" rotWithShape="0">
              <a:schemeClr val="accent5">
                <a:hueOff val="-82419"/>
                <a:satOff val="-9513"/>
                <a:lumOff val="-16343"/>
              </a:schemeClr>
            </a:outerShdw>
          </a:effec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608" name="Group"/>
          <p:cNvGrpSpPr/>
          <p:nvPr/>
        </p:nvGrpSpPr>
        <p:grpSpPr>
          <a:xfrm>
            <a:off x="8039534" y="4129341"/>
            <a:ext cx="4578825" cy="3731842"/>
            <a:chOff x="-19050" y="0"/>
            <a:chExt cx="4578824" cy="3731841"/>
          </a:xfrm>
        </p:grpSpPr>
        <p:grpSp>
          <p:nvGrpSpPr>
            <p:cNvPr id="592" name="Rectangle"/>
            <p:cNvGrpSpPr/>
            <p:nvPr/>
          </p:nvGrpSpPr>
          <p:grpSpPr>
            <a:xfrm>
              <a:off x="-19051" y="2294481"/>
              <a:ext cx="2571039" cy="596495"/>
              <a:chOff x="0" y="0"/>
              <a:chExt cx="2571037" cy="596494"/>
            </a:xfrm>
          </p:grpSpPr>
          <p:sp>
            <p:nvSpPr>
              <p:cNvPr id="591" name="Rectangle"/>
              <p:cNvSpPr/>
              <p:nvPr/>
            </p:nvSpPr>
            <p:spPr>
              <a:xfrm>
                <a:off x="19050" y="19050"/>
                <a:ext cx="2532938" cy="55839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590" name="Rectangle Rectangle" descr="Rectangle Rectangle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571038" cy="596495"/>
              </a:xfrm>
              <a:prstGeom prst="rect">
                <a:avLst/>
              </a:prstGeom>
              <a:effectLst/>
            </p:spPr>
          </p:pic>
        </p:grpSp>
        <p:grpSp>
          <p:nvGrpSpPr>
            <p:cNvPr id="607" name="Group"/>
            <p:cNvGrpSpPr/>
            <p:nvPr/>
          </p:nvGrpSpPr>
          <p:grpSpPr>
            <a:xfrm>
              <a:off x="59054" y="-1"/>
              <a:ext cx="4500721" cy="3731843"/>
              <a:chOff x="0" y="0"/>
              <a:chExt cx="4500720" cy="3731841"/>
            </a:xfrm>
          </p:grpSpPr>
          <p:sp>
            <p:nvSpPr>
              <p:cNvPr id="593" name="Straight Connector 25"/>
              <p:cNvSpPr/>
              <p:nvPr/>
            </p:nvSpPr>
            <p:spPr>
              <a:xfrm flipH="1">
                <a:off x="1182013" y="1778449"/>
                <a:ext cx="1" cy="558395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596" name="Shape"/>
              <p:cNvGrpSpPr/>
              <p:nvPr/>
            </p:nvGrpSpPr>
            <p:grpSpPr>
              <a:xfrm rot="18900000">
                <a:off x="466371" y="464606"/>
                <a:ext cx="1485809" cy="1412383"/>
                <a:chOff x="0" y="0"/>
                <a:chExt cx="1485808" cy="1412381"/>
              </a:xfrm>
            </p:grpSpPr>
            <p:sp>
              <p:nvSpPr>
                <p:cNvPr id="595" name="Shape"/>
                <p:cNvSpPr/>
                <p:nvPr/>
              </p:nvSpPr>
              <p:spPr>
                <a:xfrm>
                  <a:off x="16482" y="16405"/>
                  <a:ext cx="1452147" cy="137937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17431" y="3822"/>
                      </a:lnTo>
                      <a:lnTo>
                        <a:pt x="21600" y="21600"/>
                      </a:lnTo>
                      <a:lnTo>
                        <a:pt x="3564" y="1759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825500"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pic>
              <p:nvPicPr>
                <p:cNvPr id="594" name="Shape Shape" descr="Shape Shape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-1" y="0"/>
                  <a:ext cx="1485810" cy="1412382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597" name="Test…"/>
              <p:cNvSpPr txBox="1"/>
              <p:nvPr/>
            </p:nvSpPr>
            <p:spPr>
              <a:xfrm>
                <a:off x="641958" y="848701"/>
                <a:ext cx="1054711" cy="5783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Test</a:t>
                </a:r>
              </a:p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Condition</a:t>
                </a:r>
              </a:p>
            </p:txBody>
          </p:sp>
          <p:sp>
            <p:nvSpPr>
              <p:cNvPr id="598" name="Straight Connector 25"/>
              <p:cNvSpPr/>
              <p:nvPr/>
            </p:nvSpPr>
            <p:spPr>
              <a:xfrm flipH="1" flipV="1">
                <a:off x="2149808" y="1137854"/>
                <a:ext cx="1293527" cy="1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599" name="Block of…"/>
              <p:cNvSpPr txBox="1"/>
              <p:nvPr/>
            </p:nvSpPr>
            <p:spPr>
              <a:xfrm>
                <a:off x="-1" y="2313531"/>
                <a:ext cx="2432001" cy="5783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Block of </a:t>
                </a:r>
              </a:p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statements, expression)</a:t>
                </a:r>
              </a:p>
            </p:txBody>
          </p:sp>
          <p:sp>
            <p:nvSpPr>
              <p:cNvPr id="600" name="True"/>
              <p:cNvSpPr txBox="1"/>
              <p:nvPr/>
            </p:nvSpPr>
            <p:spPr>
              <a:xfrm>
                <a:off x="634553" y="1830716"/>
                <a:ext cx="535941" cy="3370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600" b="1">
                    <a:solidFill>
                      <a:srgbClr val="000000"/>
                    </a:solidFill>
                  </a:defRPr>
                </a:lvl1pPr>
              </a:lstStyle>
              <a:p>
                <a:r>
                  <a:t>True</a:t>
                </a:r>
              </a:p>
            </p:txBody>
          </p:sp>
          <p:sp>
            <p:nvSpPr>
              <p:cNvPr id="601" name="False"/>
              <p:cNvSpPr txBox="1"/>
              <p:nvPr/>
            </p:nvSpPr>
            <p:spPr>
              <a:xfrm>
                <a:off x="2281418" y="835621"/>
                <a:ext cx="629616" cy="3370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600" b="1">
                    <a:solidFill>
                      <a:srgbClr val="000000"/>
                    </a:solidFill>
                  </a:defRPr>
                </a:lvl1pPr>
              </a:lstStyle>
              <a:p>
                <a:r>
                  <a:t>False</a:t>
                </a:r>
              </a:p>
            </p:txBody>
          </p:sp>
          <p:sp>
            <p:nvSpPr>
              <p:cNvPr id="602" name="Straight Connector 25"/>
              <p:cNvSpPr/>
              <p:nvPr/>
            </p:nvSpPr>
            <p:spPr>
              <a:xfrm flipH="1">
                <a:off x="1215999" y="0"/>
                <a:ext cx="1" cy="558395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603" name="Straight Connector 25"/>
              <p:cNvSpPr/>
              <p:nvPr/>
            </p:nvSpPr>
            <p:spPr>
              <a:xfrm flipH="1">
                <a:off x="3432283" y="1124404"/>
                <a:ext cx="1" cy="2172785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604" name="Straight Connector 25"/>
              <p:cNvSpPr/>
              <p:nvPr/>
            </p:nvSpPr>
            <p:spPr>
              <a:xfrm flipH="1">
                <a:off x="1169313" y="2873960"/>
                <a:ext cx="1" cy="857882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  <a:tailEnd type="stealth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605" name="Straight Connector 25"/>
              <p:cNvSpPr/>
              <p:nvPr/>
            </p:nvSpPr>
            <p:spPr>
              <a:xfrm flipH="1">
                <a:off x="1159654" y="3278946"/>
                <a:ext cx="2289100" cy="1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606" name="Block of…"/>
              <p:cNvSpPr txBox="1"/>
              <p:nvPr/>
            </p:nvSpPr>
            <p:spPr>
              <a:xfrm>
                <a:off x="2068720" y="1560009"/>
                <a:ext cx="2432001" cy="57830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Block of </a:t>
                </a:r>
              </a:p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statements, expression)</a:t>
                </a:r>
              </a:p>
            </p:txBody>
          </p:sp>
        </p:grpSp>
      </p:grpSp>
      <p:sp>
        <p:nvSpPr>
          <p:cNvPr id="609" name="If-elif Statement"/>
          <p:cNvSpPr txBox="1"/>
          <p:nvPr/>
        </p:nvSpPr>
        <p:spPr>
          <a:xfrm>
            <a:off x="15479883" y="2562919"/>
            <a:ext cx="4493134" cy="783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500" b="1">
                <a:solidFill>
                  <a:srgbClr val="FFFFFF"/>
                </a:solidFill>
              </a:defRPr>
            </a:lvl1pPr>
          </a:lstStyle>
          <a:p>
            <a:pPr>
              <a:defRPr b="0"/>
            </a:pPr>
            <a:r>
              <a:rPr b="1"/>
              <a:t>If-elif Statement</a:t>
            </a:r>
          </a:p>
        </p:txBody>
      </p:sp>
      <p:sp>
        <p:nvSpPr>
          <p:cNvPr id="610" name="Rectangle"/>
          <p:cNvSpPr/>
          <p:nvPr/>
        </p:nvSpPr>
        <p:spPr>
          <a:xfrm>
            <a:off x="13695976" y="3575918"/>
            <a:ext cx="8212418" cy="56627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939800" dist="127000" rotWithShape="0">
              <a:schemeClr val="accent5">
                <a:hueOff val="-82419"/>
                <a:satOff val="-9513"/>
                <a:lumOff val="-16343"/>
              </a:schemeClr>
            </a:outerShdw>
          </a:effec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613" name="Rectangle"/>
          <p:cNvGrpSpPr/>
          <p:nvPr/>
        </p:nvGrpSpPr>
        <p:grpSpPr>
          <a:xfrm>
            <a:off x="14227314" y="6322223"/>
            <a:ext cx="2571039" cy="596495"/>
            <a:chOff x="0" y="0"/>
            <a:chExt cx="2571037" cy="596494"/>
          </a:xfrm>
        </p:grpSpPr>
        <p:sp>
          <p:nvSpPr>
            <p:cNvPr id="612" name="Rectangle"/>
            <p:cNvSpPr/>
            <p:nvPr/>
          </p:nvSpPr>
          <p:spPr>
            <a:xfrm>
              <a:off x="19050" y="19050"/>
              <a:ext cx="2532938" cy="55839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611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571038" cy="596495"/>
            </a:xfrm>
            <a:prstGeom prst="rect">
              <a:avLst/>
            </a:prstGeom>
            <a:effectLst/>
          </p:spPr>
        </p:pic>
      </p:grpSp>
      <p:sp>
        <p:nvSpPr>
          <p:cNvPr id="614" name="Straight Connector 25"/>
          <p:cNvSpPr/>
          <p:nvPr/>
        </p:nvSpPr>
        <p:spPr>
          <a:xfrm>
            <a:off x="15487433" y="5895091"/>
            <a:ext cx="1" cy="558395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617" name="Shape"/>
          <p:cNvGrpSpPr/>
          <p:nvPr/>
        </p:nvGrpSpPr>
        <p:grpSpPr>
          <a:xfrm rot="18900000">
            <a:off x="14771792" y="4593948"/>
            <a:ext cx="1485809" cy="1412383"/>
            <a:chOff x="0" y="0"/>
            <a:chExt cx="1485808" cy="1412381"/>
          </a:xfrm>
        </p:grpSpPr>
        <p:sp>
          <p:nvSpPr>
            <p:cNvPr id="616" name="Shape"/>
            <p:cNvSpPr/>
            <p:nvPr/>
          </p:nvSpPr>
          <p:spPr>
            <a:xfrm>
              <a:off x="16482" y="16405"/>
              <a:ext cx="1452147" cy="1379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7431" y="3822"/>
                  </a:lnTo>
                  <a:lnTo>
                    <a:pt x="21600" y="21600"/>
                  </a:lnTo>
                  <a:lnTo>
                    <a:pt x="3564" y="17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615" name="Shape Shape" descr="Shape Shap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0"/>
              <a:ext cx="1485810" cy="1412382"/>
            </a:xfrm>
            <a:prstGeom prst="rect">
              <a:avLst/>
            </a:prstGeom>
            <a:effectLst/>
          </p:spPr>
        </p:pic>
      </p:grpSp>
      <p:sp>
        <p:nvSpPr>
          <p:cNvPr id="618" name="Test…"/>
          <p:cNvSpPr txBox="1"/>
          <p:nvPr/>
        </p:nvSpPr>
        <p:spPr>
          <a:xfrm>
            <a:off x="14947378" y="4882793"/>
            <a:ext cx="1054710" cy="819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Test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Condition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( if )</a:t>
            </a:r>
          </a:p>
        </p:txBody>
      </p:sp>
      <p:sp>
        <p:nvSpPr>
          <p:cNvPr id="619" name="Straight Connector 25"/>
          <p:cNvSpPr/>
          <p:nvPr/>
        </p:nvSpPr>
        <p:spPr>
          <a:xfrm flipH="1">
            <a:off x="16455228" y="5267195"/>
            <a:ext cx="1293527" cy="1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620" name="Block of…"/>
          <p:cNvSpPr txBox="1"/>
          <p:nvPr/>
        </p:nvSpPr>
        <p:spPr>
          <a:xfrm>
            <a:off x="14305420" y="6303173"/>
            <a:ext cx="2432000" cy="5783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Block of 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statements, expression)</a:t>
            </a:r>
          </a:p>
        </p:txBody>
      </p:sp>
      <p:sp>
        <p:nvSpPr>
          <p:cNvPr id="621" name="True"/>
          <p:cNvSpPr txBox="1"/>
          <p:nvPr/>
        </p:nvSpPr>
        <p:spPr>
          <a:xfrm>
            <a:off x="14939973" y="5960058"/>
            <a:ext cx="535941" cy="33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b="1">
                <a:solidFill>
                  <a:srgbClr val="000000"/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622" name="False"/>
          <p:cNvSpPr txBox="1"/>
          <p:nvPr/>
        </p:nvSpPr>
        <p:spPr>
          <a:xfrm>
            <a:off x="16586838" y="4964963"/>
            <a:ext cx="629616" cy="33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b="1">
                <a:solidFill>
                  <a:srgbClr val="000000"/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623" name="Straight Connector 25"/>
          <p:cNvSpPr/>
          <p:nvPr/>
        </p:nvSpPr>
        <p:spPr>
          <a:xfrm>
            <a:off x="15521420" y="4129341"/>
            <a:ext cx="1" cy="558395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624" name="Straight Connector 25"/>
          <p:cNvSpPr/>
          <p:nvPr/>
        </p:nvSpPr>
        <p:spPr>
          <a:xfrm>
            <a:off x="17737703" y="5253746"/>
            <a:ext cx="1" cy="3546789"/>
          </a:xfrm>
          <a:prstGeom prst="line">
            <a:avLst/>
          </a:prstGeom>
          <a:ln w="25400">
            <a:solidFill>
              <a:srgbClr val="A5300F"/>
            </a:solidFill>
            <a:tailEnd type="stealth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625" name="Straight Connector 25"/>
          <p:cNvSpPr/>
          <p:nvPr/>
        </p:nvSpPr>
        <p:spPr>
          <a:xfrm>
            <a:off x="15474733" y="7003301"/>
            <a:ext cx="1" cy="2172785"/>
          </a:xfrm>
          <a:prstGeom prst="line">
            <a:avLst/>
          </a:prstGeom>
          <a:ln w="25400">
            <a:solidFill>
              <a:srgbClr val="A5300F"/>
            </a:solidFill>
            <a:tailEnd type="stealth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626" name="Straight Connector 25"/>
          <p:cNvSpPr/>
          <p:nvPr/>
        </p:nvSpPr>
        <p:spPr>
          <a:xfrm flipH="1">
            <a:off x="15493428" y="8800029"/>
            <a:ext cx="4539469" cy="1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629" name="Block of…"/>
          <p:cNvGrpSpPr/>
          <p:nvPr/>
        </p:nvGrpSpPr>
        <p:grpSpPr>
          <a:xfrm>
            <a:off x="16483603" y="7014844"/>
            <a:ext cx="2508200" cy="654507"/>
            <a:chOff x="0" y="0"/>
            <a:chExt cx="2508199" cy="654505"/>
          </a:xfrm>
        </p:grpSpPr>
        <p:sp>
          <p:nvSpPr>
            <p:cNvPr id="628" name="Block of…"/>
            <p:cNvSpPr txBox="1"/>
            <p:nvPr/>
          </p:nvSpPr>
          <p:spPr>
            <a:xfrm>
              <a:off x="19049" y="19050"/>
              <a:ext cx="2470101" cy="61640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Block of </a:t>
              </a:r>
            </a:p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statements, expression)</a:t>
              </a:r>
            </a:p>
          </p:txBody>
        </p:sp>
        <p:pic>
          <p:nvPicPr>
            <p:cNvPr id="627" name="Block of… Block of statements, expression)" descr="Block of… Block of statements, expression)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2508200" cy="654506"/>
            </a:xfrm>
            <a:prstGeom prst="rect">
              <a:avLst/>
            </a:prstGeom>
            <a:effectLst/>
          </p:spPr>
        </p:pic>
      </p:grpSp>
      <p:grpSp>
        <p:nvGrpSpPr>
          <p:cNvPr id="632" name="Shape"/>
          <p:cNvGrpSpPr/>
          <p:nvPr/>
        </p:nvGrpSpPr>
        <p:grpSpPr>
          <a:xfrm rot="18900000">
            <a:off x="17020310" y="5437221"/>
            <a:ext cx="1485704" cy="1412168"/>
            <a:chOff x="0" y="0"/>
            <a:chExt cx="1485703" cy="1412167"/>
          </a:xfrm>
        </p:grpSpPr>
        <p:sp>
          <p:nvSpPr>
            <p:cNvPr id="631" name="Shape"/>
            <p:cNvSpPr/>
            <p:nvPr/>
          </p:nvSpPr>
          <p:spPr>
            <a:xfrm>
              <a:off x="16439" y="16204"/>
              <a:ext cx="1452147" cy="1379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7439" y="3638"/>
                  </a:lnTo>
                  <a:lnTo>
                    <a:pt x="21600" y="21600"/>
                  </a:lnTo>
                  <a:lnTo>
                    <a:pt x="3564" y="17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630" name="Shape Shape" descr="Shape Shap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" y="-1"/>
              <a:ext cx="1485704" cy="1412169"/>
            </a:xfrm>
            <a:prstGeom prst="rect">
              <a:avLst/>
            </a:prstGeom>
            <a:effectLst/>
          </p:spPr>
        </p:pic>
      </p:grpSp>
      <p:sp>
        <p:nvSpPr>
          <p:cNvPr id="633" name="Test…"/>
          <p:cNvSpPr txBox="1"/>
          <p:nvPr/>
        </p:nvSpPr>
        <p:spPr>
          <a:xfrm>
            <a:off x="17199094" y="5744010"/>
            <a:ext cx="1054711" cy="819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Test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Condition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( elif )</a:t>
            </a:r>
          </a:p>
        </p:txBody>
      </p:sp>
      <p:sp>
        <p:nvSpPr>
          <p:cNvPr id="634" name="True"/>
          <p:cNvSpPr txBox="1"/>
          <p:nvPr/>
        </p:nvSpPr>
        <p:spPr>
          <a:xfrm>
            <a:off x="17891289" y="6714897"/>
            <a:ext cx="535941" cy="337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b="1">
                <a:solidFill>
                  <a:srgbClr val="000000"/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635" name="False"/>
          <p:cNvSpPr txBox="1"/>
          <p:nvPr/>
        </p:nvSpPr>
        <p:spPr>
          <a:xfrm>
            <a:off x="19069944" y="5791555"/>
            <a:ext cx="629616" cy="33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b="1">
                <a:solidFill>
                  <a:srgbClr val="000000"/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636" name="Straight Connector 25"/>
          <p:cNvSpPr/>
          <p:nvPr/>
        </p:nvSpPr>
        <p:spPr>
          <a:xfrm flipH="1">
            <a:off x="18737988" y="6115713"/>
            <a:ext cx="1293527" cy="1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637" name="Straight Connector 25"/>
          <p:cNvSpPr/>
          <p:nvPr/>
        </p:nvSpPr>
        <p:spPr>
          <a:xfrm>
            <a:off x="20026072" y="6102694"/>
            <a:ext cx="1" cy="2719090"/>
          </a:xfrm>
          <a:prstGeom prst="line">
            <a:avLst/>
          </a:prstGeom>
          <a:ln w="25400">
            <a:solidFill>
              <a:srgbClr val="A5300F"/>
            </a:solidFill>
            <a:tailEnd type="stealth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640" name="Block of…"/>
          <p:cNvGrpSpPr/>
          <p:nvPr/>
        </p:nvGrpSpPr>
        <p:grpSpPr>
          <a:xfrm>
            <a:off x="18620851" y="7764028"/>
            <a:ext cx="2508200" cy="654507"/>
            <a:chOff x="0" y="0"/>
            <a:chExt cx="2508199" cy="654505"/>
          </a:xfrm>
        </p:grpSpPr>
        <p:sp>
          <p:nvSpPr>
            <p:cNvPr id="639" name="Block of…"/>
            <p:cNvSpPr txBox="1"/>
            <p:nvPr/>
          </p:nvSpPr>
          <p:spPr>
            <a:xfrm>
              <a:off x="19049" y="19050"/>
              <a:ext cx="2470101" cy="61640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Block of </a:t>
              </a:r>
            </a:p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statements, expression)</a:t>
              </a:r>
            </a:p>
          </p:txBody>
        </p:sp>
        <p:pic>
          <p:nvPicPr>
            <p:cNvPr id="638" name="Block of… Block of statements, expression)" descr="Block of… Block of statements, expression)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2508200" cy="654506"/>
            </a:xfrm>
            <a:prstGeom prst="rect">
              <a:avLst/>
            </a:prstGeom>
            <a:effectLst/>
          </p:spPr>
        </p:pic>
      </p:grpSp>
      <p:pic>
        <p:nvPicPr>
          <p:cNvPr id="641" name="Screen Shot 2022-10-18 at 9.55.01 PM.png" descr="Screen Shot 2022-10-18 at 9.55.01 PM.png"/>
          <p:cNvPicPr>
            <a:picLocks/>
          </p:cNvPicPr>
          <p:nvPr/>
        </p:nvPicPr>
        <p:blipFill>
          <a:blip r:embed="rId7">
            <a:alphaModFix amt="98000"/>
          </a:blip>
          <a:stretch>
            <a:fillRect/>
          </a:stretch>
        </p:blipFill>
        <p:spPr>
          <a:xfrm>
            <a:off x="13255256" y="2722814"/>
            <a:ext cx="9093859" cy="827037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58" name="Group"/>
          <p:cNvGrpSpPr/>
          <p:nvPr/>
        </p:nvGrpSpPr>
        <p:grpSpPr>
          <a:xfrm>
            <a:off x="2413522" y="4068495"/>
            <a:ext cx="4245656" cy="4170636"/>
            <a:chOff x="0" y="0"/>
            <a:chExt cx="4245655" cy="4170634"/>
          </a:xfrm>
        </p:grpSpPr>
        <p:sp>
          <p:nvSpPr>
            <p:cNvPr id="642" name="Rectangle"/>
            <p:cNvSpPr/>
            <p:nvPr/>
          </p:nvSpPr>
          <p:spPr>
            <a:xfrm>
              <a:off x="0" y="0"/>
              <a:ext cx="4245656" cy="417063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939800" dist="127000" rotWithShape="0">
                <a:schemeClr val="accent5">
                  <a:hueOff val="-82419"/>
                  <a:satOff val="-9513"/>
                  <a:lumOff val="-16343"/>
                </a:scheme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643" name="Straight Connector 25"/>
            <p:cNvSpPr/>
            <p:nvPr/>
          </p:nvSpPr>
          <p:spPr>
            <a:xfrm flipH="1">
              <a:off x="1763351" y="2048647"/>
              <a:ext cx="1" cy="1819996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grpSp>
          <p:nvGrpSpPr>
            <p:cNvPr id="646" name="Shape"/>
            <p:cNvGrpSpPr/>
            <p:nvPr/>
          </p:nvGrpSpPr>
          <p:grpSpPr>
            <a:xfrm rot="18900000">
              <a:off x="1047708" y="696703"/>
              <a:ext cx="1485809" cy="1412383"/>
              <a:chOff x="0" y="0"/>
              <a:chExt cx="1485808" cy="1412381"/>
            </a:xfrm>
          </p:grpSpPr>
          <p:sp>
            <p:nvSpPr>
              <p:cNvPr id="645" name="Shape"/>
              <p:cNvSpPr/>
              <p:nvPr/>
            </p:nvSpPr>
            <p:spPr>
              <a:xfrm>
                <a:off x="16482" y="16405"/>
                <a:ext cx="1452147" cy="13793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7431" y="3822"/>
                    </a:lnTo>
                    <a:lnTo>
                      <a:pt x="21600" y="21600"/>
                    </a:lnTo>
                    <a:lnTo>
                      <a:pt x="3564" y="175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644" name="Shape Shape" descr="Shape Shape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" y="0"/>
                <a:ext cx="1485810" cy="1412382"/>
              </a:xfrm>
              <a:prstGeom prst="rect">
                <a:avLst/>
              </a:prstGeom>
              <a:effectLst/>
            </p:spPr>
          </p:pic>
        </p:grpSp>
        <p:sp>
          <p:nvSpPr>
            <p:cNvPr id="647" name="Test…"/>
            <p:cNvSpPr txBox="1"/>
            <p:nvPr/>
          </p:nvSpPr>
          <p:spPr>
            <a:xfrm>
              <a:off x="1223296" y="1023647"/>
              <a:ext cx="1054710" cy="819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Test</a:t>
              </a:r>
            </a:p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Condition</a:t>
              </a:r>
            </a:p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( </a:t>
              </a:r>
              <a:r>
                <a: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rPr>
                <a:t>if </a:t>
              </a:r>
              <a:r>
                <a:t>)</a:t>
              </a:r>
            </a:p>
          </p:txBody>
        </p:sp>
        <p:sp>
          <p:nvSpPr>
            <p:cNvPr id="648" name="Straight Connector 25"/>
            <p:cNvSpPr/>
            <p:nvPr/>
          </p:nvSpPr>
          <p:spPr>
            <a:xfrm flipH="1" flipV="1">
              <a:off x="2731145" y="1369950"/>
              <a:ext cx="1293528" cy="1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649" name="True"/>
            <p:cNvSpPr txBox="1"/>
            <p:nvPr/>
          </p:nvSpPr>
          <p:spPr>
            <a:xfrm>
              <a:off x="1036445" y="2080940"/>
              <a:ext cx="641351" cy="4117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 b="1">
                  <a:solidFill>
                    <a:srgbClr val="000000"/>
                  </a:solidFill>
                </a:defRPr>
              </a:lvl1pPr>
            </a:lstStyle>
            <a:p>
              <a:r>
                <a:t>True</a:t>
              </a:r>
            </a:p>
          </p:txBody>
        </p:sp>
        <p:sp>
          <p:nvSpPr>
            <p:cNvPr id="650" name="Straight Connector 25"/>
            <p:cNvSpPr/>
            <p:nvPr/>
          </p:nvSpPr>
          <p:spPr>
            <a:xfrm>
              <a:off x="1797337" y="232096"/>
              <a:ext cx="1" cy="558396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651" name="Straight Connector 25"/>
            <p:cNvSpPr/>
            <p:nvPr/>
          </p:nvSpPr>
          <p:spPr>
            <a:xfrm flipH="1">
              <a:off x="4013621" y="1356501"/>
              <a:ext cx="1" cy="2172785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652" name="Straight Connector 25"/>
            <p:cNvSpPr/>
            <p:nvPr/>
          </p:nvSpPr>
          <p:spPr>
            <a:xfrm flipH="1">
              <a:off x="1740991" y="3511043"/>
              <a:ext cx="2289101" cy="1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grpSp>
          <p:nvGrpSpPr>
            <p:cNvPr id="657" name="Group"/>
            <p:cNvGrpSpPr/>
            <p:nvPr/>
          </p:nvGrpSpPr>
          <p:grpSpPr>
            <a:xfrm>
              <a:off x="503232" y="2577378"/>
              <a:ext cx="2571039" cy="597357"/>
              <a:chOff x="-19050" y="-19049"/>
              <a:chExt cx="2571037" cy="597355"/>
            </a:xfrm>
          </p:grpSpPr>
          <p:grpSp>
            <p:nvGrpSpPr>
              <p:cNvPr id="655" name="Rectangle"/>
              <p:cNvGrpSpPr/>
              <p:nvPr/>
            </p:nvGrpSpPr>
            <p:grpSpPr>
              <a:xfrm>
                <a:off x="-19051" y="-19050"/>
                <a:ext cx="2571039" cy="596495"/>
                <a:chOff x="0" y="0"/>
                <a:chExt cx="2571037" cy="596494"/>
              </a:xfrm>
            </p:grpSpPr>
            <p:sp>
              <p:nvSpPr>
                <p:cNvPr id="654" name="Rectangle"/>
                <p:cNvSpPr/>
                <p:nvPr/>
              </p:nvSpPr>
              <p:spPr>
                <a:xfrm>
                  <a:off x="19050" y="19049"/>
                  <a:ext cx="2532938" cy="558396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825500"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pic>
              <p:nvPicPr>
                <p:cNvPr id="653" name="Rectangle Rectangle" descr="Rectangle Rectangle"/>
                <p:cNvPicPr>
                  <a:picLocks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2571038" cy="59649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656" name="Block of…"/>
              <p:cNvSpPr txBox="1"/>
              <p:nvPr/>
            </p:nvSpPr>
            <p:spPr>
              <a:xfrm>
                <a:off x="59054" y="-1"/>
                <a:ext cx="2432001" cy="5783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Block of </a:t>
                </a:r>
              </a:p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statements, expression)</a:t>
                </a:r>
              </a:p>
            </p:txBody>
          </p:sp>
        </p:grpSp>
      </p:grpSp>
      <p:sp>
        <p:nvSpPr>
          <p:cNvPr id="659" name="If x &gt; 10:…"/>
          <p:cNvSpPr txBox="1"/>
          <p:nvPr/>
        </p:nvSpPr>
        <p:spPr>
          <a:xfrm>
            <a:off x="7896277" y="9004841"/>
            <a:ext cx="4869981" cy="2381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If x &gt; 10:</a:t>
            </a:r>
          </a:p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     print(“Number is Greater”)</a:t>
            </a:r>
          </a:p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else:</a:t>
            </a:r>
          </a:p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     print(“Number is smaller”)</a:t>
            </a:r>
          </a:p>
        </p:txBody>
      </p:sp>
      <p:sp>
        <p:nvSpPr>
          <p:cNvPr id="660" name="False"/>
          <p:cNvSpPr txBox="1"/>
          <p:nvPr/>
        </p:nvSpPr>
        <p:spPr>
          <a:xfrm>
            <a:off x="5411287" y="4964963"/>
            <a:ext cx="629616" cy="33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b="1">
                <a:solidFill>
                  <a:srgbClr val="000000"/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661" name="x = 10…"/>
          <p:cNvSpPr txBox="1"/>
          <p:nvPr/>
        </p:nvSpPr>
        <p:spPr>
          <a:xfrm>
            <a:off x="-846678" y="8776425"/>
            <a:ext cx="8015745" cy="2382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                                 x = 10</a:t>
            </a:r>
          </a:p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                                 If x &gt; 10:</a:t>
            </a:r>
          </a:p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                                     print(“ Number is Greater”)</a:t>
            </a:r>
          </a:p>
          <a:p>
            <a:pPr>
              <a:lnSpc>
                <a:spcPct val="150000"/>
              </a:lnSpc>
              <a:defRPr sz="2700"/>
            </a:pPr>
            <a:r>
              <a:t> 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2316A072-742C-D48E-8979-0EB7E88EAAF4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" grpId="1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663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664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66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667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668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669" name="2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29</a:t>
            </a:r>
          </a:p>
        </p:txBody>
      </p:sp>
      <p:sp>
        <p:nvSpPr>
          <p:cNvPr id="671" name="If, if-else, elif statements (decision making building blocks in Python)"/>
          <p:cNvSpPr txBox="1"/>
          <p:nvPr/>
        </p:nvSpPr>
        <p:spPr>
          <a:xfrm>
            <a:off x="2192665" y="1413107"/>
            <a:ext cx="1727164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900">
                <a:solidFill>
                  <a:srgbClr val="FFFFFF"/>
                </a:solidFill>
              </a:defRPr>
            </a:pPr>
            <a:r>
              <a:rPr sz="5000" b="1"/>
              <a:t>If, if-else, elif statements</a:t>
            </a:r>
            <a:r>
              <a:t> (decision making building blocks in Python)</a:t>
            </a:r>
          </a:p>
        </p:txBody>
      </p:sp>
      <p:sp>
        <p:nvSpPr>
          <p:cNvPr id="672" name="If Statement"/>
          <p:cNvSpPr txBox="1"/>
          <p:nvPr/>
        </p:nvSpPr>
        <p:spPr>
          <a:xfrm>
            <a:off x="2749206" y="3314369"/>
            <a:ext cx="3447289" cy="783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500" b="1">
                <a:solidFill>
                  <a:srgbClr val="FFFFFF"/>
                </a:solidFill>
              </a:defRPr>
            </a:lvl1pPr>
          </a:lstStyle>
          <a:p>
            <a:pPr>
              <a:defRPr b="0"/>
            </a:pPr>
            <a:r>
              <a:rPr b="1"/>
              <a:t>If Statement</a:t>
            </a:r>
          </a:p>
        </p:txBody>
      </p:sp>
      <p:sp>
        <p:nvSpPr>
          <p:cNvPr id="673" name="If-else Statement"/>
          <p:cNvSpPr txBox="1"/>
          <p:nvPr/>
        </p:nvSpPr>
        <p:spPr>
          <a:xfrm>
            <a:off x="7778004" y="3276269"/>
            <a:ext cx="4790314" cy="783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500" b="1">
                <a:solidFill>
                  <a:srgbClr val="FFFFFF"/>
                </a:solidFill>
              </a:defRPr>
            </a:lvl1pPr>
          </a:lstStyle>
          <a:p>
            <a:pPr>
              <a:defRPr b="0"/>
            </a:pPr>
            <a:r>
              <a:rPr b="1"/>
              <a:t>If-else Statement</a:t>
            </a:r>
          </a:p>
        </p:txBody>
      </p:sp>
      <p:sp>
        <p:nvSpPr>
          <p:cNvPr id="674" name="False"/>
          <p:cNvSpPr txBox="1"/>
          <p:nvPr/>
        </p:nvSpPr>
        <p:spPr>
          <a:xfrm>
            <a:off x="5122964" y="4997250"/>
            <a:ext cx="758445" cy="411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rgbClr val="000000"/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675" name="Rectangle"/>
          <p:cNvSpPr/>
          <p:nvPr/>
        </p:nvSpPr>
        <p:spPr>
          <a:xfrm>
            <a:off x="7621299" y="4030395"/>
            <a:ext cx="5103724" cy="417063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939800" dist="127000" rotWithShape="0">
              <a:schemeClr val="accent5">
                <a:hueOff val="-82419"/>
                <a:satOff val="-9513"/>
                <a:lumOff val="-16343"/>
              </a:schemeClr>
            </a:outerShdw>
          </a:effec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694" name="Group"/>
          <p:cNvGrpSpPr/>
          <p:nvPr/>
        </p:nvGrpSpPr>
        <p:grpSpPr>
          <a:xfrm>
            <a:off x="8039534" y="4129341"/>
            <a:ext cx="4578825" cy="3731842"/>
            <a:chOff x="-19050" y="0"/>
            <a:chExt cx="4578824" cy="3731841"/>
          </a:xfrm>
        </p:grpSpPr>
        <p:grpSp>
          <p:nvGrpSpPr>
            <p:cNvPr id="678" name="Rectangle"/>
            <p:cNvGrpSpPr/>
            <p:nvPr/>
          </p:nvGrpSpPr>
          <p:grpSpPr>
            <a:xfrm>
              <a:off x="-19051" y="2294481"/>
              <a:ext cx="2571039" cy="596495"/>
              <a:chOff x="0" y="0"/>
              <a:chExt cx="2571037" cy="596494"/>
            </a:xfrm>
          </p:grpSpPr>
          <p:sp>
            <p:nvSpPr>
              <p:cNvPr id="677" name="Rectangle"/>
              <p:cNvSpPr/>
              <p:nvPr/>
            </p:nvSpPr>
            <p:spPr>
              <a:xfrm>
                <a:off x="19050" y="19050"/>
                <a:ext cx="2532938" cy="55839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676" name="Rectangle Rectangle" descr="Rectangle Rectangle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2571038" cy="596495"/>
              </a:xfrm>
              <a:prstGeom prst="rect">
                <a:avLst/>
              </a:prstGeom>
              <a:effectLst/>
            </p:spPr>
          </p:pic>
        </p:grpSp>
        <p:grpSp>
          <p:nvGrpSpPr>
            <p:cNvPr id="693" name="Group"/>
            <p:cNvGrpSpPr/>
            <p:nvPr/>
          </p:nvGrpSpPr>
          <p:grpSpPr>
            <a:xfrm>
              <a:off x="59054" y="-1"/>
              <a:ext cx="4500721" cy="3731843"/>
              <a:chOff x="0" y="0"/>
              <a:chExt cx="4500720" cy="3731841"/>
            </a:xfrm>
          </p:grpSpPr>
          <p:sp>
            <p:nvSpPr>
              <p:cNvPr id="679" name="Straight Connector 25"/>
              <p:cNvSpPr/>
              <p:nvPr/>
            </p:nvSpPr>
            <p:spPr>
              <a:xfrm flipH="1">
                <a:off x="1182013" y="1778449"/>
                <a:ext cx="1" cy="558395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grpSp>
            <p:nvGrpSpPr>
              <p:cNvPr id="682" name="Shape"/>
              <p:cNvGrpSpPr/>
              <p:nvPr/>
            </p:nvGrpSpPr>
            <p:grpSpPr>
              <a:xfrm rot="18900000">
                <a:off x="466371" y="464606"/>
                <a:ext cx="1485809" cy="1412383"/>
                <a:chOff x="0" y="0"/>
                <a:chExt cx="1485808" cy="1412381"/>
              </a:xfrm>
            </p:grpSpPr>
            <p:sp>
              <p:nvSpPr>
                <p:cNvPr id="681" name="Shape"/>
                <p:cNvSpPr/>
                <p:nvPr/>
              </p:nvSpPr>
              <p:spPr>
                <a:xfrm>
                  <a:off x="16482" y="16405"/>
                  <a:ext cx="1452147" cy="137937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17431" y="3822"/>
                      </a:lnTo>
                      <a:lnTo>
                        <a:pt x="21600" y="21600"/>
                      </a:lnTo>
                      <a:lnTo>
                        <a:pt x="3564" y="1759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825500"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pic>
              <p:nvPicPr>
                <p:cNvPr id="680" name="Shape Shape" descr="Shape Shape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-1" y="0"/>
                  <a:ext cx="1485810" cy="1412382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683" name="Test…"/>
              <p:cNvSpPr txBox="1"/>
              <p:nvPr/>
            </p:nvSpPr>
            <p:spPr>
              <a:xfrm>
                <a:off x="641958" y="848701"/>
                <a:ext cx="1054711" cy="5783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Test</a:t>
                </a:r>
              </a:p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Condition</a:t>
                </a:r>
              </a:p>
            </p:txBody>
          </p:sp>
          <p:sp>
            <p:nvSpPr>
              <p:cNvPr id="684" name="Straight Connector 25"/>
              <p:cNvSpPr/>
              <p:nvPr/>
            </p:nvSpPr>
            <p:spPr>
              <a:xfrm flipH="1" flipV="1">
                <a:off x="2149808" y="1137854"/>
                <a:ext cx="1293527" cy="1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685" name="Block of…"/>
              <p:cNvSpPr txBox="1"/>
              <p:nvPr/>
            </p:nvSpPr>
            <p:spPr>
              <a:xfrm>
                <a:off x="-1" y="2313531"/>
                <a:ext cx="2432001" cy="5783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Block of </a:t>
                </a:r>
              </a:p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statements, expression)</a:t>
                </a:r>
              </a:p>
            </p:txBody>
          </p:sp>
          <p:sp>
            <p:nvSpPr>
              <p:cNvPr id="686" name="True"/>
              <p:cNvSpPr txBox="1"/>
              <p:nvPr/>
            </p:nvSpPr>
            <p:spPr>
              <a:xfrm>
                <a:off x="634553" y="1830716"/>
                <a:ext cx="535941" cy="3370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600" b="1">
                    <a:solidFill>
                      <a:srgbClr val="000000"/>
                    </a:solidFill>
                  </a:defRPr>
                </a:lvl1pPr>
              </a:lstStyle>
              <a:p>
                <a:r>
                  <a:t>True</a:t>
                </a:r>
              </a:p>
            </p:txBody>
          </p:sp>
          <p:sp>
            <p:nvSpPr>
              <p:cNvPr id="687" name="False"/>
              <p:cNvSpPr txBox="1"/>
              <p:nvPr/>
            </p:nvSpPr>
            <p:spPr>
              <a:xfrm>
                <a:off x="2281418" y="835621"/>
                <a:ext cx="629616" cy="3370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1600" b="1">
                    <a:solidFill>
                      <a:srgbClr val="000000"/>
                    </a:solidFill>
                  </a:defRPr>
                </a:lvl1pPr>
              </a:lstStyle>
              <a:p>
                <a:r>
                  <a:t>False</a:t>
                </a:r>
              </a:p>
            </p:txBody>
          </p:sp>
          <p:sp>
            <p:nvSpPr>
              <p:cNvPr id="688" name="Straight Connector 25"/>
              <p:cNvSpPr/>
              <p:nvPr/>
            </p:nvSpPr>
            <p:spPr>
              <a:xfrm flipH="1">
                <a:off x="1215999" y="0"/>
                <a:ext cx="1" cy="558395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689" name="Straight Connector 25"/>
              <p:cNvSpPr/>
              <p:nvPr/>
            </p:nvSpPr>
            <p:spPr>
              <a:xfrm flipH="1">
                <a:off x="3432283" y="1124404"/>
                <a:ext cx="1" cy="2172785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690" name="Straight Connector 25"/>
              <p:cNvSpPr/>
              <p:nvPr/>
            </p:nvSpPr>
            <p:spPr>
              <a:xfrm flipH="1">
                <a:off x="1169313" y="2873960"/>
                <a:ext cx="1" cy="857882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  <a:tailEnd type="stealth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691" name="Straight Connector 25"/>
              <p:cNvSpPr/>
              <p:nvPr/>
            </p:nvSpPr>
            <p:spPr>
              <a:xfrm flipH="1">
                <a:off x="1159654" y="3278946"/>
                <a:ext cx="2289100" cy="1"/>
              </a:xfrm>
              <a:prstGeom prst="line">
                <a:avLst/>
              </a:prstGeom>
              <a:noFill/>
              <a:ln w="25400" cap="flat">
                <a:solidFill>
                  <a:srgbClr val="A5300F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l" defTabSz="457200">
                  <a:def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692" name="Block of…"/>
              <p:cNvSpPr txBox="1"/>
              <p:nvPr/>
            </p:nvSpPr>
            <p:spPr>
              <a:xfrm>
                <a:off x="2068720" y="1560009"/>
                <a:ext cx="2432001" cy="57830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Block of </a:t>
                </a:r>
              </a:p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statements, expression)</a:t>
                </a:r>
              </a:p>
            </p:txBody>
          </p:sp>
        </p:grpSp>
      </p:grpSp>
      <p:sp>
        <p:nvSpPr>
          <p:cNvPr id="695" name="If-elif Statement"/>
          <p:cNvSpPr txBox="1"/>
          <p:nvPr/>
        </p:nvSpPr>
        <p:spPr>
          <a:xfrm>
            <a:off x="15479883" y="2639119"/>
            <a:ext cx="4493134" cy="783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500" b="1">
                <a:solidFill>
                  <a:srgbClr val="FFFFFF"/>
                </a:solidFill>
              </a:defRPr>
            </a:lvl1pPr>
          </a:lstStyle>
          <a:p>
            <a:pPr>
              <a:defRPr b="0"/>
            </a:pPr>
            <a:r>
              <a:rPr b="1"/>
              <a:t>If-elif Statement</a:t>
            </a:r>
          </a:p>
        </p:txBody>
      </p:sp>
      <p:sp>
        <p:nvSpPr>
          <p:cNvPr id="696" name="Rectangle"/>
          <p:cNvSpPr/>
          <p:nvPr/>
        </p:nvSpPr>
        <p:spPr>
          <a:xfrm>
            <a:off x="13695976" y="3575918"/>
            <a:ext cx="8212418" cy="522005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939800" dist="127000" rotWithShape="0">
              <a:schemeClr val="accent5">
                <a:hueOff val="-82419"/>
                <a:satOff val="-9513"/>
                <a:lumOff val="-16343"/>
              </a:schemeClr>
            </a:outerShdw>
          </a:effec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699" name="Rectangle"/>
          <p:cNvGrpSpPr/>
          <p:nvPr/>
        </p:nvGrpSpPr>
        <p:grpSpPr>
          <a:xfrm>
            <a:off x="14227314" y="5865023"/>
            <a:ext cx="2571039" cy="596495"/>
            <a:chOff x="0" y="0"/>
            <a:chExt cx="2571037" cy="596494"/>
          </a:xfrm>
        </p:grpSpPr>
        <p:sp>
          <p:nvSpPr>
            <p:cNvPr id="698" name="Rectangle"/>
            <p:cNvSpPr/>
            <p:nvPr/>
          </p:nvSpPr>
          <p:spPr>
            <a:xfrm>
              <a:off x="19050" y="19050"/>
              <a:ext cx="2532938" cy="55839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697" name="Rectangle Rectangle" descr="Rectangle Rectangl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571038" cy="596495"/>
            </a:xfrm>
            <a:prstGeom prst="rect">
              <a:avLst/>
            </a:prstGeom>
            <a:effectLst/>
          </p:spPr>
        </p:pic>
      </p:grpSp>
      <p:sp>
        <p:nvSpPr>
          <p:cNvPr id="700" name="Straight Connector 25"/>
          <p:cNvSpPr/>
          <p:nvPr/>
        </p:nvSpPr>
        <p:spPr>
          <a:xfrm>
            <a:off x="15487433" y="5361691"/>
            <a:ext cx="1" cy="558395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703" name="Shape"/>
          <p:cNvGrpSpPr/>
          <p:nvPr/>
        </p:nvGrpSpPr>
        <p:grpSpPr>
          <a:xfrm rot="18900000">
            <a:off x="14771792" y="4136748"/>
            <a:ext cx="1485809" cy="1412383"/>
            <a:chOff x="0" y="0"/>
            <a:chExt cx="1485808" cy="1412381"/>
          </a:xfrm>
        </p:grpSpPr>
        <p:sp>
          <p:nvSpPr>
            <p:cNvPr id="702" name="Shape"/>
            <p:cNvSpPr/>
            <p:nvPr/>
          </p:nvSpPr>
          <p:spPr>
            <a:xfrm>
              <a:off x="16482" y="16405"/>
              <a:ext cx="1452147" cy="1379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7431" y="3822"/>
                  </a:lnTo>
                  <a:lnTo>
                    <a:pt x="21600" y="21600"/>
                  </a:lnTo>
                  <a:lnTo>
                    <a:pt x="3564" y="17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701" name="Shape Shape" descr="Shape Shap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0"/>
              <a:ext cx="1485810" cy="1412382"/>
            </a:xfrm>
            <a:prstGeom prst="rect">
              <a:avLst/>
            </a:prstGeom>
            <a:effectLst/>
          </p:spPr>
        </p:pic>
      </p:grpSp>
      <p:sp>
        <p:nvSpPr>
          <p:cNvPr id="704" name="Test…"/>
          <p:cNvSpPr txBox="1"/>
          <p:nvPr/>
        </p:nvSpPr>
        <p:spPr>
          <a:xfrm>
            <a:off x="14947378" y="4425593"/>
            <a:ext cx="1054710" cy="819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Test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Condition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( if )</a:t>
            </a:r>
          </a:p>
        </p:txBody>
      </p:sp>
      <p:sp>
        <p:nvSpPr>
          <p:cNvPr id="705" name="Straight Connector 25"/>
          <p:cNvSpPr/>
          <p:nvPr/>
        </p:nvSpPr>
        <p:spPr>
          <a:xfrm flipH="1">
            <a:off x="16455228" y="4809995"/>
            <a:ext cx="1293527" cy="1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06" name="Block of…"/>
          <p:cNvSpPr txBox="1"/>
          <p:nvPr/>
        </p:nvSpPr>
        <p:spPr>
          <a:xfrm>
            <a:off x="14305420" y="5845973"/>
            <a:ext cx="2432000" cy="5783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Block of 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statements, expression)</a:t>
            </a:r>
          </a:p>
        </p:txBody>
      </p:sp>
      <p:sp>
        <p:nvSpPr>
          <p:cNvPr id="707" name="True"/>
          <p:cNvSpPr txBox="1"/>
          <p:nvPr/>
        </p:nvSpPr>
        <p:spPr>
          <a:xfrm>
            <a:off x="14939973" y="5502858"/>
            <a:ext cx="535941" cy="33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b="1">
                <a:solidFill>
                  <a:srgbClr val="000000"/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708" name="False"/>
          <p:cNvSpPr txBox="1"/>
          <p:nvPr/>
        </p:nvSpPr>
        <p:spPr>
          <a:xfrm>
            <a:off x="16586838" y="4507763"/>
            <a:ext cx="629616" cy="33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b="1">
                <a:solidFill>
                  <a:srgbClr val="000000"/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709" name="Straight Connector 25"/>
          <p:cNvSpPr/>
          <p:nvPr/>
        </p:nvSpPr>
        <p:spPr>
          <a:xfrm>
            <a:off x="15521420" y="3672141"/>
            <a:ext cx="1" cy="558395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10" name="Straight Connector 25"/>
          <p:cNvSpPr/>
          <p:nvPr/>
        </p:nvSpPr>
        <p:spPr>
          <a:xfrm>
            <a:off x="17737703" y="4796546"/>
            <a:ext cx="1" cy="3546789"/>
          </a:xfrm>
          <a:prstGeom prst="line">
            <a:avLst/>
          </a:prstGeom>
          <a:ln w="25400">
            <a:solidFill>
              <a:srgbClr val="A5300F"/>
            </a:solidFill>
            <a:tailEnd type="stealth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11" name="Straight Connector 25"/>
          <p:cNvSpPr/>
          <p:nvPr/>
        </p:nvSpPr>
        <p:spPr>
          <a:xfrm>
            <a:off x="15474733" y="6444501"/>
            <a:ext cx="1" cy="2172785"/>
          </a:xfrm>
          <a:prstGeom prst="line">
            <a:avLst/>
          </a:prstGeom>
          <a:ln w="25400">
            <a:solidFill>
              <a:srgbClr val="A5300F"/>
            </a:solidFill>
            <a:tailEnd type="stealth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12" name="Straight Connector 25"/>
          <p:cNvSpPr/>
          <p:nvPr/>
        </p:nvSpPr>
        <p:spPr>
          <a:xfrm flipH="1">
            <a:off x="15493428" y="8342829"/>
            <a:ext cx="4539469" cy="1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715" name="Block of…"/>
          <p:cNvGrpSpPr/>
          <p:nvPr/>
        </p:nvGrpSpPr>
        <p:grpSpPr>
          <a:xfrm>
            <a:off x="16483603" y="6557644"/>
            <a:ext cx="2508200" cy="654507"/>
            <a:chOff x="0" y="0"/>
            <a:chExt cx="2508199" cy="654505"/>
          </a:xfrm>
        </p:grpSpPr>
        <p:sp>
          <p:nvSpPr>
            <p:cNvPr id="714" name="Block of…"/>
            <p:cNvSpPr txBox="1"/>
            <p:nvPr/>
          </p:nvSpPr>
          <p:spPr>
            <a:xfrm>
              <a:off x="19049" y="19050"/>
              <a:ext cx="2470101" cy="61640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Block of </a:t>
              </a:r>
            </a:p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statements, expression)</a:t>
              </a:r>
            </a:p>
          </p:txBody>
        </p:sp>
        <p:pic>
          <p:nvPicPr>
            <p:cNvPr id="713" name="Block of… Block of statements, expression)" descr="Block of… Block of statements, expression)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2508200" cy="654506"/>
            </a:xfrm>
            <a:prstGeom prst="rect">
              <a:avLst/>
            </a:prstGeom>
            <a:effectLst/>
          </p:spPr>
        </p:pic>
      </p:grpSp>
      <p:grpSp>
        <p:nvGrpSpPr>
          <p:cNvPr id="718" name="Shape"/>
          <p:cNvGrpSpPr/>
          <p:nvPr/>
        </p:nvGrpSpPr>
        <p:grpSpPr>
          <a:xfrm rot="18900000">
            <a:off x="17020310" y="4980021"/>
            <a:ext cx="1485704" cy="1412168"/>
            <a:chOff x="0" y="0"/>
            <a:chExt cx="1485703" cy="1412167"/>
          </a:xfrm>
        </p:grpSpPr>
        <p:sp>
          <p:nvSpPr>
            <p:cNvPr id="717" name="Shape"/>
            <p:cNvSpPr/>
            <p:nvPr/>
          </p:nvSpPr>
          <p:spPr>
            <a:xfrm>
              <a:off x="16439" y="16204"/>
              <a:ext cx="1452147" cy="1379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7439" y="3638"/>
                  </a:lnTo>
                  <a:lnTo>
                    <a:pt x="21600" y="21600"/>
                  </a:lnTo>
                  <a:lnTo>
                    <a:pt x="3564" y="17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716" name="Shape Shape" descr="Shape Shap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" y="-1"/>
              <a:ext cx="1485704" cy="1412169"/>
            </a:xfrm>
            <a:prstGeom prst="rect">
              <a:avLst/>
            </a:prstGeom>
            <a:effectLst/>
          </p:spPr>
        </p:pic>
      </p:grpSp>
      <p:sp>
        <p:nvSpPr>
          <p:cNvPr id="719" name="Test…"/>
          <p:cNvSpPr txBox="1"/>
          <p:nvPr/>
        </p:nvSpPr>
        <p:spPr>
          <a:xfrm>
            <a:off x="17199094" y="5286810"/>
            <a:ext cx="1054711" cy="819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Test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Condition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( elif )</a:t>
            </a:r>
          </a:p>
        </p:txBody>
      </p:sp>
      <p:sp>
        <p:nvSpPr>
          <p:cNvPr id="720" name="True"/>
          <p:cNvSpPr txBox="1"/>
          <p:nvPr/>
        </p:nvSpPr>
        <p:spPr>
          <a:xfrm>
            <a:off x="17878589" y="6244997"/>
            <a:ext cx="535941" cy="337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b="1">
                <a:solidFill>
                  <a:srgbClr val="000000"/>
                </a:solidFill>
              </a:defRPr>
            </a:lvl1pPr>
          </a:lstStyle>
          <a:p>
            <a:r>
              <a:t>True</a:t>
            </a:r>
          </a:p>
        </p:txBody>
      </p:sp>
      <p:sp>
        <p:nvSpPr>
          <p:cNvPr id="721" name="False"/>
          <p:cNvSpPr txBox="1"/>
          <p:nvPr/>
        </p:nvSpPr>
        <p:spPr>
          <a:xfrm>
            <a:off x="19069944" y="5334355"/>
            <a:ext cx="629616" cy="33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b="1">
                <a:solidFill>
                  <a:srgbClr val="000000"/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722" name="Straight Connector 25"/>
          <p:cNvSpPr/>
          <p:nvPr/>
        </p:nvSpPr>
        <p:spPr>
          <a:xfrm flipH="1">
            <a:off x="18737988" y="5658513"/>
            <a:ext cx="1293527" cy="1"/>
          </a:xfrm>
          <a:prstGeom prst="line">
            <a:avLst/>
          </a:prstGeom>
          <a:ln w="25400">
            <a:solidFill>
              <a:srgbClr val="A5300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23" name="Straight Connector 25"/>
          <p:cNvSpPr/>
          <p:nvPr/>
        </p:nvSpPr>
        <p:spPr>
          <a:xfrm>
            <a:off x="20026072" y="5645494"/>
            <a:ext cx="1" cy="2719090"/>
          </a:xfrm>
          <a:prstGeom prst="line">
            <a:avLst/>
          </a:prstGeom>
          <a:ln w="25400">
            <a:solidFill>
              <a:srgbClr val="A5300F"/>
            </a:solidFill>
            <a:tailEnd type="stealth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algn="l" defTabSz="457200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726" name="Block of…"/>
          <p:cNvGrpSpPr/>
          <p:nvPr/>
        </p:nvGrpSpPr>
        <p:grpSpPr>
          <a:xfrm>
            <a:off x="18620851" y="7306828"/>
            <a:ext cx="2508200" cy="654507"/>
            <a:chOff x="0" y="0"/>
            <a:chExt cx="2508199" cy="654505"/>
          </a:xfrm>
        </p:grpSpPr>
        <p:sp>
          <p:nvSpPr>
            <p:cNvPr id="725" name="Block of…"/>
            <p:cNvSpPr txBox="1"/>
            <p:nvPr/>
          </p:nvSpPr>
          <p:spPr>
            <a:xfrm>
              <a:off x="19049" y="19050"/>
              <a:ext cx="2470101" cy="61640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Block of </a:t>
              </a:r>
            </a:p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statements, expression)</a:t>
              </a:r>
            </a:p>
          </p:txBody>
        </p:sp>
        <p:pic>
          <p:nvPicPr>
            <p:cNvPr id="724" name="Block of… Block of statements, expression)" descr="Block of… Block of statements, expression)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2508200" cy="654506"/>
            </a:xfrm>
            <a:prstGeom prst="rect">
              <a:avLst/>
            </a:prstGeom>
            <a:effectLst/>
          </p:spPr>
        </p:pic>
      </p:grpSp>
      <p:grpSp>
        <p:nvGrpSpPr>
          <p:cNvPr id="743" name="Group"/>
          <p:cNvGrpSpPr/>
          <p:nvPr/>
        </p:nvGrpSpPr>
        <p:grpSpPr>
          <a:xfrm>
            <a:off x="2413522" y="4068495"/>
            <a:ext cx="4245656" cy="4170636"/>
            <a:chOff x="0" y="0"/>
            <a:chExt cx="4245655" cy="4170634"/>
          </a:xfrm>
        </p:grpSpPr>
        <p:sp>
          <p:nvSpPr>
            <p:cNvPr id="727" name="Rectangle"/>
            <p:cNvSpPr/>
            <p:nvPr/>
          </p:nvSpPr>
          <p:spPr>
            <a:xfrm>
              <a:off x="0" y="0"/>
              <a:ext cx="4245656" cy="417063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939800" dist="127000" rotWithShape="0">
                <a:schemeClr val="accent5">
                  <a:hueOff val="-82419"/>
                  <a:satOff val="-9513"/>
                  <a:lumOff val="-16343"/>
                </a:scheme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728" name="Straight Connector 25"/>
            <p:cNvSpPr/>
            <p:nvPr/>
          </p:nvSpPr>
          <p:spPr>
            <a:xfrm flipH="1">
              <a:off x="1763351" y="2048647"/>
              <a:ext cx="1" cy="1819996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grpSp>
          <p:nvGrpSpPr>
            <p:cNvPr id="731" name="Shape"/>
            <p:cNvGrpSpPr/>
            <p:nvPr/>
          </p:nvGrpSpPr>
          <p:grpSpPr>
            <a:xfrm rot="18900000">
              <a:off x="1047708" y="696703"/>
              <a:ext cx="1485809" cy="1412383"/>
              <a:chOff x="0" y="0"/>
              <a:chExt cx="1485808" cy="1412381"/>
            </a:xfrm>
          </p:grpSpPr>
          <p:sp>
            <p:nvSpPr>
              <p:cNvPr id="730" name="Shape"/>
              <p:cNvSpPr/>
              <p:nvPr/>
            </p:nvSpPr>
            <p:spPr>
              <a:xfrm>
                <a:off x="16482" y="16405"/>
                <a:ext cx="1452147" cy="13793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7431" y="3822"/>
                    </a:lnTo>
                    <a:lnTo>
                      <a:pt x="21600" y="21600"/>
                    </a:lnTo>
                    <a:lnTo>
                      <a:pt x="3564" y="175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729" name="Shape Shape" descr="Shape Shape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" y="0"/>
                <a:ext cx="1485810" cy="1412382"/>
              </a:xfrm>
              <a:prstGeom prst="rect">
                <a:avLst/>
              </a:prstGeom>
              <a:effectLst/>
            </p:spPr>
          </p:pic>
        </p:grpSp>
        <p:sp>
          <p:nvSpPr>
            <p:cNvPr id="732" name="Test…"/>
            <p:cNvSpPr txBox="1"/>
            <p:nvPr/>
          </p:nvSpPr>
          <p:spPr>
            <a:xfrm>
              <a:off x="1223296" y="1023647"/>
              <a:ext cx="1054710" cy="8196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Test</a:t>
              </a:r>
            </a:p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Condition</a:t>
              </a:r>
            </a:p>
            <a:p>
              <a:pPr>
                <a:defRPr sz="1600" b="1">
                  <a:solidFill>
                    <a:srgbClr val="FFFFFF"/>
                  </a:solidFill>
                </a:defRPr>
              </a:pPr>
              <a:r>
                <a:t>( </a:t>
              </a:r>
              <a:r>
                <a: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rPr>
                <a:t>if </a:t>
              </a:r>
              <a:r>
                <a:t>)</a:t>
              </a:r>
            </a:p>
          </p:txBody>
        </p:sp>
        <p:sp>
          <p:nvSpPr>
            <p:cNvPr id="733" name="Straight Connector 25"/>
            <p:cNvSpPr/>
            <p:nvPr/>
          </p:nvSpPr>
          <p:spPr>
            <a:xfrm flipH="1" flipV="1">
              <a:off x="2731145" y="1369950"/>
              <a:ext cx="1293528" cy="1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34" name="True"/>
            <p:cNvSpPr txBox="1"/>
            <p:nvPr/>
          </p:nvSpPr>
          <p:spPr>
            <a:xfrm>
              <a:off x="1036445" y="2080940"/>
              <a:ext cx="641351" cy="4117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 b="1">
                  <a:solidFill>
                    <a:srgbClr val="000000"/>
                  </a:solidFill>
                </a:defRPr>
              </a:lvl1pPr>
            </a:lstStyle>
            <a:p>
              <a:r>
                <a:t>True</a:t>
              </a:r>
            </a:p>
          </p:txBody>
        </p:sp>
        <p:sp>
          <p:nvSpPr>
            <p:cNvPr id="735" name="Straight Connector 25"/>
            <p:cNvSpPr/>
            <p:nvPr/>
          </p:nvSpPr>
          <p:spPr>
            <a:xfrm>
              <a:off x="1797337" y="232096"/>
              <a:ext cx="1" cy="558396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36" name="Straight Connector 25"/>
            <p:cNvSpPr/>
            <p:nvPr/>
          </p:nvSpPr>
          <p:spPr>
            <a:xfrm flipH="1">
              <a:off x="4013621" y="1356501"/>
              <a:ext cx="1" cy="2172785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737" name="Straight Connector 25"/>
            <p:cNvSpPr/>
            <p:nvPr/>
          </p:nvSpPr>
          <p:spPr>
            <a:xfrm flipH="1">
              <a:off x="1740991" y="3511043"/>
              <a:ext cx="2289101" cy="1"/>
            </a:xfrm>
            <a:prstGeom prst="line">
              <a:avLst/>
            </a:prstGeom>
            <a:noFill/>
            <a:ln w="25400" cap="flat">
              <a:solidFill>
                <a:srgbClr val="A5300F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l" defTabSz="457200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grpSp>
          <p:nvGrpSpPr>
            <p:cNvPr id="742" name="Group"/>
            <p:cNvGrpSpPr/>
            <p:nvPr/>
          </p:nvGrpSpPr>
          <p:grpSpPr>
            <a:xfrm>
              <a:off x="503232" y="2577378"/>
              <a:ext cx="2571039" cy="597357"/>
              <a:chOff x="-19050" y="-19049"/>
              <a:chExt cx="2571037" cy="597355"/>
            </a:xfrm>
          </p:grpSpPr>
          <p:grpSp>
            <p:nvGrpSpPr>
              <p:cNvPr id="740" name="Rectangle"/>
              <p:cNvGrpSpPr/>
              <p:nvPr/>
            </p:nvGrpSpPr>
            <p:grpSpPr>
              <a:xfrm>
                <a:off x="-19051" y="-19050"/>
                <a:ext cx="2571039" cy="596495"/>
                <a:chOff x="0" y="0"/>
                <a:chExt cx="2571037" cy="596494"/>
              </a:xfrm>
            </p:grpSpPr>
            <p:sp>
              <p:nvSpPr>
                <p:cNvPr id="739" name="Rectangle"/>
                <p:cNvSpPr/>
                <p:nvPr/>
              </p:nvSpPr>
              <p:spPr>
                <a:xfrm>
                  <a:off x="19050" y="19049"/>
                  <a:ext cx="2532938" cy="558396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defTabSz="825500">
                    <a:defRPr sz="3200">
                      <a:solidFill>
                        <a:srgbClr val="FFFFFF"/>
                      </a:solidFill>
                      <a:latin typeface="Helvetica Neue Medium"/>
                      <a:ea typeface="Helvetica Neue Medium"/>
                      <a:cs typeface="Helvetica Neue Medium"/>
                      <a:sym typeface="Helvetica Neue Medium"/>
                    </a:defRPr>
                  </a:pPr>
                  <a:endParaRPr/>
                </a:p>
              </p:txBody>
            </p:sp>
            <p:pic>
              <p:nvPicPr>
                <p:cNvPr id="738" name="Rectangle Rectangle" descr="Rectangle Rectangle"/>
                <p:cNvPicPr>
                  <a:picLocks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2571038" cy="59649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41" name="Block of…"/>
              <p:cNvSpPr txBox="1"/>
              <p:nvPr/>
            </p:nvSpPr>
            <p:spPr>
              <a:xfrm>
                <a:off x="59054" y="-1"/>
                <a:ext cx="2432001" cy="5783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Block of </a:t>
                </a:r>
              </a:p>
              <a:p>
                <a:pPr>
                  <a:defRPr sz="1600" b="1">
                    <a:solidFill>
                      <a:srgbClr val="FFFFFF"/>
                    </a:solidFill>
                  </a:defRPr>
                </a:pPr>
                <a:r>
                  <a:t>statements, expression)</a:t>
                </a:r>
              </a:p>
            </p:txBody>
          </p:sp>
        </p:grpSp>
      </p:grpSp>
      <p:sp>
        <p:nvSpPr>
          <p:cNvPr id="744" name="If x &gt; 10:…"/>
          <p:cNvSpPr txBox="1"/>
          <p:nvPr/>
        </p:nvSpPr>
        <p:spPr>
          <a:xfrm>
            <a:off x="7896277" y="9004841"/>
            <a:ext cx="4869981" cy="23817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If x &gt; 10:</a:t>
            </a:r>
          </a:p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     print(“Number is Greater”)</a:t>
            </a:r>
          </a:p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else:</a:t>
            </a:r>
          </a:p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     print(“Number is smaller”)</a:t>
            </a:r>
          </a:p>
        </p:txBody>
      </p:sp>
      <p:sp>
        <p:nvSpPr>
          <p:cNvPr id="745" name="False"/>
          <p:cNvSpPr txBox="1"/>
          <p:nvPr/>
        </p:nvSpPr>
        <p:spPr>
          <a:xfrm>
            <a:off x="5411287" y="4964963"/>
            <a:ext cx="629616" cy="33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" b="1">
                <a:solidFill>
                  <a:srgbClr val="000000"/>
                </a:solidFill>
              </a:defRPr>
            </a:lvl1pPr>
          </a:lstStyle>
          <a:p>
            <a:r>
              <a:t>False</a:t>
            </a:r>
          </a:p>
        </p:txBody>
      </p:sp>
      <p:sp>
        <p:nvSpPr>
          <p:cNvPr id="746" name="If x &gt; 10:…"/>
          <p:cNvSpPr txBox="1"/>
          <p:nvPr/>
        </p:nvSpPr>
        <p:spPr>
          <a:xfrm>
            <a:off x="14756457" y="9205316"/>
            <a:ext cx="4869981" cy="3015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20000"/>
              </a:lnSpc>
              <a:defRPr sz="2700" b="1">
                <a:solidFill>
                  <a:srgbClr val="FFFFFF"/>
                </a:solidFill>
              </a:defRPr>
            </a:pPr>
            <a:r>
              <a:t>If x &gt; 10:</a:t>
            </a:r>
          </a:p>
          <a:p>
            <a:pPr algn="l">
              <a:lnSpc>
                <a:spcPct val="120000"/>
              </a:lnSpc>
              <a:defRPr sz="2700" b="1">
                <a:solidFill>
                  <a:srgbClr val="FFFFFF"/>
                </a:solidFill>
              </a:defRPr>
            </a:pPr>
            <a:r>
              <a:t>     print(“Number is Greater”)</a:t>
            </a:r>
          </a:p>
          <a:p>
            <a:pPr algn="l">
              <a:lnSpc>
                <a:spcPct val="120000"/>
              </a:lnSpc>
              <a:defRPr sz="2700" b="1">
                <a:solidFill>
                  <a:srgbClr val="FFFFFF"/>
                </a:solidFill>
              </a:defRPr>
            </a:pPr>
            <a:r>
              <a:t>elif x == 10:</a:t>
            </a:r>
          </a:p>
          <a:p>
            <a:pPr algn="l">
              <a:lnSpc>
                <a:spcPct val="120000"/>
              </a:lnSpc>
              <a:defRPr sz="2700" b="1">
                <a:solidFill>
                  <a:srgbClr val="FFFFFF"/>
                </a:solidFill>
              </a:defRPr>
            </a:pPr>
            <a:r>
              <a:t>     print(“Number is smaller”)</a:t>
            </a:r>
          </a:p>
          <a:p>
            <a:pPr algn="l">
              <a:lnSpc>
                <a:spcPct val="120000"/>
              </a:lnSpc>
              <a:defRPr sz="2700" b="1">
                <a:solidFill>
                  <a:srgbClr val="FFFFFF"/>
                </a:solidFill>
              </a:defRPr>
            </a:pPr>
            <a:r>
              <a:t>else:</a:t>
            </a:r>
          </a:p>
          <a:p>
            <a:pPr algn="l">
              <a:lnSpc>
                <a:spcPct val="120000"/>
              </a:lnSpc>
              <a:defRPr sz="2700" b="1">
                <a:solidFill>
                  <a:srgbClr val="FFFFFF"/>
                </a:solidFill>
              </a:defRPr>
            </a:pPr>
            <a:r>
              <a:t>     print(“Number is smaller”)</a:t>
            </a:r>
          </a:p>
        </p:txBody>
      </p:sp>
      <p:sp>
        <p:nvSpPr>
          <p:cNvPr id="747" name="x = 10…"/>
          <p:cNvSpPr txBox="1"/>
          <p:nvPr/>
        </p:nvSpPr>
        <p:spPr>
          <a:xfrm>
            <a:off x="-846678" y="8776425"/>
            <a:ext cx="8015745" cy="2382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                                 x = 10</a:t>
            </a:r>
          </a:p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                                 If x &gt; 10:</a:t>
            </a:r>
          </a:p>
          <a:p>
            <a:pPr algn="l">
              <a:lnSpc>
                <a:spcPct val="150000"/>
              </a:lnSpc>
              <a:defRPr sz="2700" b="1">
                <a:solidFill>
                  <a:srgbClr val="FFFFFF"/>
                </a:solidFill>
              </a:defRPr>
            </a:pPr>
            <a:r>
              <a:t>                                     print(“ Number is Greater”)</a:t>
            </a:r>
          </a:p>
          <a:p>
            <a:pPr>
              <a:lnSpc>
                <a:spcPct val="150000"/>
              </a:lnSpc>
              <a:defRPr sz="2700"/>
            </a:pPr>
            <a:r>
              <a:t> 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A283F544-5633-F8A9-F220-3D4B39ECC078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" grpId="1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522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523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525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526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527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528" name="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9</a:t>
            </a:r>
          </a:p>
        </p:txBody>
      </p:sp>
      <p:sp>
        <p:nvSpPr>
          <p:cNvPr id="530" name="If, if-else, elif statements (decision making building blocks in Python)"/>
          <p:cNvSpPr txBox="1"/>
          <p:nvPr/>
        </p:nvSpPr>
        <p:spPr>
          <a:xfrm>
            <a:off x="2192665" y="1413107"/>
            <a:ext cx="1727164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900">
                <a:solidFill>
                  <a:srgbClr val="FFFFFF"/>
                </a:solidFill>
              </a:defRPr>
            </a:pPr>
            <a:r>
              <a:rPr sz="5000" b="1"/>
              <a:t>If, if-else, elif statements</a:t>
            </a:r>
            <a:r>
              <a:t> (decision making building blocks in Python)</a:t>
            </a:r>
          </a:p>
        </p:txBody>
      </p:sp>
      <p:sp>
        <p:nvSpPr>
          <p:cNvPr id="531" name="Hands-On"/>
          <p:cNvSpPr txBox="1"/>
          <p:nvPr/>
        </p:nvSpPr>
        <p:spPr>
          <a:xfrm>
            <a:off x="3806377" y="2593444"/>
            <a:ext cx="2447190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 b="1">
                <a:solidFill>
                  <a:srgbClr val="FFFFFF"/>
                </a:solidFill>
              </a:defRPr>
            </a:lvl1pPr>
          </a:lstStyle>
          <a:p>
            <a:r>
              <a:t>Hands-On</a:t>
            </a:r>
          </a:p>
        </p:txBody>
      </p:sp>
      <p:pic>
        <p:nvPicPr>
          <p:cNvPr id="532" name="Try to define a variable… Try to define a variable with a number and with a string and apply, if, elif, else statements" descr="Try to define a variable… Try to define a variable with a number and with a string and apply, if, elif, else statements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427456" y="3587701"/>
            <a:ext cx="5170298" cy="3416555"/>
          </a:xfrm>
          <a:prstGeom prst="rect">
            <a:avLst/>
          </a:prstGeom>
          <a:effectLst>
            <a:outerShdw blurRad="381000" dist="119618" rotWithShape="0">
              <a:srgbClr val="000000">
                <a:alpha val="75000"/>
              </a:srgbClr>
            </a:outerShdw>
          </a:effectLst>
        </p:spPr>
      </p:pic>
      <p:pic>
        <p:nvPicPr>
          <p:cNvPr id="533" name="Hint -… Hint -x = 100;  (use if, elif, else)Name = ‘Krakow’  ( use if-else)" descr="Hint -… Hint -x = 100;  (use if, elif, else)Name = ‘Krakow’  ( use if-else)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191998" y="7896209"/>
            <a:ext cx="5675948" cy="2567077"/>
          </a:xfrm>
          <a:prstGeom prst="rect">
            <a:avLst/>
          </a:prstGeom>
          <a:effectLst>
            <a:outerShdw blurRad="381000" dist="119618" rotWithShape="0">
              <a:srgbClr val="000000">
                <a:alpha val="75000"/>
              </a:srgbClr>
            </a:outerShdw>
          </a:effectLst>
        </p:spPr>
      </p:pic>
      <p:sp>
        <p:nvSpPr>
          <p:cNvPr id="2" name="28/10/2022">
            <a:extLst>
              <a:ext uri="{FF2B5EF4-FFF2-40B4-BE49-F238E27FC236}">
                <a16:creationId xmlns:a16="http://schemas.microsoft.com/office/drawing/2014/main" id="{6267C95A-D3A4-6704-92D9-B995B8F5A501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535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536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538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539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540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541" name="10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10</a:t>
            </a:r>
          </a:p>
        </p:txBody>
      </p:sp>
      <p:sp>
        <p:nvSpPr>
          <p:cNvPr id="543" name="If, if-else, elif statements (decision making building blocks in Python)"/>
          <p:cNvSpPr txBox="1"/>
          <p:nvPr/>
        </p:nvSpPr>
        <p:spPr>
          <a:xfrm>
            <a:off x="2192665" y="1413107"/>
            <a:ext cx="1727164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900">
                <a:solidFill>
                  <a:srgbClr val="FFFFFF"/>
                </a:solidFill>
              </a:defRPr>
            </a:pPr>
            <a:r>
              <a:rPr sz="5000" b="1"/>
              <a:t>If, if-else, elif statements</a:t>
            </a:r>
            <a:r>
              <a:t> (decision making building blocks in Python)</a:t>
            </a:r>
          </a:p>
        </p:txBody>
      </p:sp>
      <p:sp>
        <p:nvSpPr>
          <p:cNvPr id="544" name="Hands-On"/>
          <p:cNvSpPr txBox="1"/>
          <p:nvPr/>
        </p:nvSpPr>
        <p:spPr>
          <a:xfrm>
            <a:off x="3806377" y="2593444"/>
            <a:ext cx="2447190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 b="1">
                <a:solidFill>
                  <a:srgbClr val="FFFFFF"/>
                </a:solidFill>
              </a:defRPr>
            </a:lvl1pPr>
          </a:lstStyle>
          <a:p>
            <a:r>
              <a:t>Hands-On</a:t>
            </a:r>
          </a:p>
        </p:txBody>
      </p:sp>
      <p:pic>
        <p:nvPicPr>
          <p:cNvPr id="545" name="Try to define a variable… Try to define a variable with a number and with a string and apply, if, elif, else statements" descr="Try to define a variable… Try to define a variable with a number and with a string and apply, if, elif, else statements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427456" y="3587701"/>
            <a:ext cx="5170298" cy="3416555"/>
          </a:xfrm>
          <a:prstGeom prst="rect">
            <a:avLst/>
          </a:prstGeom>
          <a:effectLst>
            <a:outerShdw blurRad="381000" dist="119618" rotWithShape="0">
              <a:srgbClr val="000000">
                <a:alpha val="75000"/>
              </a:srgbClr>
            </a:outerShdw>
          </a:effectLst>
        </p:spPr>
      </p:pic>
      <p:pic>
        <p:nvPicPr>
          <p:cNvPr id="546" name="Hint -… Hint -x = 100;  (use if, elif, else)Name = ‘Krakow’  ( use if-else)" descr="Hint -… Hint -x = 100;  (use if, elif, else)Name = ‘Krakow’  ( use if-else)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191998" y="7896209"/>
            <a:ext cx="5675948" cy="2567077"/>
          </a:xfrm>
          <a:prstGeom prst="rect">
            <a:avLst/>
          </a:prstGeom>
          <a:effectLst>
            <a:outerShdw blurRad="381000" dist="119618" rotWithShape="0">
              <a:srgbClr val="000000">
                <a:alpha val="75000"/>
              </a:srgbClr>
            </a:outerShdw>
          </a:effectLst>
        </p:spPr>
      </p:pic>
      <p:pic>
        <p:nvPicPr>
          <p:cNvPr id="547" name="Using if-else statement with lists Using if-else statement with lists" descr="Using if-else statement with lists Using if-else statement with lists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2479964" y="3216688"/>
            <a:ext cx="6537656" cy="775311"/>
          </a:xfrm>
          <a:prstGeom prst="rect">
            <a:avLst/>
          </a:prstGeom>
          <a:effectLst>
            <a:outerShdw blurRad="381000" dist="119618" rotWithShape="0">
              <a:srgbClr val="000000">
                <a:alpha val="75000"/>
              </a:srgbClr>
            </a:outerShdw>
          </a:effectLst>
        </p:spPr>
      </p:pic>
      <p:pic>
        <p:nvPicPr>
          <p:cNvPr id="548" name="Days = [‘Monday’, ‘Tuesday’, ‘Wednesday’]… Days = [‘Monday’, ‘Tuesday’, ‘Wednesday’]     If ‘Tuesday’ in Days:     print(‘yes’)else:      print(‘no’)" descr="Days = [‘Monday’, ‘Tuesday’, ‘Wednesday’]… Days = [‘Monday’, ‘Tuesday’, ‘Wednesday’]     If ‘Tuesday’ in Days:     print(‘yes’)else:      print(‘no’)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2168230" y="4552115"/>
            <a:ext cx="7138468" cy="4155644"/>
          </a:xfrm>
          <a:prstGeom prst="rect">
            <a:avLst/>
          </a:prstGeom>
          <a:effectLst>
            <a:outerShdw blurRad="381000" dist="119618" rotWithShape="0">
              <a:srgbClr val="000000">
                <a:alpha val="75000"/>
              </a:srgbClr>
            </a:outerShdw>
          </a:effectLst>
        </p:spPr>
      </p:pic>
      <p:pic>
        <p:nvPicPr>
          <p:cNvPr id="549" name="Modify list:… Modify list:Hint: Use append(item), insert(index,item )" descr="Modify list:… Modify list:Hint: Use append(item), insert(index,item )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1351463" y="9267876"/>
            <a:ext cx="9162543" cy="1358707"/>
          </a:xfrm>
          <a:prstGeom prst="rect">
            <a:avLst/>
          </a:prstGeom>
          <a:effectLst>
            <a:outerShdw blurRad="381000" dist="119618" rotWithShape="0">
              <a:srgbClr val="000000">
                <a:alpha val="75000"/>
              </a:srgbClr>
            </a:outerShdw>
          </a:effectLst>
        </p:spPr>
      </p:pic>
      <p:sp>
        <p:nvSpPr>
          <p:cNvPr id="2" name="28/10/2022">
            <a:extLst>
              <a:ext uri="{FF2B5EF4-FFF2-40B4-BE49-F238E27FC236}">
                <a16:creationId xmlns:a16="http://schemas.microsoft.com/office/drawing/2014/main" id="{A3FDCEAC-34F9-2CC0-3791-23F4CC3C2CB9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" grpId="0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551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552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554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555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556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557" name="11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11</a:t>
            </a:r>
          </a:p>
        </p:txBody>
      </p:sp>
      <p:sp>
        <p:nvSpPr>
          <p:cNvPr id="559" name="If, if-else, elif statements (decision making building blocks in Python)"/>
          <p:cNvSpPr txBox="1"/>
          <p:nvPr/>
        </p:nvSpPr>
        <p:spPr>
          <a:xfrm>
            <a:off x="2192665" y="1413107"/>
            <a:ext cx="1727164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900">
                <a:solidFill>
                  <a:srgbClr val="FFFFFF"/>
                </a:solidFill>
              </a:defRPr>
            </a:pPr>
            <a:r>
              <a:rPr sz="5000" b="1"/>
              <a:t>If, if-else, elif statements</a:t>
            </a:r>
            <a:r>
              <a:t> (decision making building blocks in Python)</a:t>
            </a:r>
          </a:p>
        </p:txBody>
      </p:sp>
      <p:sp>
        <p:nvSpPr>
          <p:cNvPr id="560" name="Hands-On"/>
          <p:cNvSpPr txBox="1"/>
          <p:nvPr/>
        </p:nvSpPr>
        <p:spPr>
          <a:xfrm>
            <a:off x="3806377" y="2593444"/>
            <a:ext cx="2447190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 b="1">
                <a:solidFill>
                  <a:srgbClr val="FFFFFF"/>
                </a:solidFill>
              </a:defRPr>
            </a:lvl1pPr>
          </a:lstStyle>
          <a:p>
            <a:r>
              <a:t>Hands-On</a:t>
            </a:r>
          </a:p>
        </p:txBody>
      </p:sp>
      <p:sp>
        <p:nvSpPr>
          <p:cNvPr id="561" name="Multiple conditional statement using elif :"/>
          <p:cNvSpPr txBox="1"/>
          <p:nvPr/>
        </p:nvSpPr>
        <p:spPr>
          <a:xfrm>
            <a:off x="2065626" y="3367012"/>
            <a:ext cx="8578013" cy="609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 b="1">
                <a:solidFill>
                  <a:srgbClr val="FFFFFF"/>
                </a:solidFill>
              </a:defRPr>
            </a:lvl1pPr>
          </a:lstStyle>
          <a:p>
            <a:r>
              <a:t>Multiple conditional statement using elif :</a:t>
            </a:r>
          </a:p>
        </p:txBody>
      </p:sp>
      <p:pic>
        <p:nvPicPr>
          <p:cNvPr id="562" name="if today == 'Monday':… if today == 'Monday':    print(&quot;Office day&quot;)elif today == 'Tuesday':    print(&quot;Work from home day&quot;)elif today == 'Wednesday':    print(&quot;Find excuse for not going to office&quot;)elif today == 'Thursday':    print(&quot;Work from home day&quot;)el" descr="if today == 'Monday':… if today == 'Monday':    print(&quot;Office day&quot;)elif today == 'Tuesday':    print(&quot;Work from home day&quot;)elif today == 'Wednesday':    print(&quot;Find excuse for not going to office&quot;)elif today == 'Thursday':    print(&quot;Work from home day&quot;)elif today == 'Friday':    print(&quot;Half day office&quot;)else:    print(&quot;Weekend, official-OFF day”)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386961" y="4065853"/>
            <a:ext cx="7829424" cy="8104634"/>
          </a:xfrm>
          <a:prstGeom prst="rect">
            <a:avLst/>
          </a:prstGeom>
          <a:effectLst>
            <a:outerShdw blurRad="381000" dist="119618" rotWithShape="0">
              <a:srgbClr val="000000">
                <a:alpha val="75000"/>
              </a:srgbClr>
            </a:outerShdw>
          </a:effectLst>
        </p:spPr>
      </p:pic>
      <p:sp>
        <p:nvSpPr>
          <p:cNvPr id="563" name="Single line conditional statement"/>
          <p:cNvSpPr txBox="1"/>
          <p:nvPr/>
        </p:nvSpPr>
        <p:spPr>
          <a:xfrm>
            <a:off x="12769825" y="2955676"/>
            <a:ext cx="7429234" cy="659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rgbClr val="FFFFFF"/>
                </a:solidFill>
              </a:defRPr>
            </a:lvl1pPr>
          </a:lstStyle>
          <a:p>
            <a:r>
              <a:t>Single line conditional statement</a:t>
            </a:r>
          </a:p>
        </p:txBody>
      </p:sp>
      <p:pic>
        <p:nvPicPr>
          <p:cNvPr id="564" name="Day = ‘Friday'… Day = ‘Friday'if Day == 'Monday': print(&quot;Yes, today is Friday”)" descr="Day = ‘Friday'… Day = ‘Friday'if Day == 'Monday': print(&quot;Yes, today is Friday”)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1576798" y="3615553"/>
            <a:ext cx="10185495" cy="2567077"/>
          </a:xfrm>
          <a:prstGeom prst="rect">
            <a:avLst/>
          </a:prstGeom>
          <a:effectLst>
            <a:outerShdw blurRad="381000" dist="119618" rotWithShape="0">
              <a:srgbClr val="000000">
                <a:alpha val="75000"/>
              </a:srgbClr>
            </a:outerShdw>
          </a:effectLst>
        </p:spPr>
      </p:pic>
      <p:sp>
        <p:nvSpPr>
          <p:cNvPr id="565" name="Nested if-else statements"/>
          <p:cNvSpPr txBox="1"/>
          <p:nvPr/>
        </p:nvSpPr>
        <p:spPr>
          <a:xfrm>
            <a:off x="13552208" y="6354164"/>
            <a:ext cx="5864467" cy="659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rgbClr val="FFFFFF"/>
                </a:solidFill>
              </a:defRPr>
            </a:lvl1pPr>
          </a:lstStyle>
          <a:p>
            <a:r>
              <a:t>Nested if-else statements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03EA79BB-A347-02B1-2E0F-FB91738D2D97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" grpId="0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567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568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570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571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572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573" name="12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12</a:t>
            </a:r>
          </a:p>
        </p:txBody>
      </p:sp>
      <p:sp>
        <p:nvSpPr>
          <p:cNvPr id="575" name="If, if-else, elif statements (decision making building blocks in Python)"/>
          <p:cNvSpPr txBox="1"/>
          <p:nvPr/>
        </p:nvSpPr>
        <p:spPr>
          <a:xfrm>
            <a:off x="2192665" y="1413107"/>
            <a:ext cx="1727164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900">
                <a:solidFill>
                  <a:srgbClr val="FFFFFF"/>
                </a:solidFill>
              </a:defRPr>
            </a:pPr>
            <a:r>
              <a:rPr sz="5000" b="1"/>
              <a:t>If, if-else, elif statements</a:t>
            </a:r>
            <a:r>
              <a:t> (decision making building blocks in Python)</a:t>
            </a:r>
          </a:p>
        </p:txBody>
      </p:sp>
      <p:sp>
        <p:nvSpPr>
          <p:cNvPr id="576" name="Hands-On"/>
          <p:cNvSpPr txBox="1"/>
          <p:nvPr/>
        </p:nvSpPr>
        <p:spPr>
          <a:xfrm>
            <a:off x="19845941" y="1506147"/>
            <a:ext cx="2447189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 b="1">
                <a:solidFill>
                  <a:srgbClr val="FFFFFF"/>
                </a:solidFill>
              </a:defRPr>
            </a:lvl1pPr>
          </a:lstStyle>
          <a:p>
            <a:r>
              <a:t>Hands-On</a:t>
            </a:r>
          </a:p>
        </p:txBody>
      </p:sp>
      <p:sp>
        <p:nvSpPr>
          <p:cNvPr id="577" name="Nested  if-else conditions"/>
          <p:cNvSpPr txBox="1"/>
          <p:nvPr/>
        </p:nvSpPr>
        <p:spPr>
          <a:xfrm>
            <a:off x="16584746" y="2248654"/>
            <a:ext cx="5520310" cy="634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 b="1">
                <a:solidFill>
                  <a:srgbClr val="FFFFFF"/>
                </a:solidFill>
              </a:defRPr>
            </a:lvl1pPr>
          </a:lstStyle>
          <a:p>
            <a:r>
              <a:t>Nested  if-else conditions</a:t>
            </a:r>
          </a:p>
        </p:txBody>
      </p:sp>
      <p:pic>
        <p:nvPicPr>
          <p:cNvPr id="578" name="Shop = 'Fruits'… Shop = 'Fruits'Type = ‘sweet'color = 'Yellow'" descr="Shop = 'Fruits'… Shop = 'Fruits'Type = ‘sweet'color = 'Yellow'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964108" y="3570457"/>
            <a:ext cx="3022464" cy="1640333"/>
          </a:xfrm>
          <a:prstGeom prst="rect">
            <a:avLst/>
          </a:prstGeom>
          <a:effectLst>
            <a:outerShdw blurRad="381000" dist="119618" rotWithShape="0">
              <a:srgbClr val="000000">
                <a:alpha val="75000"/>
              </a:srgbClr>
            </a:outerShdw>
          </a:effectLst>
        </p:spPr>
      </p:pic>
      <p:sp>
        <p:nvSpPr>
          <p:cNvPr id="579" name="Initial inputs"/>
          <p:cNvSpPr txBox="1"/>
          <p:nvPr/>
        </p:nvSpPr>
        <p:spPr>
          <a:xfrm>
            <a:off x="3053130" y="2805790"/>
            <a:ext cx="2844420" cy="659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rgbClr val="FFFFFF"/>
                </a:solidFill>
              </a:defRPr>
            </a:lvl1pPr>
          </a:lstStyle>
          <a:p>
            <a:r>
              <a:t>Initial inputs</a:t>
            </a:r>
          </a:p>
        </p:txBody>
      </p:sp>
      <p:sp>
        <p:nvSpPr>
          <p:cNvPr id="580" name="Change inputs…"/>
          <p:cNvSpPr txBox="1"/>
          <p:nvPr/>
        </p:nvSpPr>
        <p:spPr>
          <a:xfrm>
            <a:off x="2159850" y="7348518"/>
            <a:ext cx="4630980" cy="2373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700" b="1">
                <a:solidFill>
                  <a:srgbClr val="FFFFFF"/>
                </a:solidFill>
              </a:defRPr>
            </a:pPr>
            <a:r>
              <a:t>Change inputs </a:t>
            </a:r>
          </a:p>
          <a:p>
            <a:pPr>
              <a:defRPr sz="3700" b="1">
                <a:solidFill>
                  <a:srgbClr val="FFFFFF"/>
                </a:solidFill>
              </a:defRPr>
            </a:pPr>
            <a:r>
              <a:t>values and try to </a:t>
            </a:r>
          </a:p>
          <a:p>
            <a:pPr>
              <a:defRPr sz="3700" b="1">
                <a:solidFill>
                  <a:srgbClr val="FFFFFF"/>
                </a:solidFill>
              </a:defRPr>
            </a:pPr>
            <a:r>
              <a:t>guess the expected </a:t>
            </a:r>
          </a:p>
          <a:p>
            <a:pPr>
              <a:defRPr sz="3700" b="1">
                <a:solidFill>
                  <a:srgbClr val="FFFFFF"/>
                </a:solidFill>
              </a:defRPr>
            </a:pPr>
            <a:r>
              <a:t>answers</a:t>
            </a:r>
          </a:p>
        </p:txBody>
      </p:sp>
      <p:pic>
        <p:nvPicPr>
          <p:cNvPr id="581" name="if Shop == 'Fruits':… if Shop == 'Fruits':    print(&quot; Plan to buy Fruits today&quot;)        if Type == 'sweet':        print(&quot; Fruits are sweet&quot;)    elif Type == 'good':        print(&quot;Not sweet, but still good fruits&quot;)                        if color == 'Yel" descr="if Shop == 'Fruits':… if Shop == 'Fruits':    print(&quot; Plan to buy Fruits today&quot;)        if Type == 'sweet':        print(&quot; Fruits are sweet&quot;)    elif Type == 'good':        print(&quot;Not sweet, but still good fruits&quot;)                        if color == 'Yellow':            print(&quot;Fruits are sweet and color is yellow&quot;)        else:            print(&quot;Fruits are niether sweet, nor yellow&quot;)                            else:        print(&quot; Fruits are not sweet&quot;)        else:    print(&quot; Not buying fruits today&quot;)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307072" y="2848427"/>
            <a:ext cx="10253439" cy="9412734"/>
          </a:xfrm>
          <a:prstGeom prst="rect">
            <a:avLst/>
          </a:prstGeom>
          <a:effectLst>
            <a:outerShdw blurRad="381000" dist="119618" rotWithShape="0">
              <a:srgbClr val="000000">
                <a:alpha val="75000"/>
              </a:srgbClr>
            </a:outerShdw>
          </a:effectLst>
        </p:spPr>
      </p:pic>
      <p:pic>
        <p:nvPicPr>
          <p:cNvPr id="582" name="if Shop == 'Fruits':… if Shop == 'Fruits':    print(&quot; Plan to buy Fruits today&quot;)        if Type == 'sweet':        print(&quot; Fruits are sweet&quot;)    elif Type == 'good':        print(&quot;Not sweet, but still good fruits&quot;)                        if color == 'Yel" descr="if Shop == 'Fruits':… if Shop == 'Fruits':    print(&quot; Plan to buy Fruits today&quot;)        if Type == 'sweet':        print(&quot; Fruits are sweet&quot;)    elif Type == 'good':        print(&quot;Not sweet, but still good fruits&quot;)                        if color == 'Yellow':            print(&quot;Fruits are either sweet or good and color is yellow&quot;)        else:            print(&quot;Fruits are niether sweet, nor yellow&quot;)                            else:        print(&quot; Fruits are not sweet&quot;)        else:    print(&quot; Not buying fruits today&quot;)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796796" y="2848427"/>
            <a:ext cx="12350573" cy="9412734"/>
          </a:xfrm>
          <a:prstGeom prst="rect">
            <a:avLst/>
          </a:prstGeom>
          <a:effectLst>
            <a:outerShdw blurRad="381000" dist="119618" rotWithShape="0">
              <a:srgbClr val="000000">
                <a:alpha val="75000"/>
              </a:srgbClr>
            </a:outerShdw>
          </a:effectLst>
        </p:spPr>
      </p:pic>
      <p:sp>
        <p:nvSpPr>
          <p:cNvPr id="583" name="Line"/>
          <p:cNvSpPr/>
          <p:nvPr/>
        </p:nvSpPr>
        <p:spPr>
          <a:xfrm flipV="1">
            <a:off x="8951221" y="3409187"/>
            <a:ext cx="1" cy="7970199"/>
          </a:xfrm>
          <a:prstGeom prst="line">
            <a:avLst/>
          </a:prstGeom>
          <a:ln w="25400">
            <a:solidFill>
              <a:srgbClr val="FFFFFF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84" name="Line"/>
          <p:cNvSpPr/>
          <p:nvPr/>
        </p:nvSpPr>
        <p:spPr>
          <a:xfrm flipV="1">
            <a:off x="9382546" y="4734464"/>
            <a:ext cx="1" cy="5319643"/>
          </a:xfrm>
          <a:prstGeom prst="line">
            <a:avLst/>
          </a:prstGeom>
          <a:ln w="25400">
            <a:solidFill>
              <a:srgbClr val="FFFFFF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85" name="Line"/>
          <p:cNvSpPr/>
          <p:nvPr/>
        </p:nvSpPr>
        <p:spPr>
          <a:xfrm flipV="1">
            <a:off x="9813870" y="7556461"/>
            <a:ext cx="1" cy="671802"/>
          </a:xfrm>
          <a:prstGeom prst="line">
            <a:avLst/>
          </a:prstGeom>
          <a:ln w="25400">
            <a:solidFill>
              <a:srgbClr val="FFFFFF"/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86" name="Hint: Nested to last elif, indentation gives the clue"/>
          <p:cNvSpPr txBox="1"/>
          <p:nvPr/>
        </p:nvSpPr>
        <p:spPr>
          <a:xfrm>
            <a:off x="15208072" y="6627317"/>
            <a:ext cx="6939687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Hint: Nested to last elif, indentation gives the clue 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C5CF6A28-1B6B-D516-ECE3-543D6E9B4C12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1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749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750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752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753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754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755" name="2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29</a:t>
            </a:r>
          </a:p>
        </p:txBody>
      </p:sp>
      <p:sp>
        <p:nvSpPr>
          <p:cNvPr id="757" name="Python - Operators"/>
          <p:cNvSpPr txBox="1"/>
          <p:nvPr/>
        </p:nvSpPr>
        <p:spPr>
          <a:xfrm>
            <a:off x="2158170" y="1430047"/>
            <a:ext cx="590105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Python - </a:t>
            </a:r>
            <a:r>
              <a:rPr u="sng"/>
              <a:t>Operators</a:t>
            </a:r>
          </a:p>
        </p:txBody>
      </p:sp>
      <p:sp>
        <p:nvSpPr>
          <p:cNvPr id="758" name="Operators  allow to perform operations on operands"/>
          <p:cNvSpPr txBox="1"/>
          <p:nvPr/>
        </p:nvSpPr>
        <p:spPr>
          <a:xfrm>
            <a:off x="2825753" y="2547625"/>
            <a:ext cx="13102490" cy="746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rPr u="sng"/>
              <a:t>Operators</a:t>
            </a:r>
            <a:r>
              <a:t>  allow to perform operations on </a:t>
            </a:r>
            <a:r>
              <a:rPr u="sng"/>
              <a:t>operands</a:t>
            </a:r>
          </a:p>
        </p:txBody>
      </p:sp>
      <p:sp>
        <p:nvSpPr>
          <p:cNvPr id="759" name="Line"/>
          <p:cNvSpPr/>
          <p:nvPr/>
        </p:nvSpPr>
        <p:spPr>
          <a:xfrm>
            <a:off x="14663625" y="3764846"/>
            <a:ext cx="177529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60" name="Line"/>
          <p:cNvSpPr/>
          <p:nvPr/>
        </p:nvSpPr>
        <p:spPr>
          <a:xfrm flipV="1">
            <a:off x="14676326" y="3193346"/>
            <a:ext cx="1" cy="5583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61" name="Variables or values of variables"/>
          <p:cNvSpPr txBox="1"/>
          <p:nvPr/>
        </p:nvSpPr>
        <p:spPr>
          <a:xfrm>
            <a:off x="16409772" y="3534163"/>
            <a:ext cx="430804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Variables or values of variables</a:t>
            </a:r>
          </a:p>
        </p:txBody>
      </p:sp>
      <p:grpSp>
        <p:nvGrpSpPr>
          <p:cNvPr id="788" name="Group"/>
          <p:cNvGrpSpPr/>
          <p:nvPr/>
        </p:nvGrpSpPr>
        <p:grpSpPr>
          <a:xfrm>
            <a:off x="4874334" y="4262294"/>
            <a:ext cx="9005329" cy="7943906"/>
            <a:chOff x="0" y="0"/>
            <a:chExt cx="9005328" cy="7943905"/>
          </a:xfrm>
        </p:grpSpPr>
        <p:sp>
          <p:nvSpPr>
            <p:cNvPr id="762" name="In Python,…"/>
            <p:cNvSpPr txBox="1"/>
            <p:nvPr/>
          </p:nvSpPr>
          <p:spPr>
            <a:xfrm>
              <a:off x="0" y="0"/>
              <a:ext cx="9005329" cy="1415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lnSpc>
                  <a:spcPct val="120000"/>
                </a:lnSpc>
                <a:defRPr sz="4000" b="1">
                  <a:solidFill>
                    <a:srgbClr val="FFFFFF"/>
                  </a:solidFill>
                </a:defRPr>
              </a:pPr>
              <a:r>
                <a:t>In Python, </a:t>
              </a:r>
            </a:p>
            <a:p>
              <a:pPr algn="l">
                <a:lnSpc>
                  <a:spcPct val="120000"/>
                </a:lnSpc>
                <a:defRPr sz="3100" b="1">
                  <a:solidFill>
                    <a:srgbClr val="FFFFFF"/>
                  </a:solidFill>
                </a:defRPr>
              </a:pPr>
              <a:r>
                <a:rPr sz="3800"/>
                <a:t>Operators</a:t>
              </a:r>
              <a:r>
                <a:t> are divided in the following groups</a:t>
              </a:r>
            </a:p>
          </p:txBody>
        </p:sp>
        <p:pic>
          <p:nvPicPr>
            <p:cNvPr id="763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07" y="1339414"/>
              <a:ext cx="2388818" cy="76201"/>
            </a:xfrm>
            <a:prstGeom prst="rect">
              <a:avLst/>
            </a:prstGeom>
            <a:effectLst/>
          </p:spPr>
        </p:pic>
        <p:pic>
          <p:nvPicPr>
            <p:cNvPr id="765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2162830" y="4452827"/>
              <a:ext cx="6284864" cy="76201"/>
            </a:xfrm>
            <a:prstGeom prst="rect">
              <a:avLst/>
            </a:prstGeom>
            <a:effectLst/>
          </p:spPr>
        </p:pic>
        <p:pic>
          <p:nvPicPr>
            <p:cNvPr id="767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1857605"/>
              <a:ext cx="641703" cy="195333"/>
            </a:xfrm>
            <a:prstGeom prst="rect">
              <a:avLst/>
            </a:prstGeom>
            <a:effectLst/>
          </p:spPr>
        </p:pic>
        <p:pic>
          <p:nvPicPr>
            <p:cNvPr id="769" name="Line Line" descr="Line Line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0119" y="2821104"/>
              <a:ext cx="849281" cy="195334"/>
            </a:xfrm>
            <a:prstGeom prst="rect">
              <a:avLst/>
            </a:prstGeom>
            <a:effectLst/>
          </p:spPr>
        </p:pic>
        <p:sp>
          <p:nvSpPr>
            <p:cNvPr id="771" name="Assignment operators"/>
            <p:cNvSpPr txBox="1"/>
            <p:nvPr/>
          </p:nvSpPr>
          <p:spPr>
            <a:xfrm>
              <a:off x="1328262" y="2557713"/>
              <a:ext cx="5081042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Assignment operators</a:t>
              </a:r>
            </a:p>
          </p:txBody>
        </p:sp>
        <p:sp>
          <p:nvSpPr>
            <p:cNvPr id="772" name="Arithmetic operators"/>
            <p:cNvSpPr txBox="1"/>
            <p:nvPr/>
          </p:nvSpPr>
          <p:spPr>
            <a:xfrm>
              <a:off x="1236272" y="1568813"/>
              <a:ext cx="4685160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Arithmetic operators</a:t>
              </a:r>
            </a:p>
          </p:txBody>
        </p:sp>
        <p:pic>
          <p:nvPicPr>
            <p:cNvPr id="773" name="Line Line" descr="Line Lin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5385" y="3770914"/>
              <a:ext cx="1448327" cy="195333"/>
            </a:xfrm>
            <a:prstGeom prst="rect">
              <a:avLst/>
            </a:prstGeom>
            <a:effectLst/>
          </p:spPr>
        </p:pic>
        <p:sp>
          <p:nvSpPr>
            <p:cNvPr id="775" name="Comparison operators"/>
            <p:cNvSpPr txBox="1"/>
            <p:nvPr/>
          </p:nvSpPr>
          <p:spPr>
            <a:xfrm>
              <a:off x="1974972" y="3498165"/>
              <a:ext cx="5165626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Comparison operators</a:t>
              </a:r>
            </a:p>
          </p:txBody>
        </p:sp>
        <p:pic>
          <p:nvPicPr>
            <p:cNvPr id="776" name="Line Line" descr="Line Line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5385" y="4725442"/>
              <a:ext cx="1840754" cy="195334"/>
            </a:xfrm>
            <a:prstGeom prst="rect">
              <a:avLst/>
            </a:prstGeom>
            <a:effectLst/>
          </p:spPr>
        </p:pic>
        <p:sp>
          <p:nvSpPr>
            <p:cNvPr id="778" name="Logical operators"/>
            <p:cNvSpPr txBox="1"/>
            <p:nvPr/>
          </p:nvSpPr>
          <p:spPr>
            <a:xfrm>
              <a:off x="2395382" y="4423428"/>
              <a:ext cx="4036765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Logical operators</a:t>
              </a:r>
            </a:p>
          </p:txBody>
        </p:sp>
        <p:pic>
          <p:nvPicPr>
            <p:cNvPr id="779" name="Line Line" descr="Line Line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5385" y="5679970"/>
              <a:ext cx="2068348" cy="195334"/>
            </a:xfrm>
            <a:prstGeom prst="rect">
              <a:avLst/>
            </a:prstGeom>
            <a:effectLst/>
          </p:spPr>
        </p:pic>
        <p:sp>
          <p:nvSpPr>
            <p:cNvPr id="781" name="Identity operators"/>
            <p:cNvSpPr txBox="1"/>
            <p:nvPr/>
          </p:nvSpPr>
          <p:spPr>
            <a:xfrm>
              <a:off x="2677788" y="5395431"/>
              <a:ext cx="4064794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Identity operators</a:t>
              </a:r>
            </a:p>
          </p:txBody>
        </p:sp>
        <p:pic>
          <p:nvPicPr>
            <p:cNvPr id="782" name="Line Line" descr="Line Line"/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15385" y="6630077"/>
              <a:ext cx="2331762" cy="195333"/>
            </a:xfrm>
            <a:prstGeom prst="rect">
              <a:avLst/>
            </a:prstGeom>
            <a:effectLst/>
          </p:spPr>
        </p:pic>
        <p:sp>
          <p:nvSpPr>
            <p:cNvPr id="784" name="Membership operator"/>
            <p:cNvSpPr txBox="1"/>
            <p:nvPr/>
          </p:nvSpPr>
          <p:spPr>
            <a:xfrm>
              <a:off x="2887290" y="6320418"/>
              <a:ext cx="4967933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Membership operator</a:t>
              </a:r>
            </a:p>
          </p:txBody>
        </p:sp>
        <p:pic>
          <p:nvPicPr>
            <p:cNvPr id="785" name="Line Line" descr="Line Line"/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40785" y="7472821"/>
              <a:ext cx="2606682" cy="195333"/>
            </a:xfrm>
            <a:prstGeom prst="rect">
              <a:avLst/>
            </a:prstGeom>
            <a:effectLst/>
          </p:spPr>
        </p:pic>
        <p:sp>
          <p:nvSpPr>
            <p:cNvPr id="787" name="Bitwise operator"/>
            <p:cNvSpPr txBox="1"/>
            <p:nvPr/>
          </p:nvSpPr>
          <p:spPr>
            <a:xfrm>
              <a:off x="3219450" y="7207305"/>
              <a:ext cx="3782021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Bitwise operator</a:t>
              </a:r>
            </a:p>
          </p:txBody>
        </p:sp>
      </p:grpSp>
      <p:sp>
        <p:nvSpPr>
          <p:cNvPr id="2" name="28/10/2022">
            <a:extLst>
              <a:ext uri="{FF2B5EF4-FFF2-40B4-BE49-F238E27FC236}">
                <a16:creationId xmlns:a16="http://schemas.microsoft.com/office/drawing/2014/main" id="{534EA5CA-4F5D-D942-292C-9BA10A4587B7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" grpId="1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4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790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791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grpSp>
          <p:nvGrpSpPr>
            <p:cNvPr id="799" name="Group"/>
            <p:cNvGrpSpPr/>
            <p:nvPr/>
          </p:nvGrpSpPr>
          <p:grpSpPr>
            <a:xfrm>
              <a:off x="18982072" y="4587390"/>
              <a:ext cx="1156107" cy="4870829"/>
              <a:chOff x="0" y="0"/>
              <a:chExt cx="1156106" cy="4870828"/>
            </a:xfrm>
          </p:grpSpPr>
          <p:sp>
            <p:nvSpPr>
              <p:cNvPr id="792" name="x + y"/>
              <p:cNvSpPr txBox="1"/>
              <p:nvPr/>
            </p:nvSpPr>
            <p:spPr>
              <a:xfrm>
                <a:off x="15239" y="0"/>
                <a:ext cx="1125628" cy="64713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6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x + y</a:t>
                </a:r>
              </a:p>
            </p:txBody>
          </p:sp>
          <p:sp>
            <p:nvSpPr>
              <p:cNvPr id="793" name="x - y"/>
              <p:cNvSpPr txBox="1"/>
              <p:nvPr/>
            </p:nvSpPr>
            <p:spPr>
              <a:xfrm>
                <a:off x="59359" y="678588"/>
                <a:ext cx="1037388" cy="64713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6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x - y</a:t>
                </a:r>
              </a:p>
            </p:txBody>
          </p:sp>
          <p:sp>
            <p:nvSpPr>
              <p:cNvPr id="794" name="x * y"/>
              <p:cNvSpPr txBox="1"/>
              <p:nvPr/>
            </p:nvSpPr>
            <p:spPr>
              <a:xfrm>
                <a:off x="90373" y="1357176"/>
                <a:ext cx="975361" cy="64713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3600" b="1">
                    <a:solidFill>
                      <a:srgbClr val="FFFFFF"/>
                    </a:solidFill>
                  </a:defRPr>
                </a:pPr>
                <a:r>
                  <a:t>x </a:t>
                </a:r>
                <a:r>
                  <a:rPr baseline="-5999"/>
                  <a:t>*</a:t>
                </a:r>
                <a:r>
                  <a:t> y</a:t>
                </a:r>
              </a:p>
            </p:txBody>
          </p:sp>
          <p:sp>
            <p:nvSpPr>
              <p:cNvPr id="795" name="x / y"/>
              <p:cNvSpPr txBox="1"/>
              <p:nvPr/>
            </p:nvSpPr>
            <p:spPr>
              <a:xfrm>
                <a:off x="95859" y="2035764"/>
                <a:ext cx="964388" cy="64713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3600" b="1">
                    <a:solidFill>
                      <a:srgbClr val="FFFFFF"/>
                    </a:solidFill>
                  </a:defRPr>
                </a:pPr>
                <a:r>
                  <a:t>x </a:t>
                </a:r>
                <a:r>
                  <a:rPr baseline="-5999"/>
                  <a:t>/</a:t>
                </a:r>
                <a:r>
                  <a:t> y</a:t>
                </a:r>
              </a:p>
            </p:txBody>
          </p:sp>
          <p:sp>
            <p:nvSpPr>
              <p:cNvPr id="796" name="x % y"/>
              <p:cNvSpPr txBox="1"/>
              <p:nvPr/>
            </p:nvSpPr>
            <p:spPr>
              <a:xfrm>
                <a:off x="-1" y="2714352"/>
                <a:ext cx="1156108" cy="64713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3600" b="1">
                    <a:solidFill>
                      <a:srgbClr val="FFFFFF"/>
                    </a:solidFill>
                  </a:defRPr>
                </a:pPr>
                <a:r>
                  <a:t>x </a:t>
                </a:r>
                <a:r>
                  <a:rPr baseline="-5999"/>
                  <a:t>%</a:t>
                </a:r>
                <a:r>
                  <a:t> y</a:t>
                </a:r>
              </a:p>
            </p:txBody>
          </p:sp>
          <p:sp>
            <p:nvSpPr>
              <p:cNvPr id="797" name="x ** y"/>
              <p:cNvSpPr txBox="1"/>
              <p:nvPr/>
            </p:nvSpPr>
            <p:spPr>
              <a:xfrm>
                <a:off x="28346" y="3392940"/>
                <a:ext cx="1099415" cy="64713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3600" b="1">
                    <a:solidFill>
                      <a:srgbClr val="FFFFFF"/>
                    </a:solidFill>
                  </a:defRPr>
                </a:pPr>
                <a:r>
                  <a:t>x </a:t>
                </a:r>
                <a:r>
                  <a:rPr baseline="31999"/>
                  <a:t>**</a:t>
                </a:r>
                <a:r>
                  <a:t> y</a:t>
                </a:r>
              </a:p>
            </p:txBody>
          </p:sp>
          <p:sp>
            <p:nvSpPr>
              <p:cNvPr id="798" name="x // y"/>
              <p:cNvSpPr txBox="1"/>
              <p:nvPr/>
            </p:nvSpPr>
            <p:spPr>
              <a:xfrm>
                <a:off x="11048" y="4223690"/>
                <a:ext cx="1134010" cy="64713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3600" b="1">
                    <a:solidFill>
                      <a:srgbClr val="FFFFFF"/>
                    </a:solidFill>
                  </a:defRPr>
                </a:pPr>
                <a:r>
                  <a:t>x </a:t>
                </a:r>
                <a:r>
                  <a:rPr sz="3000"/>
                  <a:t>//</a:t>
                </a:r>
                <a:r>
                  <a:t> y</a:t>
                </a:r>
              </a:p>
            </p:txBody>
          </p:sp>
        </p:grpSp>
        <p:sp>
          <p:nvSpPr>
            <p:cNvPr id="800" name="Pl"/>
            <p:cNvSpPr txBox="1"/>
            <p:nvPr/>
          </p:nvSpPr>
          <p:spPr>
            <a:xfrm>
              <a:off x="9651023" y="9953907"/>
              <a:ext cx="379477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Pl</a:t>
              </a:r>
            </a:p>
          </p:txBody>
        </p:sp>
        <p:sp>
          <p:nvSpPr>
            <p:cNvPr id="801" name="Text"/>
            <p:cNvSpPr txBox="1"/>
            <p:nvPr/>
          </p:nvSpPr>
          <p:spPr>
            <a:xfrm>
              <a:off x="11843757" y="10543535"/>
              <a:ext cx="672999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/>
            <a:p>
              <a:endParaRPr/>
            </a:p>
          </p:txBody>
        </p:sp>
        <p:sp>
          <p:nvSpPr>
            <p:cNvPr id="802" name="Tr"/>
            <p:cNvSpPr txBox="1"/>
            <p:nvPr/>
          </p:nvSpPr>
          <p:spPr>
            <a:xfrm>
              <a:off x="11219068" y="9953907"/>
              <a:ext cx="362713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Tr</a:t>
              </a:r>
            </a:p>
          </p:txBody>
        </p:sp>
        <p:sp>
          <p:nvSpPr>
            <p:cNvPr id="803" name="Try to execute these…"/>
            <p:cNvSpPr txBox="1"/>
            <p:nvPr/>
          </p:nvSpPr>
          <p:spPr>
            <a:xfrm>
              <a:off x="17429368" y="9959331"/>
              <a:ext cx="3386583" cy="186818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600" b="1">
                  <a:solidFill>
                    <a:srgbClr val="000000"/>
                  </a:solidFill>
                </a:defRPr>
              </a:pPr>
              <a:r>
                <a:t>Try to execute these </a:t>
              </a:r>
            </a:p>
            <a:p>
              <a:pPr>
                <a:defRPr sz="2600" b="1">
                  <a:solidFill>
                    <a:srgbClr val="000000"/>
                  </a:solidFill>
                </a:defRPr>
              </a:pPr>
              <a:r>
                <a:t>Statements with </a:t>
              </a:r>
            </a:p>
            <a:p>
              <a:pPr>
                <a:defRPr sz="3100" b="1">
                  <a:solidFill>
                    <a:srgbClr val="000000"/>
                  </a:solidFill>
                </a:defRPr>
              </a:pPr>
              <a:r>
                <a:t>x = 13, y = 3</a:t>
              </a:r>
            </a:p>
          </p:txBody>
        </p:sp>
      </p:grpSp>
      <p:sp>
        <p:nvSpPr>
          <p:cNvPr id="805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806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807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808" name="2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29</a:t>
            </a:r>
          </a:p>
        </p:txBody>
      </p:sp>
      <p:sp>
        <p:nvSpPr>
          <p:cNvPr id="810" name="Operators"/>
          <p:cNvSpPr txBox="1"/>
          <p:nvPr/>
        </p:nvSpPr>
        <p:spPr>
          <a:xfrm>
            <a:off x="9242575" y="1413107"/>
            <a:ext cx="317182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pPr>
              <a:defRPr sz="3900" b="0"/>
            </a:pPr>
            <a:r>
              <a:rPr sz="5000" b="1"/>
              <a:t>Operators</a:t>
            </a:r>
          </a:p>
        </p:txBody>
      </p:sp>
      <p:grpSp>
        <p:nvGrpSpPr>
          <p:cNvPr id="837" name="Group"/>
          <p:cNvGrpSpPr/>
          <p:nvPr/>
        </p:nvGrpSpPr>
        <p:grpSpPr>
          <a:xfrm>
            <a:off x="2230515" y="2425300"/>
            <a:ext cx="9005329" cy="8059256"/>
            <a:chOff x="0" y="-63028"/>
            <a:chExt cx="9005328" cy="8059255"/>
          </a:xfrm>
        </p:grpSpPr>
        <p:sp>
          <p:nvSpPr>
            <p:cNvPr id="811" name="In Python,…"/>
            <p:cNvSpPr txBox="1"/>
            <p:nvPr/>
          </p:nvSpPr>
          <p:spPr>
            <a:xfrm>
              <a:off x="0" y="-63029"/>
              <a:ext cx="9005329" cy="1415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lnSpc>
                  <a:spcPct val="120000"/>
                </a:lnSpc>
                <a:defRPr sz="4000" b="1">
                  <a:solidFill>
                    <a:srgbClr val="FFFFFF"/>
                  </a:solidFill>
                </a:defRPr>
              </a:pPr>
              <a:r>
                <a:t>In Python, </a:t>
              </a:r>
            </a:p>
            <a:p>
              <a:pPr algn="l">
                <a:lnSpc>
                  <a:spcPct val="120000"/>
                </a:lnSpc>
                <a:defRPr sz="3100" b="1">
                  <a:solidFill>
                    <a:srgbClr val="FFFFFF"/>
                  </a:solidFill>
                </a:defRPr>
              </a:pPr>
              <a:r>
                <a:rPr sz="3800"/>
                <a:t>Operators</a:t>
              </a:r>
              <a:r>
                <a:t> are divided in the following groups</a:t>
              </a:r>
            </a:p>
          </p:txBody>
        </p:sp>
        <p:pic>
          <p:nvPicPr>
            <p:cNvPr id="812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07" y="1377514"/>
              <a:ext cx="2388818" cy="76201"/>
            </a:xfrm>
            <a:prstGeom prst="rect">
              <a:avLst/>
            </a:prstGeom>
            <a:effectLst/>
          </p:spPr>
        </p:pic>
        <p:pic>
          <p:nvPicPr>
            <p:cNvPr id="814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2169180" y="4484577"/>
              <a:ext cx="6297564" cy="76201"/>
            </a:xfrm>
            <a:prstGeom prst="rect">
              <a:avLst/>
            </a:prstGeom>
            <a:effectLst/>
          </p:spPr>
        </p:pic>
        <p:pic>
          <p:nvPicPr>
            <p:cNvPr id="816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1857605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818" name="Arithmetic operators"/>
            <p:cNvSpPr txBox="1"/>
            <p:nvPr/>
          </p:nvSpPr>
          <p:spPr>
            <a:xfrm>
              <a:off x="1418586" y="1264013"/>
              <a:ext cx="4621600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Arithmetic operators</a:t>
              </a:r>
            </a:p>
          </p:txBody>
        </p:sp>
        <p:pic>
          <p:nvPicPr>
            <p:cNvPr id="819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2824186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821" name="Assignment operators"/>
            <p:cNvSpPr txBox="1"/>
            <p:nvPr/>
          </p:nvSpPr>
          <p:spPr>
            <a:xfrm>
              <a:off x="1416010" y="2248752"/>
              <a:ext cx="4636882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Assignment operators</a:t>
              </a:r>
            </a:p>
          </p:txBody>
        </p:sp>
        <p:pic>
          <p:nvPicPr>
            <p:cNvPr id="822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3768799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824" name="Comparison operators"/>
            <p:cNvSpPr txBox="1"/>
            <p:nvPr/>
          </p:nvSpPr>
          <p:spPr>
            <a:xfrm>
              <a:off x="1149472" y="3498165"/>
              <a:ext cx="5165626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Comparison operators</a:t>
              </a:r>
            </a:p>
          </p:txBody>
        </p:sp>
        <p:pic>
          <p:nvPicPr>
            <p:cNvPr id="825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4694061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827" name="Logical operators"/>
            <p:cNvSpPr txBox="1"/>
            <p:nvPr/>
          </p:nvSpPr>
          <p:spPr>
            <a:xfrm>
              <a:off x="1408478" y="4423428"/>
              <a:ext cx="4640935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Logical operators</a:t>
              </a:r>
            </a:p>
          </p:txBody>
        </p:sp>
        <p:pic>
          <p:nvPicPr>
            <p:cNvPr id="828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5643444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830" name="Identity operators"/>
            <p:cNvSpPr txBox="1"/>
            <p:nvPr/>
          </p:nvSpPr>
          <p:spPr>
            <a:xfrm>
              <a:off x="1417808" y="5371922"/>
              <a:ext cx="4628260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Identity operators</a:t>
              </a:r>
            </a:p>
          </p:txBody>
        </p:sp>
        <p:pic>
          <p:nvPicPr>
            <p:cNvPr id="831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6563937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833" name="Membership operator"/>
            <p:cNvSpPr txBox="1"/>
            <p:nvPr/>
          </p:nvSpPr>
          <p:spPr>
            <a:xfrm>
              <a:off x="1411983" y="5988503"/>
              <a:ext cx="4630549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Membership operator</a:t>
              </a:r>
            </a:p>
          </p:txBody>
        </p:sp>
        <p:pic>
          <p:nvPicPr>
            <p:cNvPr id="834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7503338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836" name="Bitwise operator"/>
            <p:cNvSpPr txBox="1"/>
            <p:nvPr/>
          </p:nvSpPr>
          <p:spPr>
            <a:xfrm>
              <a:off x="1420888" y="7259626"/>
              <a:ext cx="4620038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Bitwise operator</a:t>
              </a:r>
            </a:p>
          </p:txBody>
        </p:sp>
      </p:grpSp>
      <p:pic>
        <p:nvPicPr>
          <p:cNvPr id="838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98000"/>
          </a:blip>
          <a:stretch>
            <a:fillRect/>
          </a:stretch>
        </p:blipFill>
        <p:spPr>
          <a:xfrm>
            <a:off x="2394224" y="4986981"/>
            <a:ext cx="15022695" cy="74109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63" name="Group"/>
          <p:cNvGrpSpPr/>
          <p:nvPr/>
        </p:nvGrpSpPr>
        <p:grpSpPr>
          <a:xfrm>
            <a:off x="8519739" y="4809772"/>
            <a:ext cx="13905924" cy="5715573"/>
            <a:chOff x="-31758" y="-376513"/>
            <a:chExt cx="13905922" cy="5715572"/>
          </a:xfrm>
        </p:grpSpPr>
        <p:sp>
          <p:nvSpPr>
            <p:cNvPr id="839" name="Addition ( + )…"/>
            <p:cNvSpPr txBox="1"/>
            <p:nvPr/>
          </p:nvSpPr>
          <p:spPr>
            <a:xfrm>
              <a:off x="236399" y="-376513"/>
              <a:ext cx="3147823" cy="53113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lnSpc>
                  <a:spcPct val="150000"/>
                </a:lnSpc>
                <a:defRPr sz="3000">
                  <a:solidFill>
                    <a:srgbClr val="FFFFFF"/>
                  </a:solidFill>
                </a:defRPr>
              </a:pPr>
              <a:r>
                <a:rPr dirty="0"/>
                <a:t>Addition ( + )</a:t>
              </a:r>
            </a:p>
            <a:p>
              <a:pPr algn="l">
                <a:lnSpc>
                  <a:spcPct val="150000"/>
                </a:lnSpc>
                <a:defRPr sz="3000">
                  <a:solidFill>
                    <a:srgbClr val="FFFFFF"/>
                  </a:solidFill>
                </a:defRPr>
              </a:pPr>
              <a:r>
                <a:rPr dirty="0"/>
                <a:t>Subtraction ( - )</a:t>
              </a:r>
            </a:p>
            <a:p>
              <a:pPr algn="l">
                <a:lnSpc>
                  <a:spcPct val="150000"/>
                </a:lnSpc>
                <a:defRPr sz="3000">
                  <a:solidFill>
                    <a:srgbClr val="FFFFFF"/>
                  </a:solidFill>
                </a:defRPr>
              </a:pPr>
              <a:r>
                <a:rPr dirty="0"/>
                <a:t>Multiplication ( </a:t>
              </a:r>
              <a:r>
                <a:rPr baseline="-5999" dirty="0"/>
                <a:t>*</a:t>
              </a:r>
              <a:r>
                <a:rPr dirty="0"/>
                <a:t> )</a:t>
              </a:r>
            </a:p>
            <a:p>
              <a:pPr algn="l">
                <a:lnSpc>
                  <a:spcPct val="150000"/>
                </a:lnSpc>
                <a:defRPr sz="3000">
                  <a:solidFill>
                    <a:srgbClr val="FFFFFF"/>
                  </a:solidFill>
                </a:defRPr>
              </a:pPr>
              <a:r>
                <a:rPr dirty="0"/>
                <a:t>Division ( / )</a:t>
              </a:r>
            </a:p>
            <a:p>
              <a:pPr algn="l">
                <a:lnSpc>
                  <a:spcPct val="150000"/>
                </a:lnSpc>
                <a:defRPr sz="3000">
                  <a:solidFill>
                    <a:srgbClr val="FFFFFF"/>
                  </a:solidFill>
                </a:defRPr>
              </a:pPr>
              <a:r>
                <a:rPr dirty="0"/>
                <a:t>Modulus ( % )</a:t>
              </a:r>
            </a:p>
            <a:p>
              <a:pPr algn="l">
                <a:lnSpc>
                  <a:spcPct val="150000"/>
                </a:lnSpc>
                <a:defRPr sz="3000">
                  <a:solidFill>
                    <a:srgbClr val="FFFFFF"/>
                  </a:solidFill>
                </a:defRPr>
              </a:pPr>
              <a:r>
                <a:rPr dirty="0"/>
                <a:t>Exponent ( ** )</a:t>
              </a:r>
            </a:p>
            <a:p>
              <a:pPr algn="l">
                <a:lnSpc>
                  <a:spcPct val="150000"/>
                </a:lnSpc>
                <a:defRPr sz="3000">
                  <a:solidFill>
                    <a:srgbClr val="FFFFFF"/>
                  </a:solidFill>
                </a:defRPr>
              </a:pPr>
              <a:r>
                <a:rPr dirty="0"/>
                <a:t>Floor division ( // )</a:t>
              </a:r>
            </a:p>
          </p:txBody>
        </p:sp>
        <p:sp>
          <p:nvSpPr>
            <p:cNvPr id="840" name="Adding the operands"/>
            <p:cNvSpPr txBox="1"/>
            <p:nvPr/>
          </p:nvSpPr>
          <p:spPr>
            <a:xfrm>
              <a:off x="3680504" y="53445"/>
              <a:ext cx="3685414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>
                  <a:solidFill>
                    <a:srgbClr val="FFFFFF"/>
                  </a:solidFill>
                </a:defRPr>
              </a:lvl1pPr>
            </a:lstStyle>
            <a:p>
              <a:r>
                <a:t>Adding the operands</a:t>
              </a:r>
            </a:p>
          </p:txBody>
        </p:sp>
        <p:sp>
          <p:nvSpPr>
            <p:cNvPr id="841" name="Subtracts R.H.S operand from L.H.S"/>
            <p:cNvSpPr txBox="1"/>
            <p:nvPr/>
          </p:nvSpPr>
          <p:spPr>
            <a:xfrm>
              <a:off x="3635271" y="732471"/>
              <a:ext cx="6324601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>
                  <a:solidFill>
                    <a:srgbClr val="FFFFFF"/>
                  </a:solidFill>
                </a:defRPr>
              </a:lvl1pPr>
            </a:lstStyle>
            <a:p>
              <a:r>
                <a:t>Subtracts R.H.S operand from L.H.S</a:t>
              </a:r>
            </a:p>
          </p:txBody>
        </p:sp>
        <p:sp>
          <p:nvSpPr>
            <p:cNvPr id="842" name="Multiply the operands"/>
            <p:cNvSpPr txBox="1"/>
            <p:nvPr/>
          </p:nvSpPr>
          <p:spPr>
            <a:xfrm>
              <a:off x="3620497" y="1411496"/>
              <a:ext cx="3805429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>
                  <a:solidFill>
                    <a:srgbClr val="FFFFFF"/>
                  </a:solidFill>
                </a:defRPr>
              </a:lvl1pPr>
            </a:lstStyle>
            <a:p>
              <a:r>
                <a:t>Multiply the operands</a:t>
              </a:r>
            </a:p>
          </p:txBody>
        </p:sp>
        <p:sp>
          <p:nvSpPr>
            <p:cNvPr id="843" name="Divide L.H.S by R.H.S operand"/>
            <p:cNvSpPr txBox="1"/>
            <p:nvPr/>
          </p:nvSpPr>
          <p:spPr>
            <a:xfrm>
              <a:off x="3617183" y="2042396"/>
              <a:ext cx="5371720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>
                  <a:solidFill>
                    <a:srgbClr val="FFFFFF"/>
                  </a:solidFill>
                </a:defRPr>
              </a:lvl1pPr>
            </a:lstStyle>
            <a:p>
              <a:r>
                <a:t>Divide L.H.S by R.H.S operand</a:t>
              </a:r>
            </a:p>
          </p:txBody>
        </p:sp>
        <p:sp>
          <p:nvSpPr>
            <p:cNvPr id="844" name="Divide L.H.S by R.H.S, return remainder"/>
            <p:cNvSpPr txBox="1"/>
            <p:nvPr/>
          </p:nvSpPr>
          <p:spPr>
            <a:xfrm>
              <a:off x="3607262" y="2673296"/>
              <a:ext cx="6875146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>
                  <a:solidFill>
                    <a:srgbClr val="FFFFFF"/>
                  </a:solidFill>
                </a:defRPr>
              </a:lvl1pPr>
            </a:lstStyle>
            <a:p>
              <a:r>
                <a:t>Divide L.H.S by R.H.S, return remainder</a:t>
              </a:r>
            </a:p>
          </p:txBody>
        </p:sp>
        <p:sp>
          <p:nvSpPr>
            <p:cNvPr id="845" name="Divide L.H.S by R.H.S, round-up the…"/>
            <p:cNvSpPr txBox="1"/>
            <p:nvPr/>
          </p:nvSpPr>
          <p:spPr>
            <a:xfrm>
              <a:off x="3600875" y="4140971"/>
              <a:ext cx="6381751" cy="10053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defRPr sz="3000">
                  <a:solidFill>
                    <a:srgbClr val="FFFFFF"/>
                  </a:solidFill>
                </a:defRPr>
              </a:pPr>
              <a:r>
                <a:t>Divide L.H.S by R.H.S, round-up the </a:t>
              </a:r>
            </a:p>
            <a:p>
              <a:pPr algn="l">
                <a:defRPr sz="3000">
                  <a:solidFill>
                    <a:srgbClr val="FFFFFF"/>
                  </a:solidFill>
                </a:defRPr>
              </a:pPr>
              <a:r>
                <a:t>quotient to nearest integer</a:t>
              </a:r>
            </a:p>
          </p:txBody>
        </p:sp>
        <p:sp>
          <p:nvSpPr>
            <p:cNvPr id="846" name="Divide L.H.S by R.H.S, return remainder"/>
            <p:cNvSpPr txBox="1"/>
            <p:nvPr/>
          </p:nvSpPr>
          <p:spPr>
            <a:xfrm>
              <a:off x="3607262" y="3352321"/>
              <a:ext cx="6875146" cy="5481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000">
                  <a:solidFill>
                    <a:srgbClr val="FFFFFF"/>
                  </a:solidFill>
                </a:defRPr>
              </a:lvl1pPr>
            </a:lstStyle>
            <a:p>
              <a:r>
                <a:t>Divide L.H.S by R.H.S, return remainder</a:t>
              </a:r>
            </a:p>
          </p:txBody>
        </p:sp>
        <p:pic>
          <p:nvPicPr>
            <p:cNvPr id="847" name="Line Line" descr="Line Lin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262">
              <a:off x="-31758" y="580462"/>
              <a:ext cx="13658658" cy="63501"/>
            </a:xfrm>
            <a:prstGeom prst="rect">
              <a:avLst/>
            </a:prstGeom>
            <a:effectLst/>
          </p:spPr>
        </p:pic>
        <p:pic>
          <p:nvPicPr>
            <p:cNvPr id="849" name="Line Line" descr="Line Lin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262">
              <a:off x="15381" y="1290236"/>
              <a:ext cx="13658658" cy="63501"/>
            </a:xfrm>
            <a:prstGeom prst="rect">
              <a:avLst/>
            </a:prstGeom>
            <a:effectLst/>
          </p:spPr>
        </p:pic>
        <p:pic>
          <p:nvPicPr>
            <p:cNvPr id="851" name="Line Line" descr="Line Lin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262">
              <a:off x="15381" y="1986969"/>
              <a:ext cx="13658658" cy="63501"/>
            </a:xfrm>
            <a:prstGeom prst="rect">
              <a:avLst/>
            </a:prstGeom>
            <a:effectLst/>
          </p:spPr>
        </p:pic>
        <p:pic>
          <p:nvPicPr>
            <p:cNvPr id="853" name="Line Line" descr="Line Lin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262">
              <a:off x="-31758" y="2624225"/>
              <a:ext cx="13658658" cy="63501"/>
            </a:xfrm>
            <a:prstGeom prst="rect">
              <a:avLst/>
            </a:prstGeom>
            <a:effectLst/>
          </p:spPr>
        </p:pic>
        <p:pic>
          <p:nvPicPr>
            <p:cNvPr id="855" name="Line Line" descr="Line Lin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262">
              <a:off x="15381" y="3314602"/>
              <a:ext cx="13658658" cy="63501"/>
            </a:xfrm>
            <a:prstGeom prst="rect">
              <a:avLst/>
            </a:prstGeom>
            <a:effectLst/>
          </p:spPr>
        </p:pic>
        <p:pic>
          <p:nvPicPr>
            <p:cNvPr id="857" name="Line Line" descr="Line Lin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262">
              <a:off x="15381" y="4041752"/>
              <a:ext cx="13658658" cy="63501"/>
            </a:xfrm>
            <a:prstGeom prst="rect">
              <a:avLst/>
            </a:prstGeom>
            <a:effectLst/>
          </p:spPr>
        </p:pic>
        <p:pic>
          <p:nvPicPr>
            <p:cNvPr id="859" name="Line Line" descr="Line Line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262">
              <a:off x="215506" y="5180000"/>
              <a:ext cx="13658658" cy="63501"/>
            </a:xfrm>
            <a:prstGeom prst="rect">
              <a:avLst/>
            </a:prstGeom>
            <a:effectLst/>
          </p:spPr>
        </p:pic>
        <p:pic>
          <p:nvPicPr>
            <p:cNvPr id="861" name="Line Line" descr="Line Line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 rot="5400000">
              <a:off x="7892634" y="2623947"/>
              <a:ext cx="5366722" cy="63501"/>
            </a:xfrm>
            <a:prstGeom prst="rect">
              <a:avLst/>
            </a:prstGeom>
            <a:effectLst/>
          </p:spPr>
        </p:pic>
      </p:grpSp>
      <p:sp>
        <p:nvSpPr>
          <p:cNvPr id="864" name="x = 9 , y = 2"/>
          <p:cNvSpPr txBox="1"/>
          <p:nvPr/>
        </p:nvSpPr>
        <p:spPr>
          <a:xfrm>
            <a:off x="18965281" y="4279707"/>
            <a:ext cx="2258467" cy="572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t>x = 9 , y = 2</a:t>
            </a:r>
          </a:p>
        </p:txBody>
      </p:sp>
      <p:sp>
        <p:nvSpPr>
          <p:cNvPr id="865" name="Allow to apply mathematical operations with num. values :"/>
          <p:cNvSpPr txBox="1"/>
          <p:nvPr/>
        </p:nvSpPr>
        <p:spPr>
          <a:xfrm>
            <a:off x="8849928" y="4292051"/>
            <a:ext cx="10008109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r>
              <a:t>Allow to apply mathematical operations with num. values :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0DE301E5-80AD-1A55-960B-5165DFA1F164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7" grpId="1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867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868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870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871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872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873" name="2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29</a:t>
            </a:r>
          </a:p>
        </p:txBody>
      </p:sp>
      <p:sp>
        <p:nvSpPr>
          <p:cNvPr id="875" name="Operators"/>
          <p:cNvSpPr txBox="1"/>
          <p:nvPr/>
        </p:nvSpPr>
        <p:spPr>
          <a:xfrm>
            <a:off x="9242575" y="1413107"/>
            <a:ext cx="317182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pPr>
              <a:defRPr sz="3900" b="0"/>
            </a:pPr>
            <a:r>
              <a:rPr sz="5000" b="1"/>
              <a:t>Operators</a:t>
            </a:r>
          </a:p>
        </p:txBody>
      </p:sp>
      <p:grpSp>
        <p:nvGrpSpPr>
          <p:cNvPr id="902" name="Group"/>
          <p:cNvGrpSpPr/>
          <p:nvPr/>
        </p:nvGrpSpPr>
        <p:grpSpPr>
          <a:xfrm>
            <a:off x="2230515" y="2425300"/>
            <a:ext cx="9005329" cy="8059256"/>
            <a:chOff x="0" y="-63028"/>
            <a:chExt cx="9005328" cy="8059255"/>
          </a:xfrm>
        </p:grpSpPr>
        <p:sp>
          <p:nvSpPr>
            <p:cNvPr id="876" name="In Python,…"/>
            <p:cNvSpPr txBox="1"/>
            <p:nvPr/>
          </p:nvSpPr>
          <p:spPr>
            <a:xfrm>
              <a:off x="0" y="-63029"/>
              <a:ext cx="9005329" cy="1415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lnSpc>
                  <a:spcPct val="120000"/>
                </a:lnSpc>
                <a:defRPr sz="4000" b="1">
                  <a:solidFill>
                    <a:srgbClr val="FFFFFF"/>
                  </a:solidFill>
                </a:defRPr>
              </a:pPr>
              <a:r>
                <a:t>In Python, </a:t>
              </a:r>
            </a:p>
            <a:p>
              <a:pPr algn="l">
                <a:lnSpc>
                  <a:spcPct val="120000"/>
                </a:lnSpc>
                <a:defRPr sz="3100" b="1">
                  <a:solidFill>
                    <a:srgbClr val="FFFFFF"/>
                  </a:solidFill>
                </a:defRPr>
              </a:pPr>
              <a:r>
                <a:rPr sz="3800"/>
                <a:t>Operators</a:t>
              </a:r>
              <a:r>
                <a:t> are divided in the following groups</a:t>
              </a:r>
            </a:p>
          </p:txBody>
        </p:sp>
        <p:pic>
          <p:nvPicPr>
            <p:cNvPr id="877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07" y="1377514"/>
              <a:ext cx="2388818" cy="76201"/>
            </a:xfrm>
            <a:prstGeom prst="rect">
              <a:avLst/>
            </a:prstGeom>
            <a:effectLst/>
          </p:spPr>
        </p:pic>
        <p:pic>
          <p:nvPicPr>
            <p:cNvPr id="879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2169180" y="4484577"/>
              <a:ext cx="6297564" cy="76201"/>
            </a:xfrm>
            <a:prstGeom prst="rect">
              <a:avLst/>
            </a:prstGeom>
            <a:effectLst/>
          </p:spPr>
        </p:pic>
        <p:pic>
          <p:nvPicPr>
            <p:cNvPr id="881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1857605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883" name="Arithmetic operators"/>
            <p:cNvSpPr txBox="1"/>
            <p:nvPr/>
          </p:nvSpPr>
          <p:spPr>
            <a:xfrm>
              <a:off x="1418586" y="1264013"/>
              <a:ext cx="4621600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Arithmetic operators</a:t>
              </a:r>
            </a:p>
          </p:txBody>
        </p:sp>
        <p:pic>
          <p:nvPicPr>
            <p:cNvPr id="884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2824186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886" name="Assignment operators"/>
            <p:cNvSpPr txBox="1"/>
            <p:nvPr/>
          </p:nvSpPr>
          <p:spPr>
            <a:xfrm>
              <a:off x="1416010" y="2248752"/>
              <a:ext cx="4636882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Assignment operators</a:t>
              </a:r>
            </a:p>
          </p:txBody>
        </p:sp>
        <p:pic>
          <p:nvPicPr>
            <p:cNvPr id="887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3768799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889" name="Comparison operators"/>
            <p:cNvSpPr txBox="1"/>
            <p:nvPr/>
          </p:nvSpPr>
          <p:spPr>
            <a:xfrm>
              <a:off x="1149472" y="3498165"/>
              <a:ext cx="5165626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Comparison operators</a:t>
              </a:r>
            </a:p>
          </p:txBody>
        </p:sp>
        <p:pic>
          <p:nvPicPr>
            <p:cNvPr id="890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4694061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892" name="Logical operators"/>
            <p:cNvSpPr txBox="1"/>
            <p:nvPr/>
          </p:nvSpPr>
          <p:spPr>
            <a:xfrm>
              <a:off x="1408478" y="4423428"/>
              <a:ext cx="4640935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Logical operators</a:t>
              </a:r>
            </a:p>
          </p:txBody>
        </p:sp>
        <p:pic>
          <p:nvPicPr>
            <p:cNvPr id="893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5643444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895" name="Identity operators"/>
            <p:cNvSpPr txBox="1"/>
            <p:nvPr/>
          </p:nvSpPr>
          <p:spPr>
            <a:xfrm>
              <a:off x="1417808" y="5371922"/>
              <a:ext cx="4628260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Identity operators</a:t>
              </a:r>
            </a:p>
          </p:txBody>
        </p:sp>
        <p:pic>
          <p:nvPicPr>
            <p:cNvPr id="896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6563937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898" name="Membership operator"/>
            <p:cNvSpPr txBox="1"/>
            <p:nvPr/>
          </p:nvSpPr>
          <p:spPr>
            <a:xfrm>
              <a:off x="1411983" y="5988503"/>
              <a:ext cx="4630549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Membership operator</a:t>
              </a:r>
            </a:p>
          </p:txBody>
        </p:sp>
        <p:pic>
          <p:nvPicPr>
            <p:cNvPr id="899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7503338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901" name="Bitwise operator"/>
            <p:cNvSpPr txBox="1"/>
            <p:nvPr/>
          </p:nvSpPr>
          <p:spPr>
            <a:xfrm>
              <a:off x="1420888" y="7259626"/>
              <a:ext cx="4620038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Bitwise operator</a:t>
              </a:r>
            </a:p>
          </p:txBody>
        </p:sp>
      </p:grpSp>
      <p:pic>
        <p:nvPicPr>
          <p:cNvPr id="903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98000"/>
          </a:blip>
          <a:stretch>
            <a:fillRect/>
          </a:stretch>
        </p:blipFill>
        <p:spPr>
          <a:xfrm>
            <a:off x="2394224" y="5968957"/>
            <a:ext cx="15022695" cy="6428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04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3239777" y="3766679"/>
            <a:ext cx="5951944" cy="1162197"/>
          </a:xfrm>
          <a:prstGeom prst="rect">
            <a:avLst/>
          </a:prstGeom>
          <a:ln w="12700">
            <a:miter lim="400000"/>
          </a:ln>
        </p:spPr>
      </p:pic>
      <p:sp>
        <p:nvSpPr>
          <p:cNvPr id="905" name="( = )…"/>
          <p:cNvSpPr txBox="1"/>
          <p:nvPr/>
        </p:nvSpPr>
        <p:spPr>
          <a:xfrm>
            <a:off x="8707776" y="5041198"/>
            <a:ext cx="2742820" cy="599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FFFFFF"/>
                </a:solidFill>
              </a:defRPr>
            </a:pPr>
            <a:r>
              <a:rPr dirty="0"/>
              <a:t>             ( = )</a:t>
            </a:r>
          </a:p>
          <a:p>
            <a:pPr>
              <a:lnSpc>
                <a:spcPct val="150000"/>
              </a:lnSpc>
              <a:defRPr sz="3000">
                <a:solidFill>
                  <a:srgbClr val="FFFFFF"/>
                </a:solidFill>
              </a:defRPr>
            </a:pPr>
            <a:r>
              <a:rPr dirty="0"/>
              <a:t>              ( += )</a:t>
            </a:r>
          </a:p>
          <a:p>
            <a:pPr algn="l">
              <a:lnSpc>
                <a:spcPct val="150000"/>
              </a:lnSpc>
              <a:defRPr sz="3000">
                <a:solidFill>
                  <a:srgbClr val="FFFFFF"/>
                </a:solidFill>
              </a:defRPr>
            </a:pPr>
            <a:r>
              <a:rPr dirty="0"/>
              <a:t>                ( -= )</a:t>
            </a:r>
          </a:p>
          <a:p>
            <a:pPr algn="l">
              <a:lnSpc>
                <a:spcPct val="150000"/>
              </a:lnSpc>
              <a:defRPr sz="3000">
                <a:solidFill>
                  <a:srgbClr val="FFFFFF"/>
                </a:solidFill>
              </a:defRPr>
            </a:pPr>
            <a:r>
              <a:rPr dirty="0"/>
              <a:t>                ( *= )</a:t>
            </a:r>
          </a:p>
          <a:p>
            <a:pPr algn="l">
              <a:lnSpc>
                <a:spcPct val="150000"/>
              </a:lnSpc>
              <a:defRPr sz="3000">
                <a:solidFill>
                  <a:srgbClr val="FFFFFF"/>
                </a:solidFill>
              </a:defRPr>
            </a:pPr>
            <a:r>
              <a:rPr dirty="0"/>
              <a:t>                ( /= )</a:t>
            </a:r>
          </a:p>
          <a:p>
            <a:pPr algn="l">
              <a:lnSpc>
                <a:spcPct val="150000"/>
              </a:lnSpc>
              <a:defRPr sz="3000">
                <a:solidFill>
                  <a:srgbClr val="FFFFFF"/>
                </a:solidFill>
              </a:defRPr>
            </a:pPr>
            <a:r>
              <a:rPr dirty="0"/>
              <a:t>              ( %/= )</a:t>
            </a:r>
          </a:p>
          <a:p>
            <a:pPr algn="l">
              <a:lnSpc>
                <a:spcPct val="150000"/>
              </a:lnSpc>
              <a:defRPr sz="3000">
                <a:solidFill>
                  <a:srgbClr val="FFFFFF"/>
                </a:solidFill>
              </a:defRPr>
            </a:pPr>
            <a:r>
              <a:rPr dirty="0"/>
              <a:t>              ( **= )</a:t>
            </a:r>
          </a:p>
          <a:p>
            <a:pPr algn="l">
              <a:lnSpc>
                <a:spcPct val="150000"/>
              </a:lnSpc>
              <a:defRPr sz="3000">
                <a:solidFill>
                  <a:srgbClr val="FFFFFF"/>
                </a:solidFill>
              </a:defRPr>
            </a:pPr>
            <a:r>
              <a:rPr dirty="0"/>
              <a:t>              ( //= )</a:t>
            </a:r>
          </a:p>
        </p:txBody>
      </p:sp>
      <p:pic>
        <p:nvPicPr>
          <p:cNvPr id="906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8710248" y="6035742"/>
            <a:ext cx="13053465" cy="63501"/>
          </a:xfrm>
          <a:prstGeom prst="rect">
            <a:avLst/>
          </a:prstGeom>
        </p:spPr>
      </p:pic>
      <p:pic>
        <p:nvPicPr>
          <p:cNvPr id="908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757387" y="6745516"/>
            <a:ext cx="10606835" cy="63501"/>
          </a:xfrm>
          <a:prstGeom prst="rect">
            <a:avLst/>
          </a:prstGeom>
        </p:spPr>
      </p:pic>
      <p:pic>
        <p:nvPicPr>
          <p:cNvPr id="910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8757387" y="7442249"/>
            <a:ext cx="10606836" cy="63501"/>
          </a:xfrm>
          <a:prstGeom prst="rect">
            <a:avLst/>
          </a:prstGeom>
        </p:spPr>
      </p:pic>
      <p:pic>
        <p:nvPicPr>
          <p:cNvPr id="912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710248" y="8079505"/>
            <a:ext cx="10606835" cy="63501"/>
          </a:xfrm>
          <a:prstGeom prst="rect">
            <a:avLst/>
          </a:prstGeom>
        </p:spPr>
      </p:pic>
      <p:pic>
        <p:nvPicPr>
          <p:cNvPr id="914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757387" y="8769882"/>
            <a:ext cx="10606835" cy="63501"/>
          </a:xfrm>
          <a:prstGeom prst="rect">
            <a:avLst/>
          </a:prstGeom>
        </p:spPr>
      </p:pic>
      <p:pic>
        <p:nvPicPr>
          <p:cNvPr id="916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8757387" y="9497032"/>
            <a:ext cx="10606836" cy="63501"/>
          </a:xfrm>
          <a:prstGeom prst="rect">
            <a:avLst/>
          </a:prstGeom>
        </p:spPr>
      </p:pic>
      <p:pic>
        <p:nvPicPr>
          <p:cNvPr id="918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0434021" y="7918449"/>
            <a:ext cx="5366722" cy="63501"/>
          </a:xfrm>
          <a:prstGeom prst="rect">
            <a:avLst/>
          </a:prstGeom>
        </p:spPr>
      </p:pic>
      <p:pic>
        <p:nvPicPr>
          <p:cNvPr id="920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4392006" y="7893049"/>
            <a:ext cx="5366723" cy="63501"/>
          </a:xfrm>
          <a:prstGeom prst="rect">
            <a:avLst/>
          </a:prstGeom>
        </p:spPr>
      </p:pic>
      <p:sp>
        <p:nvSpPr>
          <p:cNvPr id="922" name="Try to answer —"/>
          <p:cNvSpPr txBox="1"/>
          <p:nvPr/>
        </p:nvSpPr>
        <p:spPr>
          <a:xfrm>
            <a:off x="18025543" y="11449075"/>
            <a:ext cx="2750288" cy="9791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 b="1">
                <a:solidFill>
                  <a:srgbClr val="000000"/>
                </a:solidFill>
              </a:defRPr>
            </a:lvl1pPr>
          </a:lstStyle>
          <a:p>
            <a:r>
              <a:t>Try to answer — </a:t>
            </a:r>
          </a:p>
        </p:txBody>
      </p:sp>
      <p:pic>
        <p:nvPicPr>
          <p:cNvPr id="923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8757387" y="10216746"/>
            <a:ext cx="10606836" cy="63501"/>
          </a:xfrm>
          <a:prstGeom prst="rect">
            <a:avLst/>
          </a:prstGeom>
        </p:spPr>
      </p:pic>
      <p:sp>
        <p:nvSpPr>
          <p:cNvPr id="925" name="x = y"/>
          <p:cNvSpPr txBox="1"/>
          <p:nvPr/>
        </p:nvSpPr>
        <p:spPr>
          <a:xfrm>
            <a:off x="14617838" y="5489841"/>
            <a:ext cx="957073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</a:defRPr>
            </a:lvl1pPr>
          </a:lstStyle>
          <a:p>
            <a:r>
              <a:t>x = y</a:t>
            </a:r>
          </a:p>
        </p:txBody>
      </p:sp>
      <p:sp>
        <p:nvSpPr>
          <p:cNvPr id="926" name="x += y"/>
          <p:cNvSpPr txBox="1"/>
          <p:nvPr/>
        </p:nvSpPr>
        <p:spPr>
          <a:xfrm>
            <a:off x="14503538" y="6114600"/>
            <a:ext cx="1185673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</a:defRPr>
            </a:lvl1pPr>
          </a:lstStyle>
          <a:p>
            <a:r>
              <a:t>x += y</a:t>
            </a:r>
          </a:p>
        </p:txBody>
      </p:sp>
      <p:sp>
        <p:nvSpPr>
          <p:cNvPr id="927" name="x -= y"/>
          <p:cNvSpPr txBox="1"/>
          <p:nvPr/>
        </p:nvSpPr>
        <p:spPr>
          <a:xfrm>
            <a:off x="14540305" y="6802475"/>
            <a:ext cx="1112140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</a:defRPr>
            </a:lvl1pPr>
          </a:lstStyle>
          <a:p>
            <a:r>
              <a:t>x -= y</a:t>
            </a:r>
          </a:p>
        </p:txBody>
      </p:sp>
      <p:sp>
        <p:nvSpPr>
          <p:cNvPr id="928" name="x *= y"/>
          <p:cNvSpPr txBox="1"/>
          <p:nvPr/>
        </p:nvSpPr>
        <p:spPr>
          <a:xfrm>
            <a:off x="14577071" y="7461449"/>
            <a:ext cx="1112140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</a:defRPr>
            </a:lvl1pPr>
          </a:lstStyle>
          <a:p>
            <a:r>
              <a:t>x *= y</a:t>
            </a:r>
          </a:p>
        </p:txBody>
      </p:sp>
      <p:sp>
        <p:nvSpPr>
          <p:cNvPr id="929" name="x /= y"/>
          <p:cNvSpPr txBox="1"/>
          <p:nvPr/>
        </p:nvSpPr>
        <p:spPr>
          <a:xfrm>
            <a:off x="14583929" y="8115666"/>
            <a:ext cx="1098424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</a:defRPr>
            </a:lvl1pPr>
          </a:lstStyle>
          <a:p>
            <a:r>
              <a:t>x /= y</a:t>
            </a:r>
          </a:p>
        </p:txBody>
      </p:sp>
      <p:sp>
        <p:nvSpPr>
          <p:cNvPr id="930" name="x %= y"/>
          <p:cNvSpPr txBox="1"/>
          <p:nvPr/>
        </p:nvSpPr>
        <p:spPr>
          <a:xfrm>
            <a:off x="14498013" y="8820018"/>
            <a:ext cx="1338073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</a:defRPr>
            </a:lvl1pPr>
          </a:lstStyle>
          <a:p>
            <a:r>
              <a:t>x %= y</a:t>
            </a:r>
          </a:p>
        </p:txBody>
      </p:sp>
      <p:sp>
        <p:nvSpPr>
          <p:cNvPr id="931" name="x **= y"/>
          <p:cNvSpPr txBox="1"/>
          <p:nvPr/>
        </p:nvSpPr>
        <p:spPr>
          <a:xfrm>
            <a:off x="14575738" y="9497032"/>
            <a:ext cx="1267207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</a:defRPr>
            </a:lvl1pPr>
          </a:lstStyle>
          <a:p>
            <a:r>
              <a:t>x **= y</a:t>
            </a:r>
          </a:p>
        </p:txBody>
      </p:sp>
      <p:sp>
        <p:nvSpPr>
          <p:cNvPr id="932" name="x //= y"/>
          <p:cNvSpPr txBox="1"/>
          <p:nvPr/>
        </p:nvSpPr>
        <p:spPr>
          <a:xfrm>
            <a:off x="14631554" y="10271193"/>
            <a:ext cx="123977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</a:defRPr>
            </a:lvl1pPr>
          </a:lstStyle>
          <a:p>
            <a:r>
              <a:t>x //= y</a:t>
            </a:r>
          </a:p>
        </p:txBody>
      </p:sp>
      <p:sp>
        <p:nvSpPr>
          <p:cNvPr id="933" name="x = 9 , y = 2"/>
          <p:cNvSpPr txBox="1"/>
          <p:nvPr/>
        </p:nvSpPr>
        <p:spPr>
          <a:xfrm>
            <a:off x="17513360" y="4279707"/>
            <a:ext cx="2258468" cy="572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t>x = 9 , y = 2</a:t>
            </a:r>
          </a:p>
        </p:txBody>
      </p:sp>
      <p:sp>
        <p:nvSpPr>
          <p:cNvPr id="934" name="Allow to assign variables to variables; lets"/>
          <p:cNvSpPr txBox="1"/>
          <p:nvPr/>
        </p:nvSpPr>
        <p:spPr>
          <a:xfrm>
            <a:off x="10205716" y="4292051"/>
            <a:ext cx="7296532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r>
              <a:t>Allow to assign variables to variables; lets 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110134B3-5E63-1806-B5E2-7452D4CB6301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2" grpId="1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8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936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937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939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940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941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942" name="2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29</a:t>
            </a:r>
          </a:p>
        </p:txBody>
      </p:sp>
      <p:sp>
        <p:nvSpPr>
          <p:cNvPr id="944" name="Operators"/>
          <p:cNvSpPr txBox="1"/>
          <p:nvPr/>
        </p:nvSpPr>
        <p:spPr>
          <a:xfrm>
            <a:off x="9242575" y="1413107"/>
            <a:ext cx="317182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pPr>
              <a:defRPr sz="3900" b="0"/>
            </a:pPr>
            <a:r>
              <a:rPr sz="5000" b="1"/>
              <a:t>Operators</a:t>
            </a:r>
          </a:p>
        </p:txBody>
      </p:sp>
      <p:grpSp>
        <p:nvGrpSpPr>
          <p:cNvPr id="971" name="Group"/>
          <p:cNvGrpSpPr/>
          <p:nvPr/>
        </p:nvGrpSpPr>
        <p:grpSpPr>
          <a:xfrm>
            <a:off x="2230515" y="2425300"/>
            <a:ext cx="9005329" cy="8059256"/>
            <a:chOff x="0" y="-63028"/>
            <a:chExt cx="9005328" cy="8059255"/>
          </a:xfrm>
        </p:grpSpPr>
        <p:sp>
          <p:nvSpPr>
            <p:cNvPr id="945" name="In Python,…"/>
            <p:cNvSpPr txBox="1"/>
            <p:nvPr/>
          </p:nvSpPr>
          <p:spPr>
            <a:xfrm>
              <a:off x="0" y="-63029"/>
              <a:ext cx="9005329" cy="1415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lnSpc>
                  <a:spcPct val="120000"/>
                </a:lnSpc>
                <a:defRPr sz="4000" b="1">
                  <a:solidFill>
                    <a:srgbClr val="FFFFFF"/>
                  </a:solidFill>
                </a:defRPr>
              </a:pPr>
              <a:r>
                <a:t>In Python, </a:t>
              </a:r>
            </a:p>
            <a:p>
              <a:pPr algn="l">
                <a:lnSpc>
                  <a:spcPct val="120000"/>
                </a:lnSpc>
                <a:defRPr sz="3100" b="1">
                  <a:solidFill>
                    <a:srgbClr val="FFFFFF"/>
                  </a:solidFill>
                </a:defRPr>
              </a:pPr>
              <a:r>
                <a:rPr sz="3800"/>
                <a:t>Operators</a:t>
              </a:r>
              <a:r>
                <a:t> are divided in the following groups</a:t>
              </a:r>
            </a:p>
          </p:txBody>
        </p:sp>
        <p:pic>
          <p:nvPicPr>
            <p:cNvPr id="946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07" y="1377514"/>
              <a:ext cx="2388818" cy="76201"/>
            </a:xfrm>
            <a:prstGeom prst="rect">
              <a:avLst/>
            </a:prstGeom>
            <a:effectLst/>
          </p:spPr>
        </p:pic>
        <p:pic>
          <p:nvPicPr>
            <p:cNvPr id="948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2169180" y="4484577"/>
              <a:ext cx="6297564" cy="76201"/>
            </a:xfrm>
            <a:prstGeom prst="rect">
              <a:avLst/>
            </a:prstGeom>
            <a:effectLst/>
          </p:spPr>
        </p:pic>
        <p:pic>
          <p:nvPicPr>
            <p:cNvPr id="950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1857605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952" name="Arithmetic operators"/>
            <p:cNvSpPr txBox="1"/>
            <p:nvPr/>
          </p:nvSpPr>
          <p:spPr>
            <a:xfrm>
              <a:off x="1418586" y="1264013"/>
              <a:ext cx="4621600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Arithmetic operators</a:t>
              </a:r>
            </a:p>
          </p:txBody>
        </p:sp>
        <p:pic>
          <p:nvPicPr>
            <p:cNvPr id="953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2824186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955" name="Assignment operators"/>
            <p:cNvSpPr txBox="1"/>
            <p:nvPr/>
          </p:nvSpPr>
          <p:spPr>
            <a:xfrm>
              <a:off x="1416010" y="2248752"/>
              <a:ext cx="4636882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Assignment operators</a:t>
              </a:r>
            </a:p>
          </p:txBody>
        </p:sp>
        <p:pic>
          <p:nvPicPr>
            <p:cNvPr id="956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3768799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958" name="Comparison operators"/>
            <p:cNvSpPr txBox="1"/>
            <p:nvPr/>
          </p:nvSpPr>
          <p:spPr>
            <a:xfrm>
              <a:off x="1149472" y="3498165"/>
              <a:ext cx="5165626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Comparison operators</a:t>
              </a:r>
            </a:p>
          </p:txBody>
        </p:sp>
        <p:pic>
          <p:nvPicPr>
            <p:cNvPr id="959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4694061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961" name="Logical operators"/>
            <p:cNvSpPr txBox="1"/>
            <p:nvPr/>
          </p:nvSpPr>
          <p:spPr>
            <a:xfrm>
              <a:off x="1408478" y="4423428"/>
              <a:ext cx="4640935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Logical operators</a:t>
              </a:r>
            </a:p>
          </p:txBody>
        </p:sp>
        <p:pic>
          <p:nvPicPr>
            <p:cNvPr id="962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5643444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964" name="Identity operators"/>
            <p:cNvSpPr txBox="1"/>
            <p:nvPr/>
          </p:nvSpPr>
          <p:spPr>
            <a:xfrm>
              <a:off x="1417808" y="5371922"/>
              <a:ext cx="4628260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Identity operators</a:t>
              </a:r>
            </a:p>
          </p:txBody>
        </p:sp>
        <p:pic>
          <p:nvPicPr>
            <p:cNvPr id="965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6563937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967" name="Membership operator"/>
            <p:cNvSpPr txBox="1"/>
            <p:nvPr/>
          </p:nvSpPr>
          <p:spPr>
            <a:xfrm>
              <a:off x="1411983" y="5988503"/>
              <a:ext cx="4630549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Membership operator</a:t>
              </a:r>
            </a:p>
          </p:txBody>
        </p:sp>
        <p:pic>
          <p:nvPicPr>
            <p:cNvPr id="968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7503338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970" name="Bitwise operator"/>
            <p:cNvSpPr txBox="1"/>
            <p:nvPr/>
          </p:nvSpPr>
          <p:spPr>
            <a:xfrm>
              <a:off x="1420888" y="7259626"/>
              <a:ext cx="4620038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Bitwise operator</a:t>
              </a:r>
            </a:p>
          </p:txBody>
        </p:sp>
      </p:grpSp>
      <p:pic>
        <p:nvPicPr>
          <p:cNvPr id="972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98000"/>
          </a:blip>
          <a:stretch>
            <a:fillRect/>
          </a:stretch>
        </p:blipFill>
        <p:spPr>
          <a:xfrm>
            <a:off x="2394224" y="6861247"/>
            <a:ext cx="15022695" cy="5536678"/>
          </a:xfrm>
          <a:prstGeom prst="rect">
            <a:avLst/>
          </a:prstGeom>
          <a:ln w="12700">
            <a:miter lim="400000"/>
          </a:ln>
        </p:spPr>
      </p:pic>
      <p:pic>
        <p:nvPicPr>
          <p:cNvPr id="973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3239202" y="3780799"/>
            <a:ext cx="5951944" cy="2208150"/>
          </a:xfrm>
          <a:prstGeom prst="rect">
            <a:avLst/>
          </a:prstGeom>
          <a:ln w="12700">
            <a:miter lim="400000"/>
          </a:ln>
        </p:spPr>
      </p:pic>
      <p:sp>
        <p:nvSpPr>
          <p:cNvPr id="974" name="Equal to ( == )…"/>
          <p:cNvSpPr txBox="1"/>
          <p:nvPr/>
        </p:nvSpPr>
        <p:spPr>
          <a:xfrm>
            <a:off x="9822575" y="5461527"/>
            <a:ext cx="3852673" cy="4630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50000"/>
              </a:lnSpc>
              <a:defRPr sz="3000">
                <a:solidFill>
                  <a:srgbClr val="FFFFFF"/>
                </a:solidFill>
              </a:defRPr>
            </a:pPr>
            <a:r>
              <a:rPr dirty="0"/>
              <a:t>Equal to ( == )</a:t>
            </a:r>
          </a:p>
          <a:p>
            <a:pPr algn="l">
              <a:lnSpc>
                <a:spcPct val="150000"/>
              </a:lnSpc>
              <a:defRPr sz="3000">
                <a:solidFill>
                  <a:srgbClr val="FFFFFF"/>
                </a:solidFill>
              </a:defRPr>
            </a:pPr>
            <a:r>
              <a:rPr dirty="0"/>
              <a:t>Not equal to ( != )</a:t>
            </a:r>
          </a:p>
          <a:p>
            <a:pPr algn="l">
              <a:lnSpc>
                <a:spcPct val="150000"/>
              </a:lnSpc>
              <a:defRPr sz="3000">
                <a:solidFill>
                  <a:srgbClr val="FFFFFF"/>
                </a:solidFill>
              </a:defRPr>
            </a:pPr>
            <a:r>
              <a:rPr dirty="0"/>
              <a:t>Greater than ( &gt; )</a:t>
            </a:r>
          </a:p>
          <a:p>
            <a:pPr algn="l">
              <a:lnSpc>
                <a:spcPct val="150000"/>
              </a:lnSpc>
              <a:defRPr sz="3000">
                <a:solidFill>
                  <a:srgbClr val="FFFFFF"/>
                </a:solidFill>
              </a:defRPr>
            </a:pPr>
            <a:r>
              <a:rPr dirty="0"/>
              <a:t>Smaller than ( &lt; )</a:t>
            </a:r>
          </a:p>
          <a:p>
            <a:pPr algn="l">
              <a:lnSpc>
                <a:spcPct val="150000"/>
              </a:lnSpc>
              <a:defRPr sz="3000">
                <a:solidFill>
                  <a:srgbClr val="FFFFFF"/>
                </a:solidFill>
              </a:defRPr>
            </a:pPr>
            <a:r>
              <a:rPr dirty="0"/>
              <a:t>Greater or equal ( &gt;= )</a:t>
            </a:r>
          </a:p>
          <a:p>
            <a:pPr algn="l">
              <a:lnSpc>
                <a:spcPct val="150000"/>
              </a:lnSpc>
              <a:defRPr sz="3000">
                <a:solidFill>
                  <a:srgbClr val="FFFFFF"/>
                </a:solidFill>
              </a:defRPr>
            </a:pPr>
            <a:r>
              <a:rPr dirty="0"/>
              <a:t>Smaller or equal ( &lt;= )</a:t>
            </a:r>
          </a:p>
        </p:txBody>
      </p:sp>
      <p:pic>
        <p:nvPicPr>
          <p:cNvPr id="975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9446848" y="6467542"/>
            <a:ext cx="10701114" cy="63501"/>
          </a:xfrm>
          <a:prstGeom prst="rect">
            <a:avLst/>
          </a:prstGeom>
        </p:spPr>
      </p:pic>
      <p:pic>
        <p:nvPicPr>
          <p:cNvPr id="977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9493987" y="7177316"/>
            <a:ext cx="10606835" cy="63501"/>
          </a:xfrm>
          <a:prstGeom prst="rect">
            <a:avLst/>
          </a:prstGeom>
        </p:spPr>
      </p:pic>
      <p:pic>
        <p:nvPicPr>
          <p:cNvPr id="979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9493987" y="7874049"/>
            <a:ext cx="10606836" cy="63501"/>
          </a:xfrm>
          <a:prstGeom prst="rect">
            <a:avLst/>
          </a:prstGeom>
        </p:spPr>
      </p:pic>
      <p:pic>
        <p:nvPicPr>
          <p:cNvPr id="981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9446848" y="8511305"/>
            <a:ext cx="10606835" cy="63501"/>
          </a:xfrm>
          <a:prstGeom prst="rect">
            <a:avLst/>
          </a:prstGeom>
        </p:spPr>
      </p:pic>
      <p:pic>
        <p:nvPicPr>
          <p:cNvPr id="983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9493987" y="9201682"/>
            <a:ext cx="10606835" cy="63501"/>
          </a:xfrm>
          <a:prstGeom prst="rect">
            <a:avLst/>
          </a:prstGeom>
        </p:spPr>
      </p:pic>
      <p:pic>
        <p:nvPicPr>
          <p:cNvPr id="985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9493987" y="9928832"/>
            <a:ext cx="10606836" cy="63501"/>
          </a:xfrm>
          <a:prstGeom prst="rect">
            <a:avLst/>
          </a:prstGeom>
        </p:spPr>
      </p:pic>
      <p:pic>
        <p:nvPicPr>
          <p:cNvPr id="987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1170621" y="8350249"/>
            <a:ext cx="5366722" cy="63501"/>
          </a:xfrm>
          <a:prstGeom prst="rect">
            <a:avLst/>
          </a:prstGeom>
        </p:spPr>
      </p:pic>
      <p:sp>
        <p:nvSpPr>
          <p:cNvPr id="989" name="x = 9 , y = 2"/>
          <p:cNvSpPr txBox="1"/>
          <p:nvPr/>
        </p:nvSpPr>
        <p:spPr>
          <a:xfrm>
            <a:off x="18965281" y="4279707"/>
            <a:ext cx="2258467" cy="572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t>x = 9 , y = 2</a:t>
            </a:r>
          </a:p>
        </p:txBody>
      </p:sp>
      <p:pic>
        <p:nvPicPr>
          <p:cNvPr id="990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5128606" y="8324849"/>
            <a:ext cx="5366723" cy="63501"/>
          </a:xfrm>
          <a:prstGeom prst="rect">
            <a:avLst/>
          </a:prstGeom>
        </p:spPr>
      </p:pic>
      <p:sp>
        <p:nvSpPr>
          <p:cNvPr id="992" name="Try to answer —"/>
          <p:cNvSpPr txBox="1"/>
          <p:nvPr/>
        </p:nvSpPr>
        <p:spPr>
          <a:xfrm>
            <a:off x="18096434" y="10990503"/>
            <a:ext cx="2750287" cy="9791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 b="1">
                <a:solidFill>
                  <a:srgbClr val="000000"/>
                </a:solidFill>
              </a:defRPr>
            </a:lvl1pPr>
          </a:lstStyle>
          <a:p>
            <a:r>
              <a:t>Try to answer — </a:t>
            </a:r>
          </a:p>
        </p:txBody>
      </p:sp>
      <p:sp>
        <p:nvSpPr>
          <p:cNvPr id="993" name="x == y"/>
          <p:cNvSpPr txBox="1"/>
          <p:nvPr/>
        </p:nvSpPr>
        <p:spPr>
          <a:xfrm>
            <a:off x="15240138" y="5921641"/>
            <a:ext cx="1185673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</a:defRPr>
            </a:lvl1pPr>
          </a:lstStyle>
          <a:p>
            <a:r>
              <a:t>x == y</a:t>
            </a:r>
          </a:p>
        </p:txBody>
      </p:sp>
      <p:sp>
        <p:nvSpPr>
          <p:cNvPr id="994" name="x != y"/>
          <p:cNvSpPr txBox="1"/>
          <p:nvPr/>
        </p:nvSpPr>
        <p:spPr>
          <a:xfrm>
            <a:off x="15301479" y="6573955"/>
            <a:ext cx="1062991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</a:defRPr>
            </a:lvl1pPr>
          </a:lstStyle>
          <a:p>
            <a:r>
              <a:t>x != y</a:t>
            </a:r>
          </a:p>
        </p:txBody>
      </p:sp>
      <p:sp>
        <p:nvSpPr>
          <p:cNvPr id="995" name="x &gt; y"/>
          <p:cNvSpPr txBox="1"/>
          <p:nvPr/>
        </p:nvSpPr>
        <p:spPr>
          <a:xfrm>
            <a:off x="15354438" y="7279049"/>
            <a:ext cx="957073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</a:defRPr>
            </a:lvl1pPr>
          </a:lstStyle>
          <a:p>
            <a:r>
              <a:t>x &gt; y</a:t>
            </a:r>
          </a:p>
        </p:txBody>
      </p:sp>
      <p:sp>
        <p:nvSpPr>
          <p:cNvPr id="996" name="x &lt; y"/>
          <p:cNvSpPr txBox="1"/>
          <p:nvPr/>
        </p:nvSpPr>
        <p:spPr>
          <a:xfrm>
            <a:off x="15407398" y="7895177"/>
            <a:ext cx="957073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</a:defRPr>
            </a:lvl1pPr>
          </a:lstStyle>
          <a:p>
            <a:r>
              <a:t>x &lt; y</a:t>
            </a:r>
          </a:p>
        </p:txBody>
      </p:sp>
      <p:sp>
        <p:nvSpPr>
          <p:cNvPr id="997" name="x &gt;= y"/>
          <p:cNvSpPr txBox="1"/>
          <p:nvPr/>
        </p:nvSpPr>
        <p:spPr>
          <a:xfrm>
            <a:off x="15293098" y="8548429"/>
            <a:ext cx="1185673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</a:defRPr>
            </a:lvl1pPr>
          </a:lstStyle>
          <a:p>
            <a:r>
              <a:t>x &gt;= y</a:t>
            </a:r>
          </a:p>
        </p:txBody>
      </p:sp>
      <p:sp>
        <p:nvSpPr>
          <p:cNvPr id="998" name="x &lt;= y"/>
          <p:cNvSpPr txBox="1"/>
          <p:nvPr/>
        </p:nvSpPr>
        <p:spPr>
          <a:xfrm>
            <a:off x="15293098" y="9251818"/>
            <a:ext cx="1185673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rgbClr val="FFFFFF"/>
                </a:solidFill>
              </a:defRPr>
            </a:lvl1pPr>
          </a:lstStyle>
          <a:p>
            <a:r>
              <a:t>x &lt;= y</a:t>
            </a:r>
          </a:p>
        </p:txBody>
      </p:sp>
      <p:sp>
        <p:nvSpPr>
          <p:cNvPr id="999" name="Comparison operators allow to compare two operands; lets"/>
          <p:cNvSpPr txBox="1"/>
          <p:nvPr/>
        </p:nvSpPr>
        <p:spPr>
          <a:xfrm>
            <a:off x="8681145" y="4292051"/>
            <a:ext cx="10345675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r>
              <a:t>Comparison operators allow to compare two operands; lets 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A5DFAA08-78C8-6BDA-49DE-2B44F9FB83A3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1" grpId="1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1001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1002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004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1005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1006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1007" name="2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29</a:t>
            </a:r>
          </a:p>
        </p:txBody>
      </p:sp>
      <p:sp>
        <p:nvSpPr>
          <p:cNvPr id="1009" name="Operators"/>
          <p:cNvSpPr txBox="1"/>
          <p:nvPr/>
        </p:nvSpPr>
        <p:spPr>
          <a:xfrm>
            <a:off x="9242575" y="1413107"/>
            <a:ext cx="317182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pPr>
              <a:defRPr sz="3900" b="0"/>
            </a:pPr>
            <a:r>
              <a:rPr sz="5000" b="1"/>
              <a:t>Operators</a:t>
            </a:r>
          </a:p>
        </p:txBody>
      </p:sp>
      <p:grpSp>
        <p:nvGrpSpPr>
          <p:cNvPr id="1036" name="Group"/>
          <p:cNvGrpSpPr/>
          <p:nvPr/>
        </p:nvGrpSpPr>
        <p:grpSpPr>
          <a:xfrm>
            <a:off x="2230515" y="2425300"/>
            <a:ext cx="9005329" cy="8059256"/>
            <a:chOff x="0" y="-63028"/>
            <a:chExt cx="9005328" cy="8059255"/>
          </a:xfrm>
        </p:grpSpPr>
        <p:sp>
          <p:nvSpPr>
            <p:cNvPr id="1010" name="In Python,…"/>
            <p:cNvSpPr txBox="1"/>
            <p:nvPr/>
          </p:nvSpPr>
          <p:spPr>
            <a:xfrm>
              <a:off x="0" y="-63029"/>
              <a:ext cx="9005329" cy="1415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lnSpc>
                  <a:spcPct val="120000"/>
                </a:lnSpc>
                <a:defRPr sz="4000" b="1">
                  <a:solidFill>
                    <a:srgbClr val="FFFFFF"/>
                  </a:solidFill>
                </a:defRPr>
              </a:pPr>
              <a:r>
                <a:t>In Python, </a:t>
              </a:r>
            </a:p>
            <a:p>
              <a:pPr algn="l">
                <a:lnSpc>
                  <a:spcPct val="120000"/>
                </a:lnSpc>
                <a:defRPr sz="3100" b="1">
                  <a:solidFill>
                    <a:srgbClr val="FFFFFF"/>
                  </a:solidFill>
                </a:defRPr>
              </a:pPr>
              <a:r>
                <a:rPr sz="3800"/>
                <a:t>Operators</a:t>
              </a:r>
              <a:r>
                <a:t> are divided in the following groups</a:t>
              </a:r>
            </a:p>
          </p:txBody>
        </p:sp>
        <p:pic>
          <p:nvPicPr>
            <p:cNvPr id="1011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07" y="1377514"/>
              <a:ext cx="2388818" cy="76201"/>
            </a:xfrm>
            <a:prstGeom prst="rect">
              <a:avLst/>
            </a:prstGeom>
            <a:effectLst/>
          </p:spPr>
        </p:pic>
        <p:pic>
          <p:nvPicPr>
            <p:cNvPr id="1013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2169180" y="4484577"/>
              <a:ext cx="6297564" cy="76201"/>
            </a:xfrm>
            <a:prstGeom prst="rect">
              <a:avLst/>
            </a:prstGeom>
            <a:effectLst/>
          </p:spPr>
        </p:pic>
        <p:pic>
          <p:nvPicPr>
            <p:cNvPr id="1015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1857605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1017" name="Arithmetic operators"/>
            <p:cNvSpPr txBox="1"/>
            <p:nvPr/>
          </p:nvSpPr>
          <p:spPr>
            <a:xfrm>
              <a:off x="1418586" y="1264013"/>
              <a:ext cx="4621600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Arithmetic operators</a:t>
              </a:r>
            </a:p>
          </p:txBody>
        </p:sp>
        <p:pic>
          <p:nvPicPr>
            <p:cNvPr id="1018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2824186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1020" name="Assignment operators"/>
            <p:cNvSpPr txBox="1"/>
            <p:nvPr/>
          </p:nvSpPr>
          <p:spPr>
            <a:xfrm>
              <a:off x="1416010" y="2248752"/>
              <a:ext cx="4636882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Assignment operators</a:t>
              </a:r>
            </a:p>
          </p:txBody>
        </p:sp>
        <p:pic>
          <p:nvPicPr>
            <p:cNvPr id="1021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3768799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1023" name="Comparison operators"/>
            <p:cNvSpPr txBox="1"/>
            <p:nvPr/>
          </p:nvSpPr>
          <p:spPr>
            <a:xfrm>
              <a:off x="1149472" y="3498165"/>
              <a:ext cx="5165626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Comparison operators</a:t>
              </a:r>
            </a:p>
          </p:txBody>
        </p:sp>
        <p:pic>
          <p:nvPicPr>
            <p:cNvPr id="1024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4694061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1026" name="Logical operators"/>
            <p:cNvSpPr txBox="1"/>
            <p:nvPr/>
          </p:nvSpPr>
          <p:spPr>
            <a:xfrm>
              <a:off x="1408478" y="4423428"/>
              <a:ext cx="4640935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Logical operators</a:t>
              </a:r>
            </a:p>
          </p:txBody>
        </p:sp>
        <p:pic>
          <p:nvPicPr>
            <p:cNvPr id="1027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5643444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1029" name="Identity operators"/>
            <p:cNvSpPr txBox="1"/>
            <p:nvPr/>
          </p:nvSpPr>
          <p:spPr>
            <a:xfrm>
              <a:off x="1417808" y="5371922"/>
              <a:ext cx="4628260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Identity operators</a:t>
              </a:r>
            </a:p>
          </p:txBody>
        </p:sp>
        <p:pic>
          <p:nvPicPr>
            <p:cNvPr id="1030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6563937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1032" name="Membership operator"/>
            <p:cNvSpPr txBox="1"/>
            <p:nvPr/>
          </p:nvSpPr>
          <p:spPr>
            <a:xfrm>
              <a:off x="1411983" y="5988503"/>
              <a:ext cx="4630549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Membership operator</a:t>
              </a:r>
            </a:p>
          </p:txBody>
        </p:sp>
        <p:pic>
          <p:nvPicPr>
            <p:cNvPr id="1033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7503338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1035" name="Bitwise operator"/>
            <p:cNvSpPr txBox="1"/>
            <p:nvPr/>
          </p:nvSpPr>
          <p:spPr>
            <a:xfrm>
              <a:off x="1420888" y="7259626"/>
              <a:ext cx="4620038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Bitwise operator</a:t>
              </a:r>
            </a:p>
          </p:txBody>
        </p:sp>
      </p:grpSp>
      <p:pic>
        <p:nvPicPr>
          <p:cNvPr id="1037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98000"/>
          </a:blip>
          <a:stretch>
            <a:fillRect/>
          </a:stretch>
        </p:blipFill>
        <p:spPr>
          <a:xfrm>
            <a:off x="2394224" y="7833835"/>
            <a:ext cx="15022695" cy="456409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8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3239202" y="3771553"/>
            <a:ext cx="5951944" cy="3016752"/>
          </a:xfrm>
          <a:prstGeom prst="rect">
            <a:avLst/>
          </a:prstGeom>
          <a:ln w="12700">
            <a:miter lim="400000"/>
          </a:ln>
        </p:spPr>
      </p:pic>
      <p:sp>
        <p:nvSpPr>
          <p:cNvPr id="1039" name="x = 9 , y = 2"/>
          <p:cNvSpPr txBox="1"/>
          <p:nvPr/>
        </p:nvSpPr>
        <p:spPr>
          <a:xfrm>
            <a:off x="17695281" y="4279707"/>
            <a:ext cx="2258467" cy="572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t>x = 9 , y = 2</a:t>
            </a:r>
          </a:p>
        </p:txBody>
      </p:sp>
      <p:sp>
        <p:nvSpPr>
          <p:cNvPr id="1040" name="Allow to combine multiple conditional statement :"/>
          <p:cNvSpPr txBox="1"/>
          <p:nvPr/>
        </p:nvSpPr>
        <p:spPr>
          <a:xfrm>
            <a:off x="9167894" y="4292051"/>
            <a:ext cx="861136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r>
              <a:t>Allow to combine multiple conditional statement : </a:t>
            </a:r>
          </a:p>
        </p:txBody>
      </p:sp>
      <p:pic>
        <p:nvPicPr>
          <p:cNvPr id="1041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8729499" y="6467542"/>
            <a:ext cx="12646032" cy="63501"/>
          </a:xfrm>
          <a:prstGeom prst="rect">
            <a:avLst/>
          </a:prstGeom>
        </p:spPr>
      </p:pic>
      <p:pic>
        <p:nvPicPr>
          <p:cNvPr id="1043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776638" y="7177316"/>
            <a:ext cx="12551753" cy="63501"/>
          </a:xfrm>
          <a:prstGeom prst="rect">
            <a:avLst/>
          </a:prstGeom>
        </p:spPr>
      </p:pic>
      <p:pic>
        <p:nvPicPr>
          <p:cNvPr id="1045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8776637" y="7874049"/>
            <a:ext cx="12551757" cy="63501"/>
          </a:xfrm>
          <a:prstGeom prst="rect">
            <a:avLst/>
          </a:prstGeom>
        </p:spPr>
      </p:pic>
      <p:pic>
        <p:nvPicPr>
          <p:cNvPr id="1047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8823777" y="9093815"/>
            <a:ext cx="12457476" cy="63501"/>
          </a:xfrm>
          <a:prstGeom prst="rect">
            <a:avLst/>
          </a:prstGeom>
        </p:spPr>
      </p:pic>
      <p:pic>
        <p:nvPicPr>
          <p:cNvPr id="1049" name="Line Line" descr="Line Line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8452139" y="7684579"/>
            <a:ext cx="3578895" cy="63501"/>
          </a:xfrm>
          <a:prstGeom prst="rect">
            <a:avLst/>
          </a:prstGeom>
        </p:spPr>
      </p:pic>
      <p:pic>
        <p:nvPicPr>
          <p:cNvPr id="1051" name="Line Line" descr="Line Line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12362988" y="7636369"/>
            <a:ext cx="3629695" cy="63501"/>
          </a:xfrm>
          <a:prstGeom prst="rect">
            <a:avLst/>
          </a:prstGeom>
        </p:spPr>
      </p:pic>
      <p:sp>
        <p:nvSpPr>
          <p:cNvPr id="1053" name="and"/>
          <p:cNvSpPr txBox="1"/>
          <p:nvPr/>
        </p:nvSpPr>
        <p:spPr>
          <a:xfrm>
            <a:off x="9224408" y="6571541"/>
            <a:ext cx="791719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rPr dirty="0">
                <a:solidFill>
                  <a:srgbClr val="FFFF00"/>
                </a:solidFill>
              </a:rPr>
              <a:t>and</a:t>
            </a:r>
          </a:p>
        </p:txBody>
      </p:sp>
      <p:sp>
        <p:nvSpPr>
          <p:cNvPr id="1054" name="or"/>
          <p:cNvSpPr txBox="1"/>
          <p:nvPr/>
        </p:nvSpPr>
        <p:spPr>
          <a:xfrm>
            <a:off x="9372617" y="7222795"/>
            <a:ext cx="495301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rPr dirty="0">
                <a:solidFill>
                  <a:srgbClr val="FFFF00"/>
                </a:solidFill>
              </a:rPr>
              <a:t>or</a:t>
            </a:r>
          </a:p>
        </p:txBody>
      </p:sp>
      <p:sp>
        <p:nvSpPr>
          <p:cNvPr id="1055" name="not"/>
          <p:cNvSpPr txBox="1"/>
          <p:nvPr/>
        </p:nvSpPr>
        <p:spPr>
          <a:xfrm>
            <a:off x="9266699" y="8128392"/>
            <a:ext cx="707137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rPr dirty="0">
                <a:solidFill>
                  <a:srgbClr val="FFFF00"/>
                </a:solidFill>
              </a:rPr>
              <a:t>not</a:t>
            </a:r>
          </a:p>
        </p:txBody>
      </p:sp>
      <p:sp>
        <p:nvSpPr>
          <p:cNvPr id="1056" name="Both statements should true to return True"/>
          <p:cNvSpPr txBox="1"/>
          <p:nvPr/>
        </p:nvSpPr>
        <p:spPr>
          <a:xfrm>
            <a:off x="14266461" y="6596457"/>
            <a:ext cx="7364985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Both statements should true </a:t>
            </a:r>
            <a:r>
              <a:rPr i="1" dirty="0"/>
              <a:t>to return True</a:t>
            </a:r>
          </a:p>
        </p:txBody>
      </p:sp>
      <p:sp>
        <p:nvSpPr>
          <p:cNvPr id="1057" name="x &gt; 5 and y &lt; 4"/>
          <p:cNvSpPr txBox="1"/>
          <p:nvPr/>
        </p:nvSpPr>
        <p:spPr>
          <a:xfrm>
            <a:off x="10386459" y="6571541"/>
            <a:ext cx="2710435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rPr dirty="0">
                <a:solidFill>
                  <a:srgbClr val="FFFF00"/>
                </a:solidFill>
              </a:rPr>
              <a:t>x &gt; 5 and y &lt; 4</a:t>
            </a:r>
          </a:p>
        </p:txBody>
      </p:sp>
      <p:sp>
        <p:nvSpPr>
          <p:cNvPr id="1058" name="x &gt; 5 or y &lt; 2"/>
          <p:cNvSpPr txBox="1"/>
          <p:nvPr/>
        </p:nvSpPr>
        <p:spPr>
          <a:xfrm>
            <a:off x="10533491" y="7248195"/>
            <a:ext cx="2414017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rPr dirty="0">
                <a:solidFill>
                  <a:srgbClr val="FFFF00"/>
                </a:solidFill>
              </a:rPr>
              <a:t>x &gt; 5 or y &lt; 2</a:t>
            </a:r>
          </a:p>
        </p:txBody>
      </p:sp>
      <p:sp>
        <p:nvSpPr>
          <p:cNvPr id="1059" name="If one of the statements is true, return True"/>
          <p:cNvSpPr txBox="1"/>
          <p:nvPr/>
        </p:nvSpPr>
        <p:spPr>
          <a:xfrm>
            <a:off x="14253659" y="7260158"/>
            <a:ext cx="7390588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If one of the statements is true, </a:t>
            </a:r>
            <a:r>
              <a:rPr i="1" dirty="0"/>
              <a:t>return True</a:t>
            </a:r>
          </a:p>
        </p:txBody>
      </p:sp>
      <p:sp>
        <p:nvSpPr>
          <p:cNvPr id="1060" name="not (result)…"/>
          <p:cNvSpPr txBox="1"/>
          <p:nvPr/>
        </p:nvSpPr>
        <p:spPr>
          <a:xfrm>
            <a:off x="10393220" y="7885856"/>
            <a:ext cx="3589124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rPr dirty="0">
                <a:solidFill>
                  <a:srgbClr val="FFFF00"/>
                </a:solidFill>
              </a:rPr>
              <a:t>not (result)</a:t>
            </a:r>
          </a:p>
          <a:p>
            <a: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rPr dirty="0">
                <a:solidFill>
                  <a:srgbClr val="FFFF00"/>
                </a:solidFill>
              </a:rPr>
              <a:t>not(x &gt; 5 and y &lt; 4)</a:t>
            </a:r>
          </a:p>
        </p:txBody>
      </p:sp>
      <p:sp>
        <p:nvSpPr>
          <p:cNvPr id="1061" name="Reverse the state of result:…"/>
          <p:cNvSpPr txBox="1"/>
          <p:nvPr/>
        </p:nvSpPr>
        <p:spPr>
          <a:xfrm>
            <a:off x="15455938" y="8002955"/>
            <a:ext cx="4770883" cy="954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Reverse the state of result: 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False-&gt;Ture, True-&gt;False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8CFB60A4-35F6-79C6-11AA-BADED9A6B424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" grpId="1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5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1063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1064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066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1067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1068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1069" name="2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29</a:t>
            </a:r>
          </a:p>
        </p:txBody>
      </p:sp>
      <p:sp>
        <p:nvSpPr>
          <p:cNvPr id="1071" name="Operators"/>
          <p:cNvSpPr txBox="1"/>
          <p:nvPr/>
        </p:nvSpPr>
        <p:spPr>
          <a:xfrm>
            <a:off x="9242575" y="1413107"/>
            <a:ext cx="317182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pPr>
              <a:defRPr sz="3900" b="0"/>
            </a:pPr>
            <a:r>
              <a:rPr sz="5000" b="1"/>
              <a:t>Operators</a:t>
            </a:r>
          </a:p>
        </p:txBody>
      </p:sp>
      <p:grpSp>
        <p:nvGrpSpPr>
          <p:cNvPr id="1098" name="Group"/>
          <p:cNvGrpSpPr/>
          <p:nvPr/>
        </p:nvGrpSpPr>
        <p:grpSpPr>
          <a:xfrm>
            <a:off x="2230515" y="2425300"/>
            <a:ext cx="9005329" cy="8059256"/>
            <a:chOff x="0" y="-63028"/>
            <a:chExt cx="9005328" cy="8059255"/>
          </a:xfrm>
        </p:grpSpPr>
        <p:sp>
          <p:nvSpPr>
            <p:cNvPr id="1072" name="In Python,…"/>
            <p:cNvSpPr txBox="1"/>
            <p:nvPr/>
          </p:nvSpPr>
          <p:spPr>
            <a:xfrm>
              <a:off x="0" y="-63029"/>
              <a:ext cx="9005329" cy="1415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lnSpc>
                  <a:spcPct val="120000"/>
                </a:lnSpc>
                <a:defRPr sz="4000" b="1">
                  <a:solidFill>
                    <a:srgbClr val="FFFFFF"/>
                  </a:solidFill>
                </a:defRPr>
              </a:pPr>
              <a:r>
                <a:t>In Python, </a:t>
              </a:r>
            </a:p>
            <a:p>
              <a:pPr algn="l">
                <a:lnSpc>
                  <a:spcPct val="120000"/>
                </a:lnSpc>
                <a:defRPr sz="3100" b="1">
                  <a:solidFill>
                    <a:srgbClr val="FFFFFF"/>
                  </a:solidFill>
                </a:defRPr>
              </a:pPr>
              <a:r>
                <a:rPr sz="3800"/>
                <a:t>Operators</a:t>
              </a:r>
              <a:r>
                <a:t> are divided in the following groups</a:t>
              </a:r>
            </a:p>
          </p:txBody>
        </p:sp>
        <p:pic>
          <p:nvPicPr>
            <p:cNvPr id="1073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07" y="1377514"/>
              <a:ext cx="2388818" cy="76201"/>
            </a:xfrm>
            <a:prstGeom prst="rect">
              <a:avLst/>
            </a:prstGeom>
            <a:effectLst/>
          </p:spPr>
        </p:pic>
        <p:pic>
          <p:nvPicPr>
            <p:cNvPr id="1075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2169180" y="4484577"/>
              <a:ext cx="6297564" cy="76201"/>
            </a:xfrm>
            <a:prstGeom prst="rect">
              <a:avLst/>
            </a:prstGeom>
            <a:effectLst/>
          </p:spPr>
        </p:pic>
        <p:pic>
          <p:nvPicPr>
            <p:cNvPr id="1077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1857605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1079" name="Arithmetic operators"/>
            <p:cNvSpPr txBox="1"/>
            <p:nvPr/>
          </p:nvSpPr>
          <p:spPr>
            <a:xfrm>
              <a:off x="1418586" y="1264013"/>
              <a:ext cx="4621600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Arithmetic operators</a:t>
              </a:r>
            </a:p>
          </p:txBody>
        </p:sp>
        <p:pic>
          <p:nvPicPr>
            <p:cNvPr id="1080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2824186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1082" name="Assignment operators"/>
            <p:cNvSpPr txBox="1"/>
            <p:nvPr/>
          </p:nvSpPr>
          <p:spPr>
            <a:xfrm>
              <a:off x="1416010" y="2248752"/>
              <a:ext cx="4636882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Assignment operators</a:t>
              </a:r>
            </a:p>
          </p:txBody>
        </p:sp>
        <p:pic>
          <p:nvPicPr>
            <p:cNvPr id="1083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3768799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1085" name="Comparison operators"/>
            <p:cNvSpPr txBox="1"/>
            <p:nvPr/>
          </p:nvSpPr>
          <p:spPr>
            <a:xfrm>
              <a:off x="1149472" y="3498165"/>
              <a:ext cx="5165626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Comparison operators</a:t>
              </a:r>
            </a:p>
          </p:txBody>
        </p:sp>
        <p:pic>
          <p:nvPicPr>
            <p:cNvPr id="1086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4694061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1088" name="Logical operators"/>
            <p:cNvSpPr txBox="1"/>
            <p:nvPr/>
          </p:nvSpPr>
          <p:spPr>
            <a:xfrm>
              <a:off x="1408478" y="4423428"/>
              <a:ext cx="4640935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Logical operators</a:t>
              </a:r>
            </a:p>
          </p:txBody>
        </p:sp>
        <p:pic>
          <p:nvPicPr>
            <p:cNvPr id="1089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5643444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1091" name="Identity operators"/>
            <p:cNvSpPr txBox="1"/>
            <p:nvPr/>
          </p:nvSpPr>
          <p:spPr>
            <a:xfrm>
              <a:off x="1417808" y="5371922"/>
              <a:ext cx="4628260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Identity operators</a:t>
              </a:r>
            </a:p>
          </p:txBody>
        </p:sp>
        <p:pic>
          <p:nvPicPr>
            <p:cNvPr id="1092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6563937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1094" name="Membership operator"/>
            <p:cNvSpPr txBox="1"/>
            <p:nvPr/>
          </p:nvSpPr>
          <p:spPr>
            <a:xfrm>
              <a:off x="1411983" y="5988503"/>
              <a:ext cx="4630549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Membership operator</a:t>
              </a:r>
            </a:p>
          </p:txBody>
        </p:sp>
        <p:pic>
          <p:nvPicPr>
            <p:cNvPr id="1095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7503338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1097" name="Bitwise operator"/>
            <p:cNvSpPr txBox="1"/>
            <p:nvPr/>
          </p:nvSpPr>
          <p:spPr>
            <a:xfrm>
              <a:off x="1420888" y="7259626"/>
              <a:ext cx="4620038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Bitwise operator</a:t>
              </a:r>
            </a:p>
          </p:txBody>
        </p:sp>
      </p:grpSp>
      <p:pic>
        <p:nvPicPr>
          <p:cNvPr id="1099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98000"/>
          </a:blip>
          <a:stretch>
            <a:fillRect/>
          </a:stretch>
        </p:blipFill>
        <p:spPr>
          <a:xfrm>
            <a:off x="2394224" y="8754414"/>
            <a:ext cx="15022695" cy="36435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0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3239202" y="3752341"/>
            <a:ext cx="5951944" cy="4059773"/>
          </a:xfrm>
          <a:prstGeom prst="rect">
            <a:avLst/>
          </a:prstGeom>
          <a:ln w="12700">
            <a:miter lim="400000"/>
          </a:ln>
        </p:spPr>
      </p:pic>
      <p:sp>
        <p:nvSpPr>
          <p:cNvPr id="1101" name="Allow to compare the memory location of objects :"/>
          <p:cNvSpPr txBox="1"/>
          <p:nvPr/>
        </p:nvSpPr>
        <p:spPr>
          <a:xfrm>
            <a:off x="9038164" y="4285893"/>
            <a:ext cx="8870824" cy="56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000">
                <a:solidFill>
                  <a:srgbClr val="FFFFFF"/>
                </a:solidFill>
              </a:defRPr>
            </a:pPr>
            <a:r>
              <a:rPr dirty="0"/>
              <a:t>Allow to </a:t>
            </a:r>
            <a:r>
              <a:rPr i="1" dirty="0">
                <a:solidFill>
                  <a:srgbClr val="FFFF00"/>
                </a:solidFill>
              </a:rPr>
              <a:t>compare the memory location</a:t>
            </a:r>
            <a:r>
              <a:rPr dirty="0"/>
              <a:t> of </a:t>
            </a:r>
            <a:r>
              <a:rPr b="1" dirty="0">
                <a:solidFill>
                  <a:srgbClr val="FFFF00"/>
                </a:solidFill>
              </a:rPr>
              <a:t>objects</a:t>
            </a:r>
            <a:r>
              <a:rPr dirty="0"/>
              <a:t> : </a:t>
            </a:r>
          </a:p>
        </p:txBody>
      </p:sp>
      <p:pic>
        <p:nvPicPr>
          <p:cNvPr id="1102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8729499" y="6414496"/>
            <a:ext cx="12646032" cy="63501"/>
          </a:xfrm>
          <a:prstGeom prst="rect">
            <a:avLst/>
          </a:prstGeom>
        </p:spPr>
      </p:pic>
      <p:pic>
        <p:nvPicPr>
          <p:cNvPr id="1104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776638" y="7584455"/>
            <a:ext cx="12551753" cy="63501"/>
          </a:xfrm>
          <a:prstGeom prst="rect">
            <a:avLst/>
          </a:prstGeom>
        </p:spPr>
      </p:pic>
      <p:pic>
        <p:nvPicPr>
          <p:cNvPr id="1106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27841" y="7636369"/>
            <a:ext cx="3578894" cy="63501"/>
          </a:xfrm>
          <a:prstGeom prst="rect">
            <a:avLst/>
          </a:prstGeom>
        </p:spPr>
      </p:pic>
      <p:pic>
        <p:nvPicPr>
          <p:cNvPr id="1108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0500715" y="7636369"/>
            <a:ext cx="3629694" cy="63501"/>
          </a:xfrm>
          <a:prstGeom prst="rect">
            <a:avLst/>
          </a:prstGeom>
        </p:spPr>
      </p:pic>
      <p:pic>
        <p:nvPicPr>
          <p:cNvPr id="1110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776638" y="8928753"/>
            <a:ext cx="12551753" cy="63501"/>
          </a:xfrm>
          <a:prstGeom prst="rect">
            <a:avLst/>
          </a:prstGeom>
        </p:spPr>
      </p:pic>
      <p:sp>
        <p:nvSpPr>
          <p:cNvPr id="1112" name="is"/>
          <p:cNvSpPr txBox="1"/>
          <p:nvPr/>
        </p:nvSpPr>
        <p:spPr>
          <a:xfrm>
            <a:off x="9217932" y="6749098"/>
            <a:ext cx="423194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rPr dirty="0">
                <a:solidFill>
                  <a:srgbClr val="FFFF00"/>
                </a:solidFill>
              </a:rPr>
              <a:t>is</a:t>
            </a:r>
          </a:p>
        </p:txBody>
      </p:sp>
      <p:sp>
        <p:nvSpPr>
          <p:cNvPr id="1113" name="is not"/>
          <p:cNvSpPr txBox="1"/>
          <p:nvPr/>
        </p:nvSpPr>
        <p:spPr>
          <a:xfrm>
            <a:off x="8877170" y="8031028"/>
            <a:ext cx="1130118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rPr dirty="0">
                <a:solidFill>
                  <a:srgbClr val="FFFF00"/>
                </a:solidFill>
              </a:rPr>
              <a:t>is not</a:t>
            </a:r>
          </a:p>
        </p:txBody>
      </p:sp>
      <p:sp>
        <p:nvSpPr>
          <p:cNvPr id="1114" name="x is y"/>
          <p:cNvSpPr txBox="1"/>
          <p:nvPr/>
        </p:nvSpPr>
        <p:spPr>
          <a:xfrm>
            <a:off x="10498645" y="6749098"/>
            <a:ext cx="1171796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rPr dirty="0">
                <a:solidFill>
                  <a:srgbClr val="FFFFFF"/>
                </a:solidFill>
              </a:rPr>
              <a:t>x </a:t>
            </a:r>
            <a:r>
              <a:rPr dirty="0">
                <a:solidFill>
                  <a:srgbClr val="FFFF00"/>
                </a:solidFill>
              </a:rPr>
              <a:t>is</a:t>
            </a:r>
            <a:r>
              <a:rPr dirty="0">
                <a:solidFill>
                  <a:srgbClr val="FFFFFF"/>
                </a:solidFill>
              </a:rPr>
              <a:t> y</a:t>
            </a:r>
            <a:r>
              <a:rPr dirty="0"/>
              <a:t> </a:t>
            </a:r>
          </a:p>
        </p:txBody>
      </p:sp>
      <p:sp>
        <p:nvSpPr>
          <p:cNvPr id="1115" name="x is not y"/>
          <p:cNvSpPr txBox="1"/>
          <p:nvPr/>
        </p:nvSpPr>
        <p:spPr>
          <a:xfrm>
            <a:off x="10225732" y="8031028"/>
            <a:ext cx="1878719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rPr dirty="0">
                <a:solidFill>
                  <a:srgbClr val="FFFFFF"/>
                </a:solidFill>
              </a:rPr>
              <a:t>x </a:t>
            </a:r>
            <a:r>
              <a:rPr dirty="0">
                <a:solidFill>
                  <a:srgbClr val="FFFF00"/>
                </a:solidFill>
              </a:rPr>
              <a:t>is not </a:t>
            </a:r>
            <a:r>
              <a:rPr dirty="0">
                <a:solidFill>
                  <a:srgbClr val="FFFFFF"/>
                </a:solidFill>
              </a:rPr>
              <a:t>y</a:t>
            </a:r>
            <a:r>
              <a:rPr dirty="0"/>
              <a:t> </a:t>
            </a:r>
          </a:p>
        </p:txBody>
      </p:sp>
      <p:sp>
        <p:nvSpPr>
          <p:cNvPr id="1116" name="True,  if both variables/object are same"/>
          <p:cNvSpPr txBox="1"/>
          <p:nvPr/>
        </p:nvSpPr>
        <p:spPr>
          <a:xfrm>
            <a:off x="12548519" y="6800045"/>
            <a:ext cx="6712459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t>True,  if both variables/object are same</a:t>
            </a:r>
          </a:p>
        </p:txBody>
      </p:sp>
      <p:sp>
        <p:nvSpPr>
          <p:cNvPr id="1117" name="True,  if both variables/object are not same…"/>
          <p:cNvSpPr txBox="1"/>
          <p:nvPr/>
        </p:nvSpPr>
        <p:spPr>
          <a:xfrm>
            <a:off x="12635617" y="7909280"/>
            <a:ext cx="7463486" cy="954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True,  if both variables/object are not same </a:t>
            </a:r>
          </a:p>
          <a:p>
            <a:pPr algn="l">
              <a:defRPr sz="2800" b="1">
                <a:solidFill>
                  <a:srgbClr val="FFFFFF"/>
                </a:solidFill>
              </a:defRPr>
            </a:pPr>
            <a:r>
              <a:t>          (not values, but locations)</a:t>
            </a:r>
          </a:p>
        </p:txBody>
      </p:sp>
      <p:sp>
        <p:nvSpPr>
          <p:cNvPr id="1118" name="x = &quot;'little','big'&quot;…"/>
          <p:cNvSpPr txBox="1"/>
          <p:nvPr/>
        </p:nvSpPr>
        <p:spPr>
          <a:xfrm>
            <a:off x="12845902" y="9666927"/>
            <a:ext cx="2795881" cy="1818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x = "'little','big'"</a:t>
            </a:r>
          </a:p>
          <a:p>
            <a:pPr algn="l">
              <a:defRPr sz="2800" b="1">
                <a:solidFill>
                  <a:srgbClr val="FFFFFF"/>
                </a:solidFill>
              </a:defRPr>
            </a:pPr>
            <a:r>
              <a:t>y = "'little','big'"</a:t>
            </a:r>
          </a:p>
          <a:p>
            <a:pPr algn="l">
              <a:defRPr sz="2800" b="1">
                <a:solidFill>
                  <a:srgbClr val="FFFFFF"/>
                </a:solidFill>
              </a:defRPr>
            </a:pPr>
            <a:r>
              <a:t>z = x</a:t>
            </a:r>
          </a:p>
          <a:p>
            <a:pPr algn="l">
              <a:defRPr sz="2800" b="1">
                <a:solidFill>
                  <a:srgbClr val="FFFFFF"/>
                </a:solidFill>
              </a:defRPr>
            </a:pPr>
            <a:r>
              <a:t>x == y</a:t>
            </a:r>
          </a:p>
        </p:txBody>
      </p:sp>
      <p:sp>
        <p:nvSpPr>
          <p:cNvPr id="1119" name="string, list[ ],…"/>
          <p:cNvSpPr txBox="1"/>
          <p:nvPr/>
        </p:nvSpPr>
        <p:spPr>
          <a:xfrm>
            <a:off x="16070685" y="5253420"/>
            <a:ext cx="2061668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string, list[ ],…</a:t>
            </a:r>
          </a:p>
        </p:txBody>
      </p:sp>
      <p:sp>
        <p:nvSpPr>
          <p:cNvPr id="1120" name="Line"/>
          <p:cNvSpPr/>
          <p:nvPr/>
        </p:nvSpPr>
        <p:spPr>
          <a:xfrm>
            <a:off x="16954401" y="4846671"/>
            <a:ext cx="1" cy="46136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21" name="Try to answer —"/>
          <p:cNvSpPr txBox="1"/>
          <p:nvPr/>
        </p:nvSpPr>
        <p:spPr>
          <a:xfrm>
            <a:off x="17754068" y="10108894"/>
            <a:ext cx="2750288" cy="9791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 b="1">
                <a:solidFill>
                  <a:srgbClr val="000000"/>
                </a:solidFill>
              </a:defRPr>
            </a:lvl1pPr>
          </a:lstStyle>
          <a:p>
            <a:r>
              <a:t>Try to answer — 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C75B1BC5-19F4-DA20-FC54-06DDB81EA672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8" grpId="1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5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1123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1124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126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1127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1128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1129" name="2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29</a:t>
            </a:r>
          </a:p>
        </p:txBody>
      </p:sp>
      <p:sp>
        <p:nvSpPr>
          <p:cNvPr id="1131" name="Operators"/>
          <p:cNvSpPr txBox="1"/>
          <p:nvPr/>
        </p:nvSpPr>
        <p:spPr>
          <a:xfrm>
            <a:off x="9242575" y="1413107"/>
            <a:ext cx="317182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pPr>
              <a:defRPr sz="3900" b="0"/>
            </a:pPr>
            <a:r>
              <a:rPr sz="5000" b="1"/>
              <a:t>Operators</a:t>
            </a:r>
          </a:p>
        </p:txBody>
      </p:sp>
      <p:grpSp>
        <p:nvGrpSpPr>
          <p:cNvPr id="1158" name="Group"/>
          <p:cNvGrpSpPr/>
          <p:nvPr/>
        </p:nvGrpSpPr>
        <p:grpSpPr>
          <a:xfrm>
            <a:off x="2230515" y="2425300"/>
            <a:ext cx="9005329" cy="8059256"/>
            <a:chOff x="0" y="-63028"/>
            <a:chExt cx="9005328" cy="8059255"/>
          </a:xfrm>
        </p:grpSpPr>
        <p:sp>
          <p:nvSpPr>
            <p:cNvPr id="1132" name="In Python,…"/>
            <p:cNvSpPr txBox="1"/>
            <p:nvPr/>
          </p:nvSpPr>
          <p:spPr>
            <a:xfrm>
              <a:off x="0" y="-63029"/>
              <a:ext cx="9005329" cy="1415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lnSpc>
                  <a:spcPct val="120000"/>
                </a:lnSpc>
                <a:defRPr sz="4000" b="1">
                  <a:solidFill>
                    <a:srgbClr val="FFFFFF"/>
                  </a:solidFill>
                </a:defRPr>
              </a:pPr>
              <a:r>
                <a:t>In Python, </a:t>
              </a:r>
            </a:p>
            <a:p>
              <a:pPr algn="l">
                <a:lnSpc>
                  <a:spcPct val="120000"/>
                </a:lnSpc>
                <a:defRPr sz="3100" b="1">
                  <a:solidFill>
                    <a:srgbClr val="FFFFFF"/>
                  </a:solidFill>
                </a:defRPr>
              </a:pPr>
              <a:r>
                <a:rPr sz="3800"/>
                <a:t>Operators</a:t>
              </a:r>
              <a:r>
                <a:t> are divided in the following groups</a:t>
              </a:r>
            </a:p>
          </p:txBody>
        </p:sp>
        <p:pic>
          <p:nvPicPr>
            <p:cNvPr id="1133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07" y="1377514"/>
              <a:ext cx="2388818" cy="76201"/>
            </a:xfrm>
            <a:prstGeom prst="rect">
              <a:avLst/>
            </a:prstGeom>
            <a:effectLst/>
          </p:spPr>
        </p:pic>
        <p:pic>
          <p:nvPicPr>
            <p:cNvPr id="1135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2169180" y="4484577"/>
              <a:ext cx="6297564" cy="76201"/>
            </a:xfrm>
            <a:prstGeom prst="rect">
              <a:avLst/>
            </a:prstGeom>
            <a:effectLst/>
          </p:spPr>
        </p:pic>
        <p:pic>
          <p:nvPicPr>
            <p:cNvPr id="1137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1857605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1139" name="Arithmetic operators"/>
            <p:cNvSpPr txBox="1"/>
            <p:nvPr/>
          </p:nvSpPr>
          <p:spPr>
            <a:xfrm>
              <a:off x="1418586" y="1264013"/>
              <a:ext cx="4621600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Arithmetic operators</a:t>
              </a:r>
            </a:p>
          </p:txBody>
        </p:sp>
        <p:pic>
          <p:nvPicPr>
            <p:cNvPr id="1140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2824186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1142" name="Assignment operators"/>
            <p:cNvSpPr txBox="1"/>
            <p:nvPr/>
          </p:nvSpPr>
          <p:spPr>
            <a:xfrm>
              <a:off x="1416010" y="2248752"/>
              <a:ext cx="4636882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Assignment operators</a:t>
              </a:r>
            </a:p>
          </p:txBody>
        </p:sp>
        <p:pic>
          <p:nvPicPr>
            <p:cNvPr id="1143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3768799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1145" name="Comparison operators"/>
            <p:cNvSpPr txBox="1"/>
            <p:nvPr/>
          </p:nvSpPr>
          <p:spPr>
            <a:xfrm>
              <a:off x="1149472" y="3498165"/>
              <a:ext cx="5165626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Comparison operators</a:t>
              </a:r>
            </a:p>
          </p:txBody>
        </p:sp>
        <p:pic>
          <p:nvPicPr>
            <p:cNvPr id="1146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4694061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1148" name="Logical operators"/>
            <p:cNvSpPr txBox="1"/>
            <p:nvPr/>
          </p:nvSpPr>
          <p:spPr>
            <a:xfrm>
              <a:off x="1408478" y="4423428"/>
              <a:ext cx="4640935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Logical operators</a:t>
              </a:r>
            </a:p>
          </p:txBody>
        </p:sp>
        <p:pic>
          <p:nvPicPr>
            <p:cNvPr id="1149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5643444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1151" name="Identity operators"/>
            <p:cNvSpPr txBox="1"/>
            <p:nvPr/>
          </p:nvSpPr>
          <p:spPr>
            <a:xfrm>
              <a:off x="1417808" y="5371922"/>
              <a:ext cx="4628260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Identity operators</a:t>
              </a:r>
            </a:p>
          </p:txBody>
        </p:sp>
        <p:pic>
          <p:nvPicPr>
            <p:cNvPr id="1152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6563937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1154" name="Membership operator"/>
            <p:cNvSpPr txBox="1"/>
            <p:nvPr/>
          </p:nvSpPr>
          <p:spPr>
            <a:xfrm>
              <a:off x="1411983" y="5988503"/>
              <a:ext cx="4630549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Membership operator</a:t>
              </a:r>
            </a:p>
          </p:txBody>
        </p:sp>
        <p:pic>
          <p:nvPicPr>
            <p:cNvPr id="1155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7503338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1157" name="Bitwise operator"/>
            <p:cNvSpPr txBox="1"/>
            <p:nvPr/>
          </p:nvSpPr>
          <p:spPr>
            <a:xfrm>
              <a:off x="1420888" y="7259626"/>
              <a:ext cx="4620038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Bitwise operator</a:t>
              </a:r>
            </a:p>
          </p:txBody>
        </p:sp>
      </p:grpSp>
      <p:pic>
        <p:nvPicPr>
          <p:cNvPr id="1159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98000"/>
          </a:blip>
          <a:stretch>
            <a:fillRect/>
          </a:stretch>
        </p:blipFill>
        <p:spPr>
          <a:xfrm>
            <a:off x="2394224" y="9649631"/>
            <a:ext cx="15022695" cy="27482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0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3239202" y="3752341"/>
            <a:ext cx="5951944" cy="4996022"/>
          </a:xfrm>
          <a:prstGeom prst="rect">
            <a:avLst/>
          </a:prstGeom>
          <a:ln w="12700">
            <a:miter lim="400000"/>
          </a:ln>
        </p:spPr>
      </p:pic>
      <p:sp>
        <p:nvSpPr>
          <p:cNvPr id="1161" name="Allows to test if a strings, lists or tuples are members  of other…"/>
          <p:cNvSpPr txBox="1"/>
          <p:nvPr/>
        </p:nvSpPr>
        <p:spPr>
          <a:xfrm>
            <a:off x="9096113" y="4078712"/>
            <a:ext cx="11796294" cy="1080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300">
                <a:solidFill>
                  <a:srgbClr val="FFFFFF"/>
                </a:solidFill>
              </a:defRPr>
            </a:pPr>
            <a:r>
              <a:t>Allows to test if a strings, lists or tuples are members  of other </a:t>
            </a:r>
          </a:p>
          <a:p>
            <a:pPr algn="l">
              <a:defRPr sz="3300">
                <a:solidFill>
                  <a:srgbClr val="FFFFFF"/>
                </a:solidFill>
              </a:defRPr>
            </a:pPr>
            <a:r>
              <a:t>sequence (string, list or tuples)</a:t>
            </a:r>
          </a:p>
        </p:txBody>
      </p:sp>
      <p:pic>
        <p:nvPicPr>
          <p:cNvPr id="1162" name="Line Line" descr="Line 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8729499" y="6350996"/>
            <a:ext cx="12646032" cy="63501"/>
          </a:xfrm>
          <a:prstGeom prst="rect">
            <a:avLst/>
          </a:prstGeom>
        </p:spPr>
      </p:pic>
      <p:pic>
        <p:nvPicPr>
          <p:cNvPr id="1164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776638" y="7520955"/>
            <a:ext cx="12551753" cy="63501"/>
          </a:xfrm>
          <a:prstGeom prst="rect">
            <a:avLst/>
          </a:prstGeom>
        </p:spPr>
      </p:pic>
      <p:pic>
        <p:nvPicPr>
          <p:cNvPr id="1166" name="Line Line" descr="Line Line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27841" y="7572869"/>
            <a:ext cx="3578894" cy="63501"/>
          </a:xfrm>
          <a:prstGeom prst="rect">
            <a:avLst/>
          </a:prstGeom>
        </p:spPr>
      </p:pic>
      <p:pic>
        <p:nvPicPr>
          <p:cNvPr id="1168" name="Line Line" descr="Line Line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1071324" y="7572869"/>
            <a:ext cx="3629694" cy="63501"/>
          </a:xfrm>
          <a:prstGeom prst="rect">
            <a:avLst/>
          </a:prstGeom>
        </p:spPr>
      </p:pic>
      <p:pic>
        <p:nvPicPr>
          <p:cNvPr id="1170" name="Line Line" descr="Line 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776638" y="8865253"/>
            <a:ext cx="12551753" cy="63501"/>
          </a:xfrm>
          <a:prstGeom prst="rect">
            <a:avLst/>
          </a:prstGeom>
        </p:spPr>
      </p:pic>
      <p:sp>
        <p:nvSpPr>
          <p:cNvPr id="1172" name="in"/>
          <p:cNvSpPr txBox="1"/>
          <p:nvPr/>
        </p:nvSpPr>
        <p:spPr>
          <a:xfrm>
            <a:off x="9206711" y="6698298"/>
            <a:ext cx="445636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rPr dirty="0">
                <a:solidFill>
                  <a:srgbClr val="FFFF00"/>
                </a:solidFill>
              </a:rPr>
              <a:t>in</a:t>
            </a:r>
          </a:p>
        </p:txBody>
      </p:sp>
      <p:sp>
        <p:nvSpPr>
          <p:cNvPr id="1173" name="not in"/>
          <p:cNvSpPr txBox="1"/>
          <p:nvPr/>
        </p:nvSpPr>
        <p:spPr>
          <a:xfrm>
            <a:off x="8853249" y="7921341"/>
            <a:ext cx="1152560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r>
              <a:rPr dirty="0">
                <a:solidFill>
                  <a:srgbClr val="FFFF00"/>
                </a:solidFill>
              </a:rPr>
              <a:t>not in</a:t>
            </a:r>
          </a:p>
        </p:txBody>
      </p:sp>
      <p:sp>
        <p:nvSpPr>
          <p:cNvPr id="1174" name="x = [‘Sunday’, ‘Monday’, ‘Tuesday’, ‘Wednesday’]…"/>
          <p:cNvSpPr txBox="1"/>
          <p:nvPr/>
        </p:nvSpPr>
        <p:spPr>
          <a:xfrm>
            <a:off x="10854403" y="9776238"/>
            <a:ext cx="8297368" cy="155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FFFFFF"/>
                </a:solidFill>
              </a:defRPr>
            </a:pPr>
            <a:r>
              <a:t>x = [‘Sunday’, ‘Monday’, ‘Tuesday’, ‘Wednesday’]</a:t>
            </a:r>
          </a:p>
          <a:p>
            <a:pPr algn="l">
              <a:lnSpc>
                <a:spcPct val="120000"/>
              </a:lnSpc>
              <a:defRPr sz="2800" b="1">
                <a:solidFill>
                  <a:srgbClr val="FFFFFF"/>
                </a:solidFill>
              </a:defRPr>
            </a:pPr>
            <a:r>
              <a:t>Day = ‘Monday’</a:t>
            </a:r>
          </a:p>
          <a:p>
            <a:pPr algn="l">
              <a:lnSpc>
                <a:spcPct val="120000"/>
              </a:lnSpc>
              <a:defRPr sz="2800" b="1">
                <a:solidFill>
                  <a:srgbClr val="FFFFFF"/>
                </a:solidFill>
              </a:defRPr>
            </a:pPr>
            <a:r>
              <a:t>Day2 = [‘Thursday’, ‘Friday’, ‘Saturday’]</a:t>
            </a:r>
          </a:p>
        </p:txBody>
      </p:sp>
      <p:sp>
        <p:nvSpPr>
          <p:cNvPr id="1175" name="Day in x"/>
          <p:cNvSpPr txBox="1"/>
          <p:nvPr/>
        </p:nvSpPr>
        <p:spPr>
          <a:xfrm>
            <a:off x="10474018" y="6698298"/>
            <a:ext cx="1577356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rPr dirty="0">
                <a:solidFill>
                  <a:srgbClr val="FFFFFF"/>
                </a:solidFill>
              </a:rPr>
              <a:t>Day</a:t>
            </a:r>
            <a:r>
              <a:rPr dirty="0"/>
              <a:t> </a:t>
            </a:r>
            <a:r>
              <a:rPr dirty="0">
                <a:solidFill>
                  <a:srgbClr val="FFFF00"/>
                </a:solidFill>
              </a:rPr>
              <a:t>in</a:t>
            </a:r>
            <a:r>
              <a:rPr dirty="0"/>
              <a:t> </a:t>
            </a:r>
            <a:r>
              <a:rPr dirty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1176" name="Day2 in x"/>
          <p:cNvSpPr txBox="1"/>
          <p:nvPr/>
        </p:nvSpPr>
        <p:spPr>
          <a:xfrm>
            <a:off x="10367418" y="8015119"/>
            <a:ext cx="1790555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0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rPr dirty="0">
                <a:solidFill>
                  <a:srgbClr val="FFFFFF"/>
                </a:solidFill>
              </a:rPr>
              <a:t>Day2</a:t>
            </a:r>
            <a:r>
              <a:rPr dirty="0"/>
              <a:t> </a:t>
            </a:r>
            <a:r>
              <a:rPr dirty="0">
                <a:solidFill>
                  <a:srgbClr val="FFFF00"/>
                </a:solidFill>
              </a:rPr>
              <a:t>in</a:t>
            </a:r>
            <a:r>
              <a:rPr dirty="0"/>
              <a:t> </a:t>
            </a:r>
            <a:r>
              <a:rPr dirty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1177" name="True,  if Day(sequence) is in x"/>
          <p:cNvSpPr txBox="1"/>
          <p:nvPr/>
        </p:nvSpPr>
        <p:spPr>
          <a:xfrm>
            <a:off x="14170616" y="6750672"/>
            <a:ext cx="5039717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t>True,  if Day(sequence) is in x</a:t>
            </a:r>
          </a:p>
        </p:txBody>
      </p:sp>
      <p:sp>
        <p:nvSpPr>
          <p:cNvPr id="1178" name="True,  if Day2(sequence) is in x, otherwise false"/>
          <p:cNvSpPr txBox="1"/>
          <p:nvPr/>
        </p:nvSpPr>
        <p:spPr>
          <a:xfrm>
            <a:off x="12682786" y="7831653"/>
            <a:ext cx="8015377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t>True,  if Day2(sequence) is in x, otherwise false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ED0EB87D-3A5A-0569-3D34-87CA5AF7344A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" grpId="1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361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362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364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365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366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367" name="5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369" name="Operators"/>
          <p:cNvSpPr txBox="1"/>
          <p:nvPr/>
        </p:nvSpPr>
        <p:spPr>
          <a:xfrm>
            <a:off x="9242575" y="1413107"/>
            <a:ext cx="317182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pPr>
              <a:defRPr sz="3900" b="0"/>
            </a:pPr>
            <a:r>
              <a:rPr sz="5000" b="1"/>
              <a:t>Operators</a:t>
            </a:r>
          </a:p>
        </p:txBody>
      </p:sp>
      <p:grpSp>
        <p:nvGrpSpPr>
          <p:cNvPr id="396" name="Group"/>
          <p:cNvGrpSpPr/>
          <p:nvPr/>
        </p:nvGrpSpPr>
        <p:grpSpPr>
          <a:xfrm>
            <a:off x="2230515" y="2425300"/>
            <a:ext cx="9005329" cy="8059256"/>
            <a:chOff x="0" y="-63028"/>
            <a:chExt cx="9005328" cy="8059255"/>
          </a:xfrm>
        </p:grpSpPr>
        <p:sp>
          <p:nvSpPr>
            <p:cNvPr id="370" name="In Python,…"/>
            <p:cNvSpPr txBox="1"/>
            <p:nvPr/>
          </p:nvSpPr>
          <p:spPr>
            <a:xfrm>
              <a:off x="0" y="-63029"/>
              <a:ext cx="9005329" cy="1415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lnSpc>
                  <a:spcPct val="120000"/>
                </a:lnSpc>
                <a:defRPr sz="4000" b="1">
                  <a:solidFill>
                    <a:srgbClr val="FFFFFF"/>
                  </a:solidFill>
                </a:defRPr>
              </a:pPr>
              <a:r>
                <a:t>In Python, </a:t>
              </a:r>
            </a:p>
            <a:p>
              <a:pPr algn="l">
                <a:lnSpc>
                  <a:spcPct val="120000"/>
                </a:lnSpc>
                <a:defRPr sz="3100" b="1">
                  <a:solidFill>
                    <a:srgbClr val="FFFFFF"/>
                  </a:solidFill>
                </a:defRPr>
              </a:pPr>
              <a:r>
                <a:rPr sz="3800"/>
                <a:t>Operators</a:t>
              </a:r>
              <a:r>
                <a:t> are divided in the following groups</a:t>
              </a:r>
            </a:p>
          </p:txBody>
        </p:sp>
        <p:pic>
          <p:nvPicPr>
            <p:cNvPr id="371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07" y="1377514"/>
              <a:ext cx="2388818" cy="76201"/>
            </a:xfrm>
            <a:prstGeom prst="rect">
              <a:avLst/>
            </a:prstGeom>
            <a:effectLst/>
          </p:spPr>
        </p:pic>
        <p:pic>
          <p:nvPicPr>
            <p:cNvPr id="373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2169180" y="4484577"/>
              <a:ext cx="6297564" cy="76201"/>
            </a:xfrm>
            <a:prstGeom prst="rect">
              <a:avLst/>
            </a:prstGeom>
            <a:effectLst/>
          </p:spPr>
        </p:pic>
        <p:pic>
          <p:nvPicPr>
            <p:cNvPr id="375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1857605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377" name="Arithmetic operators"/>
            <p:cNvSpPr txBox="1"/>
            <p:nvPr/>
          </p:nvSpPr>
          <p:spPr>
            <a:xfrm>
              <a:off x="1418586" y="1264013"/>
              <a:ext cx="4621600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Arithmetic operators</a:t>
              </a:r>
            </a:p>
          </p:txBody>
        </p:sp>
        <p:pic>
          <p:nvPicPr>
            <p:cNvPr id="378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2824186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380" name="Assignment operators"/>
            <p:cNvSpPr txBox="1"/>
            <p:nvPr/>
          </p:nvSpPr>
          <p:spPr>
            <a:xfrm>
              <a:off x="1416010" y="2248752"/>
              <a:ext cx="4636882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Assignment operators</a:t>
              </a:r>
            </a:p>
          </p:txBody>
        </p:sp>
        <p:pic>
          <p:nvPicPr>
            <p:cNvPr id="381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3768799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383" name="Comparison operators"/>
            <p:cNvSpPr txBox="1"/>
            <p:nvPr/>
          </p:nvSpPr>
          <p:spPr>
            <a:xfrm>
              <a:off x="1149472" y="3498165"/>
              <a:ext cx="5165626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Comparison operators</a:t>
              </a:r>
            </a:p>
          </p:txBody>
        </p:sp>
        <p:pic>
          <p:nvPicPr>
            <p:cNvPr id="384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4694061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386" name="Logical operators"/>
            <p:cNvSpPr txBox="1"/>
            <p:nvPr/>
          </p:nvSpPr>
          <p:spPr>
            <a:xfrm>
              <a:off x="1408478" y="4423428"/>
              <a:ext cx="4640935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Logical operators</a:t>
              </a:r>
            </a:p>
          </p:txBody>
        </p:sp>
        <p:pic>
          <p:nvPicPr>
            <p:cNvPr id="387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5643444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389" name="Identity operators"/>
            <p:cNvSpPr txBox="1"/>
            <p:nvPr/>
          </p:nvSpPr>
          <p:spPr>
            <a:xfrm>
              <a:off x="1417808" y="5371922"/>
              <a:ext cx="4628260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Identity operators</a:t>
              </a:r>
            </a:p>
          </p:txBody>
        </p:sp>
        <p:pic>
          <p:nvPicPr>
            <p:cNvPr id="390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6563937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392" name="Membership operator"/>
            <p:cNvSpPr txBox="1"/>
            <p:nvPr/>
          </p:nvSpPr>
          <p:spPr>
            <a:xfrm>
              <a:off x="1411983" y="5988503"/>
              <a:ext cx="4630549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Membership operator</a:t>
              </a:r>
            </a:p>
          </p:txBody>
        </p:sp>
        <p:pic>
          <p:nvPicPr>
            <p:cNvPr id="393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7503338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395" name="Bitwise operator"/>
            <p:cNvSpPr txBox="1"/>
            <p:nvPr/>
          </p:nvSpPr>
          <p:spPr>
            <a:xfrm>
              <a:off x="1420888" y="7259626"/>
              <a:ext cx="4620038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Bitwise operator</a:t>
              </a:r>
            </a:p>
          </p:txBody>
        </p:sp>
      </p:grpSp>
      <p:pic>
        <p:nvPicPr>
          <p:cNvPr id="397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98000"/>
          </a:blip>
          <a:stretch>
            <a:fillRect/>
          </a:stretch>
        </p:blipFill>
        <p:spPr>
          <a:xfrm>
            <a:off x="2394224" y="10722817"/>
            <a:ext cx="15022695" cy="1675108"/>
          </a:xfrm>
          <a:prstGeom prst="rect">
            <a:avLst/>
          </a:prstGeom>
          <a:ln w="12700">
            <a:miter lim="400000"/>
          </a:ln>
        </p:spPr>
      </p:pic>
      <p:pic>
        <p:nvPicPr>
          <p:cNvPr id="398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3239202" y="4028789"/>
            <a:ext cx="5951944" cy="4719574"/>
          </a:xfrm>
          <a:prstGeom prst="rect">
            <a:avLst/>
          </a:prstGeom>
          <a:ln w="12700">
            <a:miter lim="400000"/>
          </a:ln>
        </p:spPr>
      </p:pic>
      <p:pic>
        <p:nvPicPr>
          <p:cNvPr id="399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3239202" y="3724333"/>
            <a:ext cx="5951944" cy="5962878"/>
          </a:xfrm>
          <a:prstGeom prst="rect">
            <a:avLst/>
          </a:prstGeom>
          <a:ln w="12700">
            <a:miter lim="400000"/>
          </a:ln>
        </p:spPr>
      </p:pic>
      <p:sp>
        <p:nvSpPr>
          <p:cNvPr id="400" name="a &amp; b  AND…"/>
          <p:cNvSpPr txBox="1"/>
          <p:nvPr/>
        </p:nvSpPr>
        <p:spPr>
          <a:xfrm>
            <a:off x="9272830" y="4815709"/>
            <a:ext cx="3651182" cy="7404101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prstDash val="sysDot"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&amp; b  AND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| b     OR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 a ^ b    XOR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~ b   NOT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&lt;&lt; n  left shift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&gt;&gt; n right shift</a:t>
            </a:r>
          </a:p>
        </p:txBody>
      </p:sp>
      <p:sp>
        <p:nvSpPr>
          <p:cNvPr id="401" name="Line"/>
          <p:cNvSpPr/>
          <p:nvPr/>
        </p:nvSpPr>
        <p:spPr>
          <a:xfrm>
            <a:off x="8286750" y="10098087"/>
            <a:ext cx="892836" cy="1"/>
          </a:xfrm>
          <a:prstGeom prst="line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grpSp>
        <p:nvGrpSpPr>
          <p:cNvPr id="408" name="Group"/>
          <p:cNvGrpSpPr/>
          <p:nvPr/>
        </p:nvGrpSpPr>
        <p:grpSpPr>
          <a:xfrm>
            <a:off x="12991063" y="5356206"/>
            <a:ext cx="5773789" cy="6348506"/>
            <a:chOff x="-226176" y="0"/>
            <a:chExt cx="5773788" cy="6348505"/>
          </a:xfrm>
        </p:grpSpPr>
        <p:sp>
          <p:nvSpPr>
            <p:cNvPr id="402" name="Bitwise and"/>
            <p:cNvSpPr txBox="1"/>
            <p:nvPr/>
          </p:nvSpPr>
          <p:spPr>
            <a:xfrm>
              <a:off x="0" y="0"/>
              <a:ext cx="3005748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and</a:t>
              </a:r>
            </a:p>
          </p:txBody>
        </p:sp>
        <p:sp>
          <p:nvSpPr>
            <p:cNvPr id="403" name="Bitwise or"/>
            <p:cNvSpPr txBox="1"/>
            <p:nvPr/>
          </p:nvSpPr>
          <p:spPr>
            <a:xfrm>
              <a:off x="21619" y="1133850"/>
              <a:ext cx="2600643" cy="7214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or</a:t>
              </a:r>
            </a:p>
          </p:txBody>
        </p:sp>
        <p:sp>
          <p:nvSpPr>
            <p:cNvPr id="404" name="Bitwise exclusive"/>
            <p:cNvSpPr txBox="1"/>
            <p:nvPr/>
          </p:nvSpPr>
          <p:spPr>
            <a:xfrm>
              <a:off x="45639" y="2254133"/>
              <a:ext cx="4384041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exclusive</a:t>
              </a:r>
            </a:p>
          </p:txBody>
        </p:sp>
        <p:sp>
          <p:nvSpPr>
            <p:cNvPr id="405" name="Bitwise not"/>
            <p:cNvSpPr txBox="1"/>
            <p:nvPr/>
          </p:nvSpPr>
          <p:spPr>
            <a:xfrm>
              <a:off x="57797" y="3381200"/>
              <a:ext cx="2890153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not</a:t>
              </a:r>
            </a:p>
          </p:txBody>
        </p:sp>
        <p:sp>
          <p:nvSpPr>
            <p:cNvPr id="406" name="shift a left by n(2) bits"/>
            <p:cNvSpPr txBox="1"/>
            <p:nvPr/>
          </p:nvSpPr>
          <p:spPr>
            <a:xfrm>
              <a:off x="-225706" y="4543065"/>
              <a:ext cx="5416590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shift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a</a:t>
              </a:r>
              <a:r>
                <a:t> left by n(2) bits</a:t>
              </a:r>
            </a:p>
          </p:txBody>
        </p:sp>
        <p:sp>
          <p:nvSpPr>
            <p:cNvPr id="407" name="shift a right by n(2) bits"/>
            <p:cNvSpPr txBox="1"/>
            <p:nvPr/>
          </p:nvSpPr>
          <p:spPr>
            <a:xfrm>
              <a:off x="-226177" y="5627008"/>
              <a:ext cx="5773789" cy="7214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shift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a</a:t>
              </a:r>
              <a:r>
                <a:t> right by n(2) bits</a:t>
              </a:r>
            </a:p>
          </p:txBody>
        </p:sp>
      </p:grpSp>
      <p:sp>
        <p:nvSpPr>
          <p:cNvPr id="409" name="8      4      2     1"/>
          <p:cNvSpPr txBox="1"/>
          <p:nvPr/>
        </p:nvSpPr>
        <p:spPr>
          <a:xfrm>
            <a:off x="17293330" y="1537160"/>
            <a:ext cx="3572511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8      4      2     1</a:t>
            </a:r>
          </a:p>
        </p:txBody>
      </p:sp>
      <p:sp>
        <p:nvSpPr>
          <p:cNvPr id="410" name="For 0"/>
          <p:cNvSpPr txBox="1"/>
          <p:nvPr/>
        </p:nvSpPr>
        <p:spPr>
          <a:xfrm>
            <a:off x="21081330" y="2096752"/>
            <a:ext cx="1162280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0</a:t>
            </a:r>
          </a:p>
        </p:txBody>
      </p:sp>
      <p:sp>
        <p:nvSpPr>
          <p:cNvPr id="411" name="0      0      0     0"/>
          <p:cNvSpPr txBox="1"/>
          <p:nvPr/>
        </p:nvSpPr>
        <p:spPr>
          <a:xfrm>
            <a:off x="17293330" y="2096752"/>
            <a:ext cx="3572511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0      0      0     0</a:t>
            </a:r>
          </a:p>
        </p:txBody>
      </p:sp>
      <p:sp>
        <p:nvSpPr>
          <p:cNvPr id="412" name="For 7"/>
          <p:cNvSpPr txBox="1"/>
          <p:nvPr/>
        </p:nvSpPr>
        <p:spPr>
          <a:xfrm>
            <a:off x="21081330" y="2595656"/>
            <a:ext cx="1162280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7</a:t>
            </a:r>
          </a:p>
        </p:txBody>
      </p:sp>
      <p:sp>
        <p:nvSpPr>
          <p:cNvPr id="413" name="0      1     1     1"/>
          <p:cNvSpPr txBox="1"/>
          <p:nvPr/>
        </p:nvSpPr>
        <p:spPr>
          <a:xfrm>
            <a:off x="17302550" y="2636889"/>
            <a:ext cx="3452471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0      1     1     1</a:t>
            </a:r>
          </a:p>
        </p:txBody>
      </p:sp>
      <p:sp>
        <p:nvSpPr>
          <p:cNvPr id="414" name="For 15"/>
          <p:cNvSpPr txBox="1"/>
          <p:nvPr/>
        </p:nvSpPr>
        <p:spPr>
          <a:xfrm>
            <a:off x="20961290" y="3127386"/>
            <a:ext cx="1402360" cy="609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15</a:t>
            </a:r>
          </a:p>
        </p:txBody>
      </p:sp>
      <p:sp>
        <p:nvSpPr>
          <p:cNvPr id="415" name="1      1     1     1"/>
          <p:cNvSpPr txBox="1"/>
          <p:nvPr/>
        </p:nvSpPr>
        <p:spPr>
          <a:xfrm>
            <a:off x="17302550" y="3127386"/>
            <a:ext cx="3452471" cy="609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1      1     1     1</a:t>
            </a:r>
          </a:p>
        </p:txBody>
      </p:sp>
      <p:sp>
        <p:nvSpPr>
          <p:cNvPr id="416" name="..  32     16"/>
          <p:cNvSpPr txBox="1"/>
          <p:nvPr/>
        </p:nvSpPr>
        <p:spPr>
          <a:xfrm>
            <a:off x="13965642" y="1537160"/>
            <a:ext cx="3332430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      ..  32     16</a:t>
            </a:r>
          </a:p>
        </p:txBody>
      </p:sp>
      <p:sp>
        <p:nvSpPr>
          <p:cNvPr id="417" name="..       .."/>
          <p:cNvSpPr txBox="1"/>
          <p:nvPr/>
        </p:nvSpPr>
        <p:spPr>
          <a:xfrm>
            <a:off x="14525675" y="2096752"/>
            <a:ext cx="2612187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      ..       ..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B7C53ACF-03CE-B2E0-E855-EC369E076366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" grpId="0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419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420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422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423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424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425" name="6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6</a:t>
            </a:r>
          </a:p>
        </p:txBody>
      </p:sp>
      <p:sp>
        <p:nvSpPr>
          <p:cNvPr id="427" name="Operators"/>
          <p:cNvSpPr txBox="1"/>
          <p:nvPr/>
        </p:nvSpPr>
        <p:spPr>
          <a:xfrm>
            <a:off x="9242575" y="1413107"/>
            <a:ext cx="317182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pPr>
              <a:defRPr sz="3900" b="0"/>
            </a:pPr>
            <a:r>
              <a:rPr sz="5000" b="1"/>
              <a:t>Operators</a:t>
            </a:r>
          </a:p>
        </p:txBody>
      </p:sp>
      <p:grpSp>
        <p:nvGrpSpPr>
          <p:cNvPr id="454" name="Group"/>
          <p:cNvGrpSpPr/>
          <p:nvPr/>
        </p:nvGrpSpPr>
        <p:grpSpPr>
          <a:xfrm>
            <a:off x="2230515" y="2425300"/>
            <a:ext cx="9005329" cy="8059256"/>
            <a:chOff x="0" y="-63028"/>
            <a:chExt cx="9005328" cy="8059255"/>
          </a:xfrm>
        </p:grpSpPr>
        <p:sp>
          <p:nvSpPr>
            <p:cNvPr id="428" name="In Python,…"/>
            <p:cNvSpPr txBox="1"/>
            <p:nvPr/>
          </p:nvSpPr>
          <p:spPr>
            <a:xfrm>
              <a:off x="0" y="-63029"/>
              <a:ext cx="9005329" cy="1415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lnSpc>
                  <a:spcPct val="120000"/>
                </a:lnSpc>
                <a:defRPr sz="4000" b="1">
                  <a:solidFill>
                    <a:srgbClr val="FFFFFF"/>
                  </a:solidFill>
                </a:defRPr>
              </a:pPr>
              <a:r>
                <a:t>In Python, </a:t>
              </a:r>
            </a:p>
            <a:p>
              <a:pPr algn="l">
                <a:lnSpc>
                  <a:spcPct val="120000"/>
                </a:lnSpc>
                <a:defRPr sz="3100" b="1">
                  <a:solidFill>
                    <a:srgbClr val="FFFFFF"/>
                  </a:solidFill>
                </a:defRPr>
              </a:pPr>
              <a:r>
                <a:rPr sz="3800"/>
                <a:t>Operators</a:t>
              </a:r>
              <a:r>
                <a:t> are divided in the following groups</a:t>
              </a:r>
            </a:p>
          </p:txBody>
        </p:sp>
        <p:pic>
          <p:nvPicPr>
            <p:cNvPr id="429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07" y="1377514"/>
              <a:ext cx="2388818" cy="76201"/>
            </a:xfrm>
            <a:prstGeom prst="rect">
              <a:avLst/>
            </a:prstGeom>
            <a:effectLst/>
          </p:spPr>
        </p:pic>
        <p:pic>
          <p:nvPicPr>
            <p:cNvPr id="431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2169180" y="4484577"/>
              <a:ext cx="6297564" cy="76201"/>
            </a:xfrm>
            <a:prstGeom prst="rect">
              <a:avLst/>
            </a:prstGeom>
            <a:effectLst/>
          </p:spPr>
        </p:pic>
        <p:pic>
          <p:nvPicPr>
            <p:cNvPr id="433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1857605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435" name="Arithmetic operators"/>
            <p:cNvSpPr txBox="1"/>
            <p:nvPr/>
          </p:nvSpPr>
          <p:spPr>
            <a:xfrm>
              <a:off x="1418586" y="1264013"/>
              <a:ext cx="4621600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Arithmetic operators</a:t>
              </a:r>
            </a:p>
          </p:txBody>
        </p:sp>
        <p:pic>
          <p:nvPicPr>
            <p:cNvPr id="436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2824186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438" name="Assignment operators"/>
            <p:cNvSpPr txBox="1"/>
            <p:nvPr/>
          </p:nvSpPr>
          <p:spPr>
            <a:xfrm>
              <a:off x="1416010" y="2248752"/>
              <a:ext cx="4636882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Assignment operators</a:t>
              </a:r>
            </a:p>
          </p:txBody>
        </p:sp>
        <p:pic>
          <p:nvPicPr>
            <p:cNvPr id="439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3768799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441" name="Comparison operators"/>
            <p:cNvSpPr txBox="1"/>
            <p:nvPr/>
          </p:nvSpPr>
          <p:spPr>
            <a:xfrm>
              <a:off x="1149472" y="3498165"/>
              <a:ext cx="5165626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Comparison operators</a:t>
              </a:r>
            </a:p>
          </p:txBody>
        </p:sp>
        <p:pic>
          <p:nvPicPr>
            <p:cNvPr id="442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4694061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444" name="Logical operators"/>
            <p:cNvSpPr txBox="1"/>
            <p:nvPr/>
          </p:nvSpPr>
          <p:spPr>
            <a:xfrm>
              <a:off x="1408478" y="4423428"/>
              <a:ext cx="4640935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Logical operators</a:t>
              </a:r>
            </a:p>
          </p:txBody>
        </p:sp>
        <p:pic>
          <p:nvPicPr>
            <p:cNvPr id="445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5643444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447" name="Identity operators"/>
            <p:cNvSpPr txBox="1"/>
            <p:nvPr/>
          </p:nvSpPr>
          <p:spPr>
            <a:xfrm>
              <a:off x="1417808" y="5371922"/>
              <a:ext cx="4628260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Identity operators</a:t>
              </a:r>
            </a:p>
          </p:txBody>
        </p:sp>
        <p:pic>
          <p:nvPicPr>
            <p:cNvPr id="448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6563937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450" name="Membership operator"/>
            <p:cNvSpPr txBox="1"/>
            <p:nvPr/>
          </p:nvSpPr>
          <p:spPr>
            <a:xfrm>
              <a:off x="1411983" y="5988503"/>
              <a:ext cx="4630549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Membership operator</a:t>
              </a:r>
            </a:p>
          </p:txBody>
        </p:sp>
        <p:pic>
          <p:nvPicPr>
            <p:cNvPr id="451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7503338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453" name="Bitwise operator"/>
            <p:cNvSpPr txBox="1"/>
            <p:nvPr/>
          </p:nvSpPr>
          <p:spPr>
            <a:xfrm>
              <a:off x="1420888" y="7259626"/>
              <a:ext cx="4620038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Bitwise operator</a:t>
              </a:r>
            </a:p>
          </p:txBody>
        </p:sp>
      </p:grpSp>
      <p:pic>
        <p:nvPicPr>
          <p:cNvPr id="455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98000"/>
          </a:blip>
          <a:stretch>
            <a:fillRect/>
          </a:stretch>
        </p:blipFill>
        <p:spPr>
          <a:xfrm>
            <a:off x="2394224" y="10722817"/>
            <a:ext cx="15022695" cy="1675108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3239202" y="4028789"/>
            <a:ext cx="5951944" cy="4719574"/>
          </a:xfrm>
          <a:prstGeom prst="rect">
            <a:avLst/>
          </a:prstGeom>
          <a:ln w="12700">
            <a:miter lim="400000"/>
          </a:ln>
        </p:spPr>
      </p:pic>
      <p:sp>
        <p:nvSpPr>
          <p:cNvPr id="458" name="a &amp; b  AND…"/>
          <p:cNvSpPr txBox="1"/>
          <p:nvPr/>
        </p:nvSpPr>
        <p:spPr>
          <a:xfrm>
            <a:off x="9272830" y="4815709"/>
            <a:ext cx="3651182" cy="7404101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prstDash val="sysDot"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&amp; b  AND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| b     OR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 a ^ b    XOR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~ b   NOT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&lt;&lt; n  left shift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&gt;&gt; n right shift</a:t>
            </a:r>
          </a:p>
        </p:txBody>
      </p:sp>
      <p:sp>
        <p:nvSpPr>
          <p:cNvPr id="459" name="Line"/>
          <p:cNvSpPr/>
          <p:nvPr/>
        </p:nvSpPr>
        <p:spPr>
          <a:xfrm>
            <a:off x="8286750" y="10098087"/>
            <a:ext cx="892836" cy="1"/>
          </a:xfrm>
          <a:prstGeom prst="line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460" name="Lets take few variables a = 60, b = 13"/>
          <p:cNvSpPr txBox="1"/>
          <p:nvPr/>
        </p:nvSpPr>
        <p:spPr>
          <a:xfrm>
            <a:off x="13594534" y="3736619"/>
            <a:ext cx="8018002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 Lets take few variables a = 60, b = 13</a:t>
            </a:r>
          </a:p>
        </p:txBody>
      </p:sp>
      <p:grpSp>
        <p:nvGrpSpPr>
          <p:cNvPr id="467" name="Group"/>
          <p:cNvGrpSpPr/>
          <p:nvPr/>
        </p:nvGrpSpPr>
        <p:grpSpPr>
          <a:xfrm>
            <a:off x="12991063" y="5356206"/>
            <a:ext cx="5773789" cy="6348506"/>
            <a:chOff x="-226176" y="0"/>
            <a:chExt cx="5773788" cy="6348505"/>
          </a:xfrm>
        </p:grpSpPr>
        <p:sp>
          <p:nvSpPr>
            <p:cNvPr id="461" name="Bitwise and"/>
            <p:cNvSpPr txBox="1"/>
            <p:nvPr/>
          </p:nvSpPr>
          <p:spPr>
            <a:xfrm>
              <a:off x="0" y="0"/>
              <a:ext cx="3005748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and</a:t>
              </a:r>
            </a:p>
          </p:txBody>
        </p:sp>
        <p:sp>
          <p:nvSpPr>
            <p:cNvPr id="462" name="Bitwise or"/>
            <p:cNvSpPr txBox="1"/>
            <p:nvPr/>
          </p:nvSpPr>
          <p:spPr>
            <a:xfrm>
              <a:off x="21619" y="1133850"/>
              <a:ext cx="2600643" cy="7214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or</a:t>
              </a:r>
            </a:p>
          </p:txBody>
        </p:sp>
        <p:sp>
          <p:nvSpPr>
            <p:cNvPr id="463" name="Bitwise exclusive"/>
            <p:cNvSpPr txBox="1"/>
            <p:nvPr/>
          </p:nvSpPr>
          <p:spPr>
            <a:xfrm>
              <a:off x="45639" y="2254133"/>
              <a:ext cx="4384041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exclusive</a:t>
              </a:r>
            </a:p>
          </p:txBody>
        </p:sp>
        <p:sp>
          <p:nvSpPr>
            <p:cNvPr id="464" name="Bitwise not"/>
            <p:cNvSpPr txBox="1"/>
            <p:nvPr/>
          </p:nvSpPr>
          <p:spPr>
            <a:xfrm>
              <a:off x="57797" y="3381200"/>
              <a:ext cx="2890153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not</a:t>
              </a:r>
            </a:p>
          </p:txBody>
        </p:sp>
        <p:sp>
          <p:nvSpPr>
            <p:cNvPr id="465" name="shift a left by n(2) bits"/>
            <p:cNvSpPr txBox="1"/>
            <p:nvPr/>
          </p:nvSpPr>
          <p:spPr>
            <a:xfrm>
              <a:off x="-225706" y="4543065"/>
              <a:ext cx="5416590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shift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a</a:t>
              </a:r>
              <a:r>
                <a:t> left by n(2) bits</a:t>
              </a:r>
            </a:p>
          </p:txBody>
        </p:sp>
        <p:sp>
          <p:nvSpPr>
            <p:cNvPr id="466" name="shift a right by n(2) bits"/>
            <p:cNvSpPr txBox="1"/>
            <p:nvPr/>
          </p:nvSpPr>
          <p:spPr>
            <a:xfrm>
              <a:off x="-226177" y="5627008"/>
              <a:ext cx="5773789" cy="7214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shift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a</a:t>
              </a:r>
              <a:r>
                <a:t> right by n(2) bits</a:t>
              </a:r>
            </a:p>
          </p:txBody>
        </p:sp>
      </p:grpSp>
      <p:sp>
        <p:nvSpPr>
          <p:cNvPr id="468" name="8      4      2     1"/>
          <p:cNvSpPr txBox="1"/>
          <p:nvPr/>
        </p:nvSpPr>
        <p:spPr>
          <a:xfrm>
            <a:off x="17293330" y="1537160"/>
            <a:ext cx="3572511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8      4      2     1</a:t>
            </a:r>
          </a:p>
        </p:txBody>
      </p:sp>
      <p:sp>
        <p:nvSpPr>
          <p:cNvPr id="469" name="For 0"/>
          <p:cNvSpPr txBox="1"/>
          <p:nvPr/>
        </p:nvSpPr>
        <p:spPr>
          <a:xfrm>
            <a:off x="21081330" y="2096752"/>
            <a:ext cx="1162280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0</a:t>
            </a:r>
          </a:p>
        </p:txBody>
      </p:sp>
      <p:sp>
        <p:nvSpPr>
          <p:cNvPr id="470" name="0      0      0     0"/>
          <p:cNvSpPr txBox="1"/>
          <p:nvPr/>
        </p:nvSpPr>
        <p:spPr>
          <a:xfrm>
            <a:off x="17293330" y="2096752"/>
            <a:ext cx="3572511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0      0      0     0</a:t>
            </a:r>
          </a:p>
        </p:txBody>
      </p:sp>
      <p:sp>
        <p:nvSpPr>
          <p:cNvPr id="471" name="For 7"/>
          <p:cNvSpPr txBox="1"/>
          <p:nvPr/>
        </p:nvSpPr>
        <p:spPr>
          <a:xfrm>
            <a:off x="21081330" y="2595656"/>
            <a:ext cx="1162280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7</a:t>
            </a:r>
          </a:p>
        </p:txBody>
      </p:sp>
      <p:sp>
        <p:nvSpPr>
          <p:cNvPr id="472" name="0      1     1     1"/>
          <p:cNvSpPr txBox="1"/>
          <p:nvPr/>
        </p:nvSpPr>
        <p:spPr>
          <a:xfrm>
            <a:off x="17302550" y="2636889"/>
            <a:ext cx="3452471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0      1     1     1</a:t>
            </a:r>
          </a:p>
        </p:txBody>
      </p:sp>
      <p:sp>
        <p:nvSpPr>
          <p:cNvPr id="473" name="For 15"/>
          <p:cNvSpPr txBox="1"/>
          <p:nvPr/>
        </p:nvSpPr>
        <p:spPr>
          <a:xfrm>
            <a:off x="20961290" y="3127386"/>
            <a:ext cx="1402360" cy="609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15</a:t>
            </a:r>
          </a:p>
        </p:txBody>
      </p:sp>
      <p:sp>
        <p:nvSpPr>
          <p:cNvPr id="474" name="..  32     16"/>
          <p:cNvSpPr txBox="1"/>
          <p:nvPr/>
        </p:nvSpPr>
        <p:spPr>
          <a:xfrm>
            <a:off x="13965642" y="1537160"/>
            <a:ext cx="3332430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      ..  32     16</a:t>
            </a:r>
          </a:p>
        </p:txBody>
      </p:sp>
      <p:sp>
        <p:nvSpPr>
          <p:cNvPr id="475" name="..       .."/>
          <p:cNvSpPr txBox="1"/>
          <p:nvPr/>
        </p:nvSpPr>
        <p:spPr>
          <a:xfrm>
            <a:off x="14525675" y="2096752"/>
            <a:ext cx="2612187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      ..       ..</a:t>
            </a:r>
          </a:p>
        </p:txBody>
      </p:sp>
      <p:sp>
        <p:nvSpPr>
          <p:cNvPr id="476" name="1      1     1     1"/>
          <p:cNvSpPr txBox="1"/>
          <p:nvPr/>
        </p:nvSpPr>
        <p:spPr>
          <a:xfrm>
            <a:off x="17302550" y="3127386"/>
            <a:ext cx="3452471" cy="609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1      1     1     1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D0F9BC29-5E5F-BBCB-BFF3-82142EC9F676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  <p:pic>
        <p:nvPicPr>
          <p:cNvPr id="3" name="Screen Shot 2022-10-18 at 9.55.01 PM.png" descr="Screen Shot 2022-10-18 at 9.55.01 PM.png">
            <a:extLst>
              <a:ext uri="{FF2B5EF4-FFF2-40B4-BE49-F238E27FC236}">
                <a16:creationId xmlns:a16="http://schemas.microsoft.com/office/drawing/2014/main" id="{C3A66F4B-A1C0-B0D1-E1DF-2A2760BEA10F}"/>
              </a:ext>
            </a:extLst>
          </p:cNvPr>
          <p:cNvPicPr>
            <a:picLocks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3239202" y="3724333"/>
            <a:ext cx="5951944" cy="59628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" grpId="0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478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479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481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482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483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484" name="7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7</a:t>
            </a:r>
          </a:p>
        </p:txBody>
      </p:sp>
      <p:sp>
        <p:nvSpPr>
          <p:cNvPr id="486" name="Operators"/>
          <p:cNvSpPr txBox="1"/>
          <p:nvPr/>
        </p:nvSpPr>
        <p:spPr>
          <a:xfrm>
            <a:off x="9242575" y="1413107"/>
            <a:ext cx="317182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pPr>
              <a:defRPr sz="3900" b="0"/>
            </a:pPr>
            <a:r>
              <a:rPr sz="5000" b="1"/>
              <a:t>Operators</a:t>
            </a:r>
          </a:p>
        </p:txBody>
      </p:sp>
      <p:grpSp>
        <p:nvGrpSpPr>
          <p:cNvPr id="513" name="Group"/>
          <p:cNvGrpSpPr/>
          <p:nvPr/>
        </p:nvGrpSpPr>
        <p:grpSpPr>
          <a:xfrm>
            <a:off x="2230515" y="2425300"/>
            <a:ext cx="9005329" cy="8059256"/>
            <a:chOff x="0" y="-63028"/>
            <a:chExt cx="9005328" cy="8059255"/>
          </a:xfrm>
        </p:grpSpPr>
        <p:sp>
          <p:nvSpPr>
            <p:cNvPr id="487" name="In Python,…"/>
            <p:cNvSpPr txBox="1"/>
            <p:nvPr/>
          </p:nvSpPr>
          <p:spPr>
            <a:xfrm>
              <a:off x="0" y="-63029"/>
              <a:ext cx="9005329" cy="1415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lnSpc>
                  <a:spcPct val="120000"/>
                </a:lnSpc>
                <a:defRPr sz="4000" b="1">
                  <a:solidFill>
                    <a:srgbClr val="FFFFFF"/>
                  </a:solidFill>
                </a:defRPr>
              </a:pPr>
              <a:r>
                <a:t>In Python, </a:t>
              </a:r>
            </a:p>
            <a:p>
              <a:pPr algn="l">
                <a:lnSpc>
                  <a:spcPct val="120000"/>
                </a:lnSpc>
                <a:defRPr sz="3100" b="1">
                  <a:solidFill>
                    <a:srgbClr val="FFFFFF"/>
                  </a:solidFill>
                </a:defRPr>
              </a:pPr>
              <a:r>
                <a:rPr sz="3800"/>
                <a:t>Operators</a:t>
              </a:r>
              <a:r>
                <a:t> are divided in the following groups</a:t>
              </a:r>
            </a:p>
          </p:txBody>
        </p:sp>
        <p:pic>
          <p:nvPicPr>
            <p:cNvPr id="488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07" y="1377514"/>
              <a:ext cx="2388818" cy="76201"/>
            </a:xfrm>
            <a:prstGeom prst="rect">
              <a:avLst/>
            </a:prstGeom>
            <a:effectLst/>
          </p:spPr>
        </p:pic>
        <p:pic>
          <p:nvPicPr>
            <p:cNvPr id="490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2169180" y="4484577"/>
              <a:ext cx="6297564" cy="76201"/>
            </a:xfrm>
            <a:prstGeom prst="rect">
              <a:avLst/>
            </a:prstGeom>
            <a:effectLst/>
          </p:spPr>
        </p:pic>
        <p:pic>
          <p:nvPicPr>
            <p:cNvPr id="492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1857605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494" name="Arithmetic operators"/>
            <p:cNvSpPr txBox="1"/>
            <p:nvPr/>
          </p:nvSpPr>
          <p:spPr>
            <a:xfrm>
              <a:off x="1418586" y="1264013"/>
              <a:ext cx="4621600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Arithmetic operators</a:t>
              </a:r>
            </a:p>
          </p:txBody>
        </p:sp>
        <p:pic>
          <p:nvPicPr>
            <p:cNvPr id="495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2824186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497" name="Assignment operators"/>
            <p:cNvSpPr txBox="1"/>
            <p:nvPr/>
          </p:nvSpPr>
          <p:spPr>
            <a:xfrm>
              <a:off x="1416010" y="2248752"/>
              <a:ext cx="4636882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Assignment operators</a:t>
              </a:r>
            </a:p>
          </p:txBody>
        </p:sp>
        <p:pic>
          <p:nvPicPr>
            <p:cNvPr id="498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3768799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500" name="Comparison operators"/>
            <p:cNvSpPr txBox="1"/>
            <p:nvPr/>
          </p:nvSpPr>
          <p:spPr>
            <a:xfrm>
              <a:off x="1149472" y="3498165"/>
              <a:ext cx="5165626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Comparison operators</a:t>
              </a:r>
            </a:p>
          </p:txBody>
        </p:sp>
        <p:pic>
          <p:nvPicPr>
            <p:cNvPr id="501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4694061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503" name="Logical operators"/>
            <p:cNvSpPr txBox="1"/>
            <p:nvPr/>
          </p:nvSpPr>
          <p:spPr>
            <a:xfrm>
              <a:off x="1408478" y="4423428"/>
              <a:ext cx="4640935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Logical operators</a:t>
              </a:r>
            </a:p>
          </p:txBody>
        </p:sp>
        <p:pic>
          <p:nvPicPr>
            <p:cNvPr id="504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5643444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506" name="Identity operators"/>
            <p:cNvSpPr txBox="1"/>
            <p:nvPr/>
          </p:nvSpPr>
          <p:spPr>
            <a:xfrm>
              <a:off x="1417808" y="5371922"/>
              <a:ext cx="4628260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Identity operators</a:t>
              </a:r>
            </a:p>
          </p:txBody>
        </p:sp>
        <p:pic>
          <p:nvPicPr>
            <p:cNvPr id="507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6563937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509" name="Membership operator"/>
            <p:cNvSpPr txBox="1"/>
            <p:nvPr/>
          </p:nvSpPr>
          <p:spPr>
            <a:xfrm>
              <a:off x="1411983" y="5988503"/>
              <a:ext cx="4630549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Membership operator</a:t>
              </a:r>
            </a:p>
          </p:txBody>
        </p:sp>
        <p:pic>
          <p:nvPicPr>
            <p:cNvPr id="510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7503338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512" name="Bitwise operator"/>
            <p:cNvSpPr txBox="1"/>
            <p:nvPr/>
          </p:nvSpPr>
          <p:spPr>
            <a:xfrm>
              <a:off x="1420888" y="7259626"/>
              <a:ext cx="4620038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Bitwise operator</a:t>
              </a:r>
            </a:p>
          </p:txBody>
        </p:sp>
      </p:grpSp>
      <p:pic>
        <p:nvPicPr>
          <p:cNvPr id="514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98000"/>
          </a:blip>
          <a:stretch>
            <a:fillRect/>
          </a:stretch>
        </p:blipFill>
        <p:spPr>
          <a:xfrm>
            <a:off x="2394224" y="10722817"/>
            <a:ext cx="15022695" cy="167510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3239202" y="4028789"/>
            <a:ext cx="5951944" cy="4719574"/>
          </a:xfrm>
          <a:prstGeom prst="rect">
            <a:avLst/>
          </a:prstGeom>
          <a:ln w="12700">
            <a:miter lim="400000"/>
          </a:ln>
        </p:spPr>
      </p:pic>
      <p:sp>
        <p:nvSpPr>
          <p:cNvPr id="517" name="a &amp; b  AND…"/>
          <p:cNvSpPr txBox="1"/>
          <p:nvPr/>
        </p:nvSpPr>
        <p:spPr>
          <a:xfrm>
            <a:off x="9272830" y="4815709"/>
            <a:ext cx="3651182" cy="7404101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prstDash val="sysDot"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&amp; b  AND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| b     OR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 a ^ b    XOR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~ b   NOT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&lt;&lt; n  left shift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&gt;&gt; n right shift</a:t>
            </a:r>
          </a:p>
        </p:txBody>
      </p:sp>
      <p:sp>
        <p:nvSpPr>
          <p:cNvPr id="518" name="Line"/>
          <p:cNvSpPr/>
          <p:nvPr/>
        </p:nvSpPr>
        <p:spPr>
          <a:xfrm>
            <a:off x="8286750" y="10098087"/>
            <a:ext cx="892836" cy="1"/>
          </a:xfrm>
          <a:prstGeom prst="line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19" name="Lets take few variables a = 60, b = 13"/>
          <p:cNvSpPr txBox="1"/>
          <p:nvPr/>
        </p:nvSpPr>
        <p:spPr>
          <a:xfrm>
            <a:off x="13594534" y="3736619"/>
            <a:ext cx="8018002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 Lets take few variables a = 60, b = 13</a:t>
            </a:r>
          </a:p>
        </p:txBody>
      </p:sp>
      <p:grpSp>
        <p:nvGrpSpPr>
          <p:cNvPr id="526" name="Group"/>
          <p:cNvGrpSpPr/>
          <p:nvPr/>
        </p:nvGrpSpPr>
        <p:grpSpPr>
          <a:xfrm>
            <a:off x="12991063" y="5356206"/>
            <a:ext cx="5773789" cy="6348506"/>
            <a:chOff x="-226176" y="0"/>
            <a:chExt cx="5773788" cy="6348505"/>
          </a:xfrm>
        </p:grpSpPr>
        <p:sp>
          <p:nvSpPr>
            <p:cNvPr id="520" name="Bitwise and"/>
            <p:cNvSpPr txBox="1"/>
            <p:nvPr/>
          </p:nvSpPr>
          <p:spPr>
            <a:xfrm>
              <a:off x="0" y="0"/>
              <a:ext cx="3005748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and</a:t>
              </a:r>
            </a:p>
          </p:txBody>
        </p:sp>
        <p:sp>
          <p:nvSpPr>
            <p:cNvPr id="521" name="Bitwise or"/>
            <p:cNvSpPr txBox="1"/>
            <p:nvPr/>
          </p:nvSpPr>
          <p:spPr>
            <a:xfrm>
              <a:off x="21619" y="1133850"/>
              <a:ext cx="2600643" cy="7214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or</a:t>
              </a:r>
            </a:p>
          </p:txBody>
        </p:sp>
        <p:sp>
          <p:nvSpPr>
            <p:cNvPr id="522" name="Bitwise exclusive"/>
            <p:cNvSpPr txBox="1"/>
            <p:nvPr/>
          </p:nvSpPr>
          <p:spPr>
            <a:xfrm>
              <a:off x="45639" y="2254133"/>
              <a:ext cx="4384041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exclusive</a:t>
              </a:r>
            </a:p>
          </p:txBody>
        </p:sp>
        <p:sp>
          <p:nvSpPr>
            <p:cNvPr id="523" name="Bitwise not"/>
            <p:cNvSpPr txBox="1"/>
            <p:nvPr/>
          </p:nvSpPr>
          <p:spPr>
            <a:xfrm>
              <a:off x="57797" y="3381200"/>
              <a:ext cx="2890153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not</a:t>
              </a:r>
            </a:p>
          </p:txBody>
        </p:sp>
        <p:sp>
          <p:nvSpPr>
            <p:cNvPr id="524" name="shift a left by n(2) bits"/>
            <p:cNvSpPr txBox="1"/>
            <p:nvPr/>
          </p:nvSpPr>
          <p:spPr>
            <a:xfrm>
              <a:off x="-225706" y="4543065"/>
              <a:ext cx="5416590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shift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a</a:t>
              </a:r>
              <a:r>
                <a:t> left by n(2) bits</a:t>
              </a:r>
            </a:p>
          </p:txBody>
        </p:sp>
        <p:sp>
          <p:nvSpPr>
            <p:cNvPr id="525" name="shift a right by n(2) bits"/>
            <p:cNvSpPr txBox="1"/>
            <p:nvPr/>
          </p:nvSpPr>
          <p:spPr>
            <a:xfrm>
              <a:off x="-226177" y="5627008"/>
              <a:ext cx="5773789" cy="7214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shift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a</a:t>
              </a:r>
              <a:r>
                <a:t> right by n(2) bits</a:t>
              </a:r>
            </a:p>
          </p:txBody>
        </p:sp>
      </p:grpSp>
      <p:sp>
        <p:nvSpPr>
          <p:cNvPr id="527" name="8      4      2     1"/>
          <p:cNvSpPr txBox="1"/>
          <p:nvPr/>
        </p:nvSpPr>
        <p:spPr>
          <a:xfrm>
            <a:off x="17293330" y="1537160"/>
            <a:ext cx="3572511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8      4      2     1</a:t>
            </a:r>
          </a:p>
        </p:txBody>
      </p:sp>
      <p:sp>
        <p:nvSpPr>
          <p:cNvPr id="528" name="For 0"/>
          <p:cNvSpPr txBox="1"/>
          <p:nvPr/>
        </p:nvSpPr>
        <p:spPr>
          <a:xfrm>
            <a:off x="21081330" y="2096752"/>
            <a:ext cx="1162280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0</a:t>
            </a:r>
          </a:p>
        </p:txBody>
      </p:sp>
      <p:sp>
        <p:nvSpPr>
          <p:cNvPr id="529" name="0      0      0     0"/>
          <p:cNvSpPr txBox="1"/>
          <p:nvPr/>
        </p:nvSpPr>
        <p:spPr>
          <a:xfrm>
            <a:off x="17293330" y="2096752"/>
            <a:ext cx="3572511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0      0      0     0</a:t>
            </a:r>
          </a:p>
        </p:txBody>
      </p:sp>
      <p:sp>
        <p:nvSpPr>
          <p:cNvPr id="530" name="For 7"/>
          <p:cNvSpPr txBox="1"/>
          <p:nvPr/>
        </p:nvSpPr>
        <p:spPr>
          <a:xfrm>
            <a:off x="21081330" y="2595656"/>
            <a:ext cx="1162280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7</a:t>
            </a:r>
          </a:p>
        </p:txBody>
      </p:sp>
      <p:sp>
        <p:nvSpPr>
          <p:cNvPr id="531" name="For 15"/>
          <p:cNvSpPr txBox="1"/>
          <p:nvPr/>
        </p:nvSpPr>
        <p:spPr>
          <a:xfrm>
            <a:off x="20961290" y="3127386"/>
            <a:ext cx="1402360" cy="609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15</a:t>
            </a:r>
          </a:p>
        </p:txBody>
      </p:sp>
      <p:sp>
        <p:nvSpPr>
          <p:cNvPr id="532" name="..  32     16"/>
          <p:cNvSpPr txBox="1"/>
          <p:nvPr/>
        </p:nvSpPr>
        <p:spPr>
          <a:xfrm>
            <a:off x="13965642" y="1537160"/>
            <a:ext cx="3332430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      ..  32     16</a:t>
            </a:r>
          </a:p>
        </p:txBody>
      </p:sp>
      <p:sp>
        <p:nvSpPr>
          <p:cNvPr id="533" name="..       .."/>
          <p:cNvSpPr txBox="1"/>
          <p:nvPr/>
        </p:nvSpPr>
        <p:spPr>
          <a:xfrm>
            <a:off x="14525675" y="2096752"/>
            <a:ext cx="2612187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      ..       ..</a:t>
            </a:r>
          </a:p>
        </p:txBody>
      </p:sp>
      <p:grpSp>
        <p:nvGrpSpPr>
          <p:cNvPr id="536" name="Group"/>
          <p:cNvGrpSpPr/>
          <p:nvPr/>
        </p:nvGrpSpPr>
        <p:grpSpPr>
          <a:xfrm>
            <a:off x="17302551" y="2636889"/>
            <a:ext cx="3452471" cy="1100272"/>
            <a:chOff x="0" y="0"/>
            <a:chExt cx="3452469" cy="1100271"/>
          </a:xfrm>
        </p:grpSpPr>
        <p:sp>
          <p:nvSpPr>
            <p:cNvPr id="534" name="0      1     1     1"/>
            <p:cNvSpPr txBox="1"/>
            <p:nvPr/>
          </p:nvSpPr>
          <p:spPr>
            <a:xfrm>
              <a:off x="0" y="-1"/>
              <a:ext cx="3452470" cy="6097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3400" b="1">
                  <a:solidFill>
                    <a:srgbClr val="FFFFFF"/>
                  </a:solidFill>
                </a:defRPr>
              </a:pPr>
              <a:r>
                <a:t>0      1     1     1</a:t>
              </a:r>
            </a:p>
          </p:txBody>
        </p:sp>
        <p:sp>
          <p:nvSpPr>
            <p:cNvPr id="535" name="1      1     1     1"/>
            <p:cNvSpPr txBox="1"/>
            <p:nvPr/>
          </p:nvSpPr>
          <p:spPr>
            <a:xfrm>
              <a:off x="0" y="490496"/>
              <a:ext cx="3452470" cy="6097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3400" b="1">
                  <a:solidFill>
                    <a:srgbClr val="FFFFFF"/>
                  </a:solidFill>
                </a:defRPr>
              </a:pPr>
              <a:r>
                <a:t>1      1     1     1</a:t>
              </a:r>
            </a:p>
          </p:txBody>
        </p:sp>
      </p:grpSp>
      <p:sp>
        <p:nvSpPr>
          <p:cNvPr id="537" name="a = ( 1 1 1 1 0 0 )2"/>
          <p:cNvSpPr txBox="1"/>
          <p:nvPr/>
        </p:nvSpPr>
        <p:spPr>
          <a:xfrm>
            <a:off x="16958268" y="4278975"/>
            <a:ext cx="3051371" cy="53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a = ( 1 1 1 1 0 0 )</a:t>
            </a:r>
            <a:r>
              <a:rPr baseline="-5999"/>
              <a:t>2</a:t>
            </a:r>
          </a:p>
        </p:txBody>
      </p:sp>
      <p:sp>
        <p:nvSpPr>
          <p:cNvPr id="538" name="b = ( 0 0 1 1 0 1 )2"/>
          <p:cNvSpPr txBox="1"/>
          <p:nvPr/>
        </p:nvSpPr>
        <p:spPr>
          <a:xfrm>
            <a:off x="16951455" y="4852918"/>
            <a:ext cx="3064998" cy="53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b = ( 0 0 1 1 0 1 )</a:t>
            </a:r>
            <a:r>
              <a:rPr baseline="-5999"/>
              <a:t>2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A0A8B04A-CC79-6D3D-5772-583BDAF109B1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  <p:pic>
        <p:nvPicPr>
          <p:cNvPr id="3" name="Screen Shot 2022-10-18 at 9.55.01 PM.png" descr="Screen Shot 2022-10-18 at 9.55.01 PM.png">
            <a:extLst>
              <a:ext uri="{FF2B5EF4-FFF2-40B4-BE49-F238E27FC236}">
                <a16:creationId xmlns:a16="http://schemas.microsoft.com/office/drawing/2014/main" id="{8B1704DA-B904-BACF-9B14-6FD007D09D18}"/>
              </a:ext>
            </a:extLst>
          </p:cNvPr>
          <p:cNvPicPr>
            <a:picLocks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3239202" y="3724333"/>
            <a:ext cx="5951944" cy="59628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" grpId="0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540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541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542" name="0 0 1 1 0 0"/>
            <p:cNvSpPr txBox="1"/>
            <p:nvPr/>
          </p:nvSpPr>
          <p:spPr>
            <a:xfrm>
              <a:off x="16680066" y="4830750"/>
              <a:ext cx="1854887" cy="5354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900" b="1">
                  <a:solidFill>
                    <a:srgbClr val="FFFFFF"/>
                  </a:solidFill>
                </a:defRPr>
              </a:lvl1pPr>
            </a:lstStyle>
            <a:p>
              <a:r>
                <a:t>0 0 1 1 0 0</a:t>
              </a:r>
            </a:p>
          </p:txBody>
        </p:sp>
        <p:sp>
          <p:nvSpPr>
            <p:cNvPr id="543" name="= 12"/>
            <p:cNvSpPr txBox="1"/>
            <p:nvPr/>
          </p:nvSpPr>
          <p:spPr>
            <a:xfrm>
              <a:off x="19127540" y="4799737"/>
              <a:ext cx="948310" cy="597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300" b="1">
                  <a:solidFill>
                    <a:srgbClr val="FFFFFF"/>
                  </a:solidFill>
                </a:defRPr>
              </a:lvl1pPr>
            </a:lstStyle>
            <a:p>
              <a:r>
                <a:t>= 12</a:t>
              </a:r>
            </a:p>
          </p:txBody>
        </p:sp>
        <p:sp>
          <p:nvSpPr>
            <p:cNvPr id="544" name="Rectangle"/>
            <p:cNvSpPr/>
            <p:nvPr/>
          </p:nvSpPr>
          <p:spPr>
            <a:xfrm>
              <a:off x="17302125" y="3716469"/>
              <a:ext cx="310562" cy="1035645"/>
            </a:xfrm>
            <a:prstGeom prst="rect">
              <a:avLst/>
            </a:prstGeom>
            <a:noFill/>
            <a:ln w="12700" cap="flat">
              <a:solidFill>
                <a:schemeClr val="accent4">
                  <a:hueOff val="-476017"/>
                  <a:lumOff val="-10042"/>
                </a:schemeClr>
              </a:solidFill>
              <a:prstDash val="sysDot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545" name="Rectangle"/>
            <p:cNvSpPr/>
            <p:nvPr/>
          </p:nvSpPr>
          <p:spPr>
            <a:xfrm>
              <a:off x="16639627" y="3720179"/>
              <a:ext cx="366765" cy="1028224"/>
            </a:xfrm>
            <a:prstGeom prst="rect">
              <a:avLst/>
            </a:prstGeom>
            <a:noFill/>
            <a:ln w="12700" cap="flat">
              <a:solidFill>
                <a:schemeClr val="accent4">
                  <a:hueOff val="-476017"/>
                  <a:lumOff val="-10042"/>
                </a:schemeClr>
              </a:solidFill>
              <a:prstDash val="sysDot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546" name="1 1 1 1 0 1"/>
            <p:cNvSpPr txBox="1"/>
            <p:nvPr/>
          </p:nvSpPr>
          <p:spPr>
            <a:xfrm>
              <a:off x="16680066" y="5979682"/>
              <a:ext cx="1854887" cy="5354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900" b="1">
                  <a:solidFill>
                    <a:srgbClr val="FFFFFF"/>
                  </a:solidFill>
                </a:defRPr>
              </a:lvl1pPr>
            </a:lstStyle>
            <a:p>
              <a:r>
                <a:t>1 1 1 1 0 1</a:t>
              </a:r>
            </a:p>
          </p:txBody>
        </p:sp>
        <p:sp>
          <p:nvSpPr>
            <p:cNvPr id="547" name="= 61"/>
            <p:cNvSpPr txBox="1"/>
            <p:nvPr/>
          </p:nvSpPr>
          <p:spPr>
            <a:xfrm>
              <a:off x="19127540" y="5948669"/>
              <a:ext cx="948310" cy="597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300" b="1">
                  <a:solidFill>
                    <a:srgbClr val="FFFFFF"/>
                  </a:solidFill>
                </a:defRPr>
              </a:lvl1pPr>
            </a:lstStyle>
            <a:p>
              <a:r>
                <a:t>= 61</a:t>
              </a:r>
            </a:p>
          </p:txBody>
        </p:sp>
        <p:sp>
          <p:nvSpPr>
            <p:cNvPr id="548" name="1 1 0 0 0 1"/>
            <p:cNvSpPr txBox="1"/>
            <p:nvPr/>
          </p:nvSpPr>
          <p:spPr>
            <a:xfrm>
              <a:off x="16680066" y="7128615"/>
              <a:ext cx="1854887" cy="5354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900" b="1">
                  <a:solidFill>
                    <a:srgbClr val="FFFFFF"/>
                  </a:solidFill>
                </a:defRPr>
              </a:pPr>
              <a:r>
                <a:t>1 1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0 0</a:t>
              </a:r>
              <a:r>
                <a:t> 0 1</a:t>
              </a:r>
            </a:p>
          </p:txBody>
        </p:sp>
        <p:sp>
          <p:nvSpPr>
            <p:cNvPr id="549" name="= 49"/>
            <p:cNvSpPr txBox="1"/>
            <p:nvPr/>
          </p:nvSpPr>
          <p:spPr>
            <a:xfrm>
              <a:off x="19127540" y="7039714"/>
              <a:ext cx="948310" cy="597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300" b="1">
                  <a:solidFill>
                    <a:srgbClr val="FFFFFF"/>
                  </a:solidFill>
                </a:defRPr>
              </a:lvl1pPr>
            </a:lstStyle>
            <a:p>
              <a:r>
                <a:t>= 49</a:t>
              </a:r>
            </a:p>
          </p:txBody>
        </p:sp>
        <p:sp>
          <p:nvSpPr>
            <p:cNvPr id="550" name="1 1 0 0 1 0"/>
            <p:cNvSpPr txBox="1"/>
            <p:nvPr/>
          </p:nvSpPr>
          <p:spPr>
            <a:xfrm>
              <a:off x="16628873" y="8277547"/>
              <a:ext cx="1957274" cy="5354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900" b="1">
                  <a:solidFill>
                    <a:srgbClr val="FFFFFF"/>
                  </a:solidFill>
                </a:defRPr>
              </a:lvl1pPr>
            </a:lstStyle>
            <a:p>
              <a:r>
                <a:t> 1 1 0 0 1 0</a:t>
              </a:r>
            </a:p>
          </p:txBody>
        </p:sp>
      </p:grpSp>
      <p:sp>
        <p:nvSpPr>
          <p:cNvPr id="552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553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554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555" name="8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8</a:t>
            </a:r>
          </a:p>
        </p:txBody>
      </p:sp>
      <p:sp>
        <p:nvSpPr>
          <p:cNvPr id="557" name="Operators"/>
          <p:cNvSpPr txBox="1"/>
          <p:nvPr/>
        </p:nvSpPr>
        <p:spPr>
          <a:xfrm>
            <a:off x="9242575" y="1413107"/>
            <a:ext cx="3171826" cy="85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pPr>
              <a:defRPr sz="3900" b="0"/>
            </a:pPr>
            <a:r>
              <a:rPr sz="5000" b="1"/>
              <a:t>Operators</a:t>
            </a:r>
          </a:p>
        </p:txBody>
      </p:sp>
      <p:grpSp>
        <p:nvGrpSpPr>
          <p:cNvPr id="584" name="Group"/>
          <p:cNvGrpSpPr/>
          <p:nvPr/>
        </p:nvGrpSpPr>
        <p:grpSpPr>
          <a:xfrm>
            <a:off x="2230515" y="2425300"/>
            <a:ext cx="9005329" cy="8059256"/>
            <a:chOff x="0" y="-63028"/>
            <a:chExt cx="9005328" cy="8059255"/>
          </a:xfrm>
        </p:grpSpPr>
        <p:sp>
          <p:nvSpPr>
            <p:cNvPr id="558" name="In Python,…"/>
            <p:cNvSpPr txBox="1"/>
            <p:nvPr/>
          </p:nvSpPr>
          <p:spPr>
            <a:xfrm>
              <a:off x="0" y="-63029"/>
              <a:ext cx="9005329" cy="1415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lnSpc>
                  <a:spcPct val="120000"/>
                </a:lnSpc>
                <a:defRPr sz="4000" b="1">
                  <a:solidFill>
                    <a:srgbClr val="FFFFFF"/>
                  </a:solidFill>
                </a:defRPr>
              </a:pPr>
              <a:r>
                <a:t>In Python, </a:t>
              </a:r>
            </a:p>
            <a:p>
              <a:pPr algn="l">
                <a:lnSpc>
                  <a:spcPct val="120000"/>
                </a:lnSpc>
                <a:defRPr sz="3100" b="1">
                  <a:solidFill>
                    <a:srgbClr val="FFFFFF"/>
                  </a:solidFill>
                </a:defRPr>
              </a:pPr>
              <a:r>
                <a:rPr sz="3800"/>
                <a:t>Operators</a:t>
              </a:r>
              <a:r>
                <a:t> are divided in the following groups</a:t>
              </a:r>
            </a:p>
          </p:txBody>
        </p:sp>
        <p:pic>
          <p:nvPicPr>
            <p:cNvPr id="559" name="Line Line" descr="Line Line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07" y="1377514"/>
              <a:ext cx="2388818" cy="76201"/>
            </a:xfrm>
            <a:prstGeom prst="rect">
              <a:avLst/>
            </a:prstGeom>
            <a:effectLst/>
          </p:spPr>
        </p:pic>
        <p:pic>
          <p:nvPicPr>
            <p:cNvPr id="561" name="Line Line" descr="Line Line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2169180" y="4484577"/>
              <a:ext cx="6297564" cy="76201"/>
            </a:xfrm>
            <a:prstGeom prst="rect">
              <a:avLst/>
            </a:prstGeom>
            <a:effectLst/>
          </p:spPr>
        </p:pic>
        <p:pic>
          <p:nvPicPr>
            <p:cNvPr id="563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1857605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565" name="Arithmetic operators"/>
            <p:cNvSpPr txBox="1"/>
            <p:nvPr/>
          </p:nvSpPr>
          <p:spPr>
            <a:xfrm>
              <a:off x="1418586" y="1264013"/>
              <a:ext cx="4621600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Arithmetic operators</a:t>
              </a:r>
            </a:p>
          </p:txBody>
        </p:sp>
        <p:pic>
          <p:nvPicPr>
            <p:cNvPr id="566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2824186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568" name="Assignment operators"/>
            <p:cNvSpPr txBox="1"/>
            <p:nvPr/>
          </p:nvSpPr>
          <p:spPr>
            <a:xfrm>
              <a:off x="1416010" y="2248752"/>
              <a:ext cx="4636882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Assignment operators</a:t>
              </a:r>
            </a:p>
          </p:txBody>
        </p:sp>
        <p:pic>
          <p:nvPicPr>
            <p:cNvPr id="569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3768799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571" name="Comparison operators"/>
            <p:cNvSpPr txBox="1"/>
            <p:nvPr/>
          </p:nvSpPr>
          <p:spPr>
            <a:xfrm>
              <a:off x="1149472" y="3498165"/>
              <a:ext cx="5165626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Comparison operators</a:t>
              </a:r>
            </a:p>
          </p:txBody>
        </p:sp>
        <p:pic>
          <p:nvPicPr>
            <p:cNvPr id="572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4694061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574" name="Logical operators"/>
            <p:cNvSpPr txBox="1"/>
            <p:nvPr/>
          </p:nvSpPr>
          <p:spPr>
            <a:xfrm>
              <a:off x="1408478" y="4423428"/>
              <a:ext cx="4640935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Logical operators</a:t>
              </a:r>
            </a:p>
          </p:txBody>
        </p:sp>
        <p:pic>
          <p:nvPicPr>
            <p:cNvPr id="575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5643444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577" name="Identity operators"/>
            <p:cNvSpPr txBox="1"/>
            <p:nvPr/>
          </p:nvSpPr>
          <p:spPr>
            <a:xfrm>
              <a:off x="1417808" y="5371922"/>
              <a:ext cx="4628260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Identity operators</a:t>
              </a:r>
            </a:p>
          </p:txBody>
        </p:sp>
        <p:pic>
          <p:nvPicPr>
            <p:cNvPr id="578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6563937"/>
              <a:ext cx="641703" cy="195333"/>
            </a:xfrm>
            <a:prstGeom prst="rect">
              <a:avLst/>
            </a:prstGeom>
            <a:effectLst/>
          </p:spPr>
        </p:pic>
        <p:sp>
          <p:nvSpPr>
            <p:cNvPr id="580" name="Membership operator"/>
            <p:cNvSpPr txBox="1"/>
            <p:nvPr/>
          </p:nvSpPr>
          <p:spPr>
            <a:xfrm>
              <a:off x="1411983" y="5988503"/>
              <a:ext cx="4630549" cy="13462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st="8455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Membership operator</a:t>
              </a:r>
            </a:p>
          </p:txBody>
        </p:sp>
        <p:pic>
          <p:nvPicPr>
            <p:cNvPr id="581" name="Line Line" descr="Line Line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95" y="7503338"/>
              <a:ext cx="641703" cy="195334"/>
            </a:xfrm>
            <a:prstGeom prst="rect">
              <a:avLst/>
            </a:prstGeom>
            <a:effectLst/>
          </p:spPr>
        </p:pic>
        <p:sp>
          <p:nvSpPr>
            <p:cNvPr id="583" name="Bitwise operator"/>
            <p:cNvSpPr txBox="1"/>
            <p:nvPr/>
          </p:nvSpPr>
          <p:spPr>
            <a:xfrm>
              <a:off x="1420888" y="7259626"/>
              <a:ext cx="4620038" cy="736601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ED220D"/>
              </a:solidFill>
              <a:prstDash val="sysDot"/>
              <a:miter lim="400000"/>
            </a:ln>
            <a:effectLst>
              <a:outerShdw blurRad="190500" dir="5400000" rotWithShape="0">
                <a:srgbClr val="FFFFFF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000000"/>
                  </a:solidFill>
                  <a:latin typeface="Goudy Old Style"/>
                  <a:ea typeface="Goudy Old Style"/>
                  <a:cs typeface="Goudy Old Style"/>
                  <a:sym typeface="Goudy Old Style"/>
                </a:defRPr>
              </a:lvl1pPr>
            </a:lstStyle>
            <a:p>
              <a:r>
                <a:t>Bitwise operator</a:t>
              </a:r>
            </a:p>
          </p:txBody>
        </p:sp>
      </p:grpSp>
      <p:pic>
        <p:nvPicPr>
          <p:cNvPr id="585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98000"/>
          </a:blip>
          <a:stretch>
            <a:fillRect/>
          </a:stretch>
        </p:blipFill>
        <p:spPr>
          <a:xfrm>
            <a:off x="2394224" y="10722817"/>
            <a:ext cx="15022695" cy="1675108"/>
          </a:xfrm>
          <a:prstGeom prst="rect">
            <a:avLst/>
          </a:prstGeom>
          <a:ln w="12700">
            <a:miter lim="400000"/>
          </a:ln>
        </p:spPr>
      </p:pic>
      <p:pic>
        <p:nvPicPr>
          <p:cNvPr id="586" name="Screen Shot 2022-10-18 at 9.55.01 PM.png" descr="Screen Shot 2022-10-18 at 9.55.01 PM.png"/>
          <p:cNvPicPr>
            <a:picLocks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3239202" y="4028789"/>
            <a:ext cx="5951944" cy="4719574"/>
          </a:xfrm>
          <a:prstGeom prst="rect">
            <a:avLst/>
          </a:prstGeom>
          <a:ln w="12700">
            <a:miter lim="400000"/>
          </a:ln>
        </p:spPr>
      </p:pic>
      <p:sp>
        <p:nvSpPr>
          <p:cNvPr id="588" name="a &amp; b  AND…"/>
          <p:cNvSpPr txBox="1"/>
          <p:nvPr/>
        </p:nvSpPr>
        <p:spPr>
          <a:xfrm>
            <a:off x="9272830" y="4815709"/>
            <a:ext cx="3651182" cy="7404101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prstDash val="sysDot"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&amp; b  AND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| b     OR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 a ^ b    XOR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~ b   NOT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&lt;&lt; n  left shift</a:t>
            </a:r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algn="l" defTabSz="457200">
              <a:lnSpc>
                <a:spcPts val="5800"/>
              </a:lnSpc>
              <a:defRPr sz="3700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a &gt;&gt; n right shift</a:t>
            </a:r>
          </a:p>
        </p:txBody>
      </p:sp>
      <p:sp>
        <p:nvSpPr>
          <p:cNvPr id="589" name="Line"/>
          <p:cNvSpPr/>
          <p:nvPr/>
        </p:nvSpPr>
        <p:spPr>
          <a:xfrm>
            <a:off x="8286750" y="10098087"/>
            <a:ext cx="892836" cy="1"/>
          </a:xfrm>
          <a:prstGeom prst="line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prstDash val="sysDot"/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90" name="Lets take few variables a = 60, b = 13"/>
          <p:cNvSpPr txBox="1"/>
          <p:nvPr/>
        </p:nvSpPr>
        <p:spPr>
          <a:xfrm>
            <a:off x="13594534" y="3736619"/>
            <a:ext cx="8018002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 Lets take few variables a = 60, b = 13</a:t>
            </a:r>
          </a:p>
        </p:txBody>
      </p:sp>
      <p:grpSp>
        <p:nvGrpSpPr>
          <p:cNvPr id="597" name="Group"/>
          <p:cNvGrpSpPr/>
          <p:nvPr/>
        </p:nvGrpSpPr>
        <p:grpSpPr>
          <a:xfrm>
            <a:off x="12991063" y="5356206"/>
            <a:ext cx="5773789" cy="6348506"/>
            <a:chOff x="-226176" y="0"/>
            <a:chExt cx="5773788" cy="6348505"/>
          </a:xfrm>
        </p:grpSpPr>
        <p:sp>
          <p:nvSpPr>
            <p:cNvPr id="591" name="Bitwise and"/>
            <p:cNvSpPr txBox="1"/>
            <p:nvPr/>
          </p:nvSpPr>
          <p:spPr>
            <a:xfrm>
              <a:off x="0" y="0"/>
              <a:ext cx="3005748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and</a:t>
              </a:r>
            </a:p>
          </p:txBody>
        </p:sp>
        <p:sp>
          <p:nvSpPr>
            <p:cNvPr id="592" name="Bitwise or"/>
            <p:cNvSpPr txBox="1"/>
            <p:nvPr/>
          </p:nvSpPr>
          <p:spPr>
            <a:xfrm>
              <a:off x="21619" y="1133850"/>
              <a:ext cx="2600643" cy="7214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or</a:t>
              </a:r>
            </a:p>
          </p:txBody>
        </p:sp>
        <p:sp>
          <p:nvSpPr>
            <p:cNvPr id="593" name="Bitwise exclusive"/>
            <p:cNvSpPr txBox="1"/>
            <p:nvPr/>
          </p:nvSpPr>
          <p:spPr>
            <a:xfrm>
              <a:off x="45639" y="2254133"/>
              <a:ext cx="4384041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exclusive</a:t>
              </a:r>
            </a:p>
          </p:txBody>
        </p:sp>
        <p:sp>
          <p:nvSpPr>
            <p:cNvPr id="594" name="Bitwise not"/>
            <p:cNvSpPr txBox="1"/>
            <p:nvPr/>
          </p:nvSpPr>
          <p:spPr>
            <a:xfrm>
              <a:off x="57797" y="3381200"/>
              <a:ext cx="2890153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Bitwise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not</a:t>
              </a:r>
            </a:p>
          </p:txBody>
        </p:sp>
        <p:sp>
          <p:nvSpPr>
            <p:cNvPr id="595" name="shift a left by n(2) bits"/>
            <p:cNvSpPr txBox="1"/>
            <p:nvPr/>
          </p:nvSpPr>
          <p:spPr>
            <a:xfrm>
              <a:off x="-225706" y="4543065"/>
              <a:ext cx="5416590" cy="72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shift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a</a:t>
              </a:r>
              <a:r>
                <a:t> left by n(2) bits</a:t>
              </a:r>
            </a:p>
          </p:txBody>
        </p:sp>
        <p:sp>
          <p:nvSpPr>
            <p:cNvPr id="596" name="shift a right by n(2) bits"/>
            <p:cNvSpPr txBox="1"/>
            <p:nvPr/>
          </p:nvSpPr>
          <p:spPr>
            <a:xfrm>
              <a:off x="-226177" y="5627008"/>
              <a:ext cx="5773789" cy="7214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4100" b="1">
                  <a:solidFill>
                    <a:srgbClr val="FFFFFF"/>
                  </a:solidFill>
                </a:defRPr>
              </a:pPr>
              <a:r>
                <a:t>shift </a:t>
              </a:r>
              <a:r>
                <a:rPr>
                  <a:solidFill>
                    <a:schemeClr val="accent4">
                      <a:hueOff val="-476017"/>
                      <a:lumOff val="-10042"/>
                    </a:schemeClr>
                  </a:solidFill>
                </a:rPr>
                <a:t>a</a:t>
              </a:r>
              <a:r>
                <a:t> right by n(2) bits</a:t>
              </a:r>
            </a:p>
          </p:txBody>
        </p:sp>
      </p:grpSp>
      <p:sp>
        <p:nvSpPr>
          <p:cNvPr id="598" name="8      4      2     1"/>
          <p:cNvSpPr txBox="1"/>
          <p:nvPr/>
        </p:nvSpPr>
        <p:spPr>
          <a:xfrm>
            <a:off x="17293330" y="1537160"/>
            <a:ext cx="3572511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8      4      2     1</a:t>
            </a:r>
          </a:p>
        </p:txBody>
      </p:sp>
      <p:sp>
        <p:nvSpPr>
          <p:cNvPr id="599" name="For 0"/>
          <p:cNvSpPr txBox="1"/>
          <p:nvPr/>
        </p:nvSpPr>
        <p:spPr>
          <a:xfrm>
            <a:off x="21081330" y="2096752"/>
            <a:ext cx="1162280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0</a:t>
            </a:r>
          </a:p>
        </p:txBody>
      </p:sp>
      <p:sp>
        <p:nvSpPr>
          <p:cNvPr id="600" name="0      0      0     0"/>
          <p:cNvSpPr txBox="1"/>
          <p:nvPr/>
        </p:nvSpPr>
        <p:spPr>
          <a:xfrm>
            <a:off x="17293330" y="2096752"/>
            <a:ext cx="3572511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0      0      0     0</a:t>
            </a:r>
          </a:p>
        </p:txBody>
      </p:sp>
      <p:sp>
        <p:nvSpPr>
          <p:cNvPr id="601" name="For 7"/>
          <p:cNvSpPr txBox="1"/>
          <p:nvPr/>
        </p:nvSpPr>
        <p:spPr>
          <a:xfrm>
            <a:off x="21081330" y="2595656"/>
            <a:ext cx="1162280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7</a:t>
            </a:r>
          </a:p>
        </p:txBody>
      </p:sp>
      <p:sp>
        <p:nvSpPr>
          <p:cNvPr id="602" name="For 15"/>
          <p:cNvSpPr txBox="1"/>
          <p:nvPr/>
        </p:nvSpPr>
        <p:spPr>
          <a:xfrm>
            <a:off x="20961290" y="3127386"/>
            <a:ext cx="1402360" cy="609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4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15</a:t>
            </a:r>
          </a:p>
        </p:txBody>
      </p:sp>
      <p:grpSp>
        <p:nvGrpSpPr>
          <p:cNvPr id="605" name="Group"/>
          <p:cNvGrpSpPr/>
          <p:nvPr/>
        </p:nvGrpSpPr>
        <p:grpSpPr>
          <a:xfrm>
            <a:off x="17242530" y="2636889"/>
            <a:ext cx="3585211" cy="1100272"/>
            <a:chOff x="0" y="0"/>
            <a:chExt cx="3585209" cy="1100271"/>
          </a:xfrm>
        </p:grpSpPr>
        <p:sp>
          <p:nvSpPr>
            <p:cNvPr id="603" name="0      1      1     1"/>
            <p:cNvSpPr txBox="1"/>
            <p:nvPr/>
          </p:nvSpPr>
          <p:spPr>
            <a:xfrm>
              <a:off x="-1" y="-1"/>
              <a:ext cx="3572511" cy="6097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3400" b="1">
                  <a:solidFill>
                    <a:srgbClr val="FFFFFF"/>
                  </a:solidFill>
                </a:defRPr>
              </a:pPr>
              <a:r>
                <a:t>0      1      1     1</a:t>
              </a:r>
            </a:p>
          </p:txBody>
        </p:sp>
        <p:sp>
          <p:nvSpPr>
            <p:cNvPr id="604" name="1      1      1     1"/>
            <p:cNvSpPr txBox="1"/>
            <p:nvPr/>
          </p:nvSpPr>
          <p:spPr>
            <a:xfrm>
              <a:off x="12699" y="490496"/>
              <a:ext cx="3572511" cy="6097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3400" b="1">
                  <a:solidFill>
                    <a:srgbClr val="FFFFFF"/>
                  </a:solidFill>
                </a:defRPr>
              </a:pPr>
              <a:r>
                <a:t>1      1      1     1</a:t>
              </a:r>
            </a:p>
          </p:txBody>
        </p:sp>
      </p:grpSp>
      <p:sp>
        <p:nvSpPr>
          <p:cNvPr id="606" name="..  32     16"/>
          <p:cNvSpPr txBox="1"/>
          <p:nvPr/>
        </p:nvSpPr>
        <p:spPr>
          <a:xfrm>
            <a:off x="13965642" y="1537160"/>
            <a:ext cx="3332430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      ..  32     16</a:t>
            </a:r>
          </a:p>
        </p:txBody>
      </p:sp>
      <p:sp>
        <p:nvSpPr>
          <p:cNvPr id="607" name="..       .."/>
          <p:cNvSpPr txBox="1"/>
          <p:nvPr/>
        </p:nvSpPr>
        <p:spPr>
          <a:xfrm>
            <a:off x="14525675" y="2096752"/>
            <a:ext cx="2612187" cy="60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defRPr sz="3400" b="1">
                <a:solidFill>
                  <a:srgbClr val="FFFFFF"/>
                </a:solidFill>
              </a:defRPr>
            </a:pPr>
            <a:r>
              <a:t>      ..       ..</a:t>
            </a:r>
          </a:p>
        </p:txBody>
      </p:sp>
      <p:sp>
        <p:nvSpPr>
          <p:cNvPr id="608" name="a = ( 1 1 1 1 0 0 )2"/>
          <p:cNvSpPr txBox="1"/>
          <p:nvPr/>
        </p:nvSpPr>
        <p:spPr>
          <a:xfrm>
            <a:off x="16958268" y="4278975"/>
            <a:ext cx="3051371" cy="53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a = ( 1 1 1 1 0 0 )</a:t>
            </a:r>
            <a:r>
              <a:rPr baseline="-5999"/>
              <a:t>2</a:t>
            </a:r>
          </a:p>
        </p:txBody>
      </p:sp>
      <p:sp>
        <p:nvSpPr>
          <p:cNvPr id="609" name="b = ( 0 0 1 1 0 1 )2"/>
          <p:cNvSpPr txBox="1"/>
          <p:nvPr/>
        </p:nvSpPr>
        <p:spPr>
          <a:xfrm>
            <a:off x="16951455" y="4852918"/>
            <a:ext cx="3064998" cy="53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b = ( 0 0 1 1 0 1 )</a:t>
            </a:r>
            <a:r>
              <a:rPr baseline="-5999"/>
              <a:t>2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1AE34F8D-97E1-3AC3-A2D8-7D0F71AEF694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  <p:pic>
        <p:nvPicPr>
          <p:cNvPr id="3" name="Screen Shot 2022-10-18 at 9.55.01 PM.png" descr="Screen Shot 2022-10-18 at 9.55.01 PM.png">
            <a:extLst>
              <a:ext uri="{FF2B5EF4-FFF2-40B4-BE49-F238E27FC236}">
                <a16:creationId xmlns:a16="http://schemas.microsoft.com/office/drawing/2014/main" id="{7A75244E-BD24-E0D9-22B8-65E6BC47E3FD}"/>
              </a:ext>
            </a:extLst>
          </p:cNvPr>
          <p:cNvPicPr>
            <a:picLocks/>
          </p:cNvPicPr>
          <p:nvPr/>
        </p:nvPicPr>
        <p:blipFill>
          <a:blip r:embed="rId6">
            <a:alphaModFix amt="88000"/>
          </a:blip>
          <a:stretch>
            <a:fillRect/>
          </a:stretch>
        </p:blipFill>
        <p:spPr>
          <a:xfrm>
            <a:off x="3239202" y="3724333"/>
            <a:ext cx="5951944" cy="59628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4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611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612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14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615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616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617" name="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9</a:t>
            </a:r>
          </a:p>
        </p:txBody>
      </p:sp>
      <p:sp>
        <p:nvSpPr>
          <p:cNvPr id="619" name="Operators precedence follow in Python"/>
          <p:cNvSpPr txBox="1"/>
          <p:nvPr/>
        </p:nvSpPr>
        <p:spPr>
          <a:xfrm>
            <a:off x="7903100" y="1330517"/>
            <a:ext cx="8394447" cy="634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" b="1">
                <a:solidFill>
                  <a:srgbClr val="FFFFFF"/>
                </a:solidFill>
              </a:defRPr>
            </a:lvl1pPr>
          </a:lstStyle>
          <a:p>
            <a:r>
              <a:t>Operators precedence follow in Python</a:t>
            </a:r>
          </a:p>
        </p:txBody>
      </p:sp>
      <p:graphicFrame>
        <p:nvGraphicFramePr>
          <p:cNvPr id="620" name="Table 1"/>
          <p:cNvGraphicFramePr/>
          <p:nvPr/>
        </p:nvGraphicFramePr>
        <p:xfrm>
          <a:off x="4819716" y="2628001"/>
          <a:ext cx="16386384" cy="864438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908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8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36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36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36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36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36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36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36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36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36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2036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2036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20365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657" name="Group"/>
          <p:cNvGrpSpPr/>
          <p:nvPr/>
        </p:nvGrpSpPr>
        <p:grpSpPr>
          <a:xfrm>
            <a:off x="5226959" y="2667951"/>
            <a:ext cx="6289308" cy="8697430"/>
            <a:chOff x="3710675" y="-416229"/>
            <a:chExt cx="6289306" cy="8697429"/>
          </a:xfrm>
        </p:grpSpPr>
        <p:grpSp>
          <p:nvGrpSpPr>
            <p:cNvPr id="623" name="**"/>
            <p:cNvGrpSpPr/>
            <p:nvPr/>
          </p:nvGrpSpPr>
          <p:grpSpPr>
            <a:xfrm>
              <a:off x="6516213" y="-416230"/>
              <a:ext cx="678232" cy="710270"/>
              <a:chOff x="0" y="0"/>
              <a:chExt cx="678230" cy="710269"/>
            </a:xfrm>
          </p:grpSpPr>
          <p:sp>
            <p:nvSpPr>
              <p:cNvPr id="622" name="**"/>
              <p:cNvSpPr txBox="1"/>
              <p:nvPr/>
            </p:nvSpPr>
            <p:spPr>
              <a:xfrm>
                <a:off x="12700" y="12700"/>
                <a:ext cx="652831" cy="6848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700" b="1">
                    <a:solidFill>
                      <a:srgbClr val="FFFFFF"/>
                    </a:solidFill>
                  </a:defRPr>
                </a:lvl1pPr>
              </a:lstStyle>
              <a:p>
                <a: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pPr>
                <a:r>
                  <a:rPr>
                    <a:solidFill>
                      <a:srgbClr val="FFFFFF"/>
                    </a:solidFill>
                  </a:rPr>
                  <a:t>** </a:t>
                </a:r>
              </a:p>
            </p:txBody>
          </p:sp>
          <p:pic>
            <p:nvPicPr>
              <p:cNvPr id="621" name="** ** " descr="** ** 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678231" cy="710270"/>
              </a:xfrm>
              <a:prstGeom prst="rect">
                <a:avLst/>
              </a:prstGeom>
              <a:effectLst/>
            </p:spPr>
          </p:pic>
        </p:grpSp>
        <p:grpSp>
          <p:nvGrpSpPr>
            <p:cNvPr id="626" name="~, +, -"/>
            <p:cNvGrpSpPr/>
            <p:nvPr/>
          </p:nvGrpSpPr>
          <p:grpSpPr>
            <a:xfrm>
              <a:off x="6133949" y="262358"/>
              <a:ext cx="1442759" cy="710271"/>
              <a:chOff x="0" y="0"/>
              <a:chExt cx="1442758" cy="710269"/>
            </a:xfrm>
          </p:grpSpPr>
          <p:sp>
            <p:nvSpPr>
              <p:cNvPr id="625" name="~, +, -"/>
              <p:cNvSpPr txBox="1"/>
              <p:nvPr/>
            </p:nvSpPr>
            <p:spPr>
              <a:xfrm>
                <a:off x="12700" y="12700"/>
                <a:ext cx="1417359" cy="6848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700" b="1">
                    <a:solidFill>
                      <a:srgbClr val="FFFFFF"/>
                    </a:solidFill>
                  </a:defRPr>
                </a:lvl1pPr>
              </a:lstStyle>
              <a:p>
                <a: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pPr>
                <a:r>
                  <a:rPr>
                    <a:solidFill>
                      <a:srgbClr val="FFFFFF"/>
                    </a:solidFill>
                  </a:rPr>
                  <a:t>~, +, -</a:t>
                </a:r>
              </a:p>
            </p:txBody>
          </p:sp>
          <p:pic>
            <p:nvPicPr>
              <p:cNvPr id="624" name="~, +, - ~, +, -" descr="~, +, - ~, +, -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442759" cy="710270"/>
              </a:xfrm>
              <a:prstGeom prst="rect">
                <a:avLst/>
              </a:prstGeom>
              <a:effectLst/>
            </p:spPr>
          </p:pic>
        </p:grpSp>
        <p:grpSp>
          <p:nvGrpSpPr>
            <p:cNvPr id="629" name="*, /, %, //"/>
            <p:cNvGrpSpPr/>
            <p:nvPr/>
          </p:nvGrpSpPr>
          <p:grpSpPr>
            <a:xfrm>
              <a:off x="5788808" y="991746"/>
              <a:ext cx="2133042" cy="710271"/>
              <a:chOff x="0" y="0"/>
              <a:chExt cx="2133041" cy="710269"/>
            </a:xfrm>
          </p:grpSpPr>
          <p:sp>
            <p:nvSpPr>
              <p:cNvPr id="628" name="*, /, %, //"/>
              <p:cNvSpPr txBox="1"/>
              <p:nvPr/>
            </p:nvSpPr>
            <p:spPr>
              <a:xfrm>
                <a:off x="12700" y="12700"/>
                <a:ext cx="2107642" cy="6848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700" b="1">
                    <a:solidFill>
                      <a:srgbClr val="FFFFFF"/>
                    </a:solidFill>
                  </a:defRPr>
                </a:lvl1pPr>
              </a:lstStyle>
              <a:p>
                <a: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pPr>
                <a:r>
                  <a:rPr>
                    <a:solidFill>
                      <a:srgbClr val="FFFFFF"/>
                    </a:solidFill>
                  </a:rPr>
                  <a:t>*, /, %, //</a:t>
                </a:r>
              </a:p>
            </p:txBody>
          </p:sp>
          <p:pic>
            <p:nvPicPr>
              <p:cNvPr id="627" name="*, /, %, // *, /, %, //" descr="*, /, %, // *, /, %, //"/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2133042" cy="710270"/>
              </a:xfrm>
              <a:prstGeom prst="rect">
                <a:avLst/>
              </a:prstGeom>
              <a:effectLst/>
            </p:spPr>
          </p:pic>
        </p:grpSp>
        <p:grpSp>
          <p:nvGrpSpPr>
            <p:cNvPr id="632" name="+, -"/>
            <p:cNvGrpSpPr/>
            <p:nvPr/>
          </p:nvGrpSpPr>
          <p:grpSpPr>
            <a:xfrm>
              <a:off x="6340235" y="1714583"/>
              <a:ext cx="1030187" cy="710270"/>
              <a:chOff x="0" y="0"/>
              <a:chExt cx="1030185" cy="710269"/>
            </a:xfrm>
          </p:grpSpPr>
          <p:sp>
            <p:nvSpPr>
              <p:cNvPr id="631" name="+, -"/>
              <p:cNvSpPr txBox="1"/>
              <p:nvPr/>
            </p:nvSpPr>
            <p:spPr>
              <a:xfrm>
                <a:off x="12700" y="12700"/>
                <a:ext cx="1004786" cy="6848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700" b="1">
                    <a:solidFill>
                      <a:srgbClr val="FFFFFF"/>
                    </a:solidFill>
                  </a:defRPr>
                </a:lvl1pPr>
              </a:lstStyle>
              <a:p>
                <a: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pPr>
                <a:r>
                  <a:rPr>
                    <a:solidFill>
                      <a:srgbClr val="FFFFFF"/>
                    </a:solidFill>
                  </a:rPr>
                  <a:t>+, - </a:t>
                </a:r>
              </a:p>
            </p:txBody>
          </p:sp>
          <p:pic>
            <p:nvPicPr>
              <p:cNvPr id="630" name="+, - +, - " descr="+, - +, - "/>
              <p:cNvPicPr>
                <a:picLocks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1030186" cy="710270"/>
              </a:xfrm>
              <a:prstGeom prst="rect">
                <a:avLst/>
              </a:prstGeom>
              <a:effectLst/>
            </p:spPr>
          </p:pic>
        </p:grpSp>
        <p:grpSp>
          <p:nvGrpSpPr>
            <p:cNvPr id="635" name="&gt;&gt;, &lt;&lt;"/>
            <p:cNvGrpSpPr/>
            <p:nvPr/>
          </p:nvGrpSpPr>
          <p:grpSpPr>
            <a:xfrm>
              <a:off x="6078266" y="2475923"/>
              <a:ext cx="1554126" cy="710271"/>
              <a:chOff x="0" y="0"/>
              <a:chExt cx="1554124" cy="710269"/>
            </a:xfrm>
          </p:grpSpPr>
          <p:sp>
            <p:nvSpPr>
              <p:cNvPr id="634" name="&gt;&gt;, &lt;&lt;"/>
              <p:cNvSpPr txBox="1"/>
              <p:nvPr/>
            </p:nvSpPr>
            <p:spPr>
              <a:xfrm>
                <a:off x="12699" y="12700"/>
                <a:ext cx="1528726" cy="6848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700" b="1">
                    <a:solidFill>
                      <a:srgbClr val="FFFFFF"/>
                    </a:solidFill>
                  </a:defRPr>
                </a:lvl1pPr>
              </a:lstStyle>
              <a:p>
                <a: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pPr>
                <a:r>
                  <a:rPr>
                    <a:solidFill>
                      <a:srgbClr val="FFFFFF"/>
                    </a:solidFill>
                  </a:rPr>
                  <a:t>&gt;&gt;, &lt;&lt;</a:t>
                </a:r>
              </a:p>
            </p:txBody>
          </p:sp>
          <p:pic>
            <p:nvPicPr>
              <p:cNvPr id="633" name="&gt;&gt;, &lt;&lt; &gt;&gt;, &lt;&lt;" descr="&gt;&gt;, &lt;&lt; &gt;&gt;, &lt;&lt;"/>
              <p:cNvPicPr>
                <a:picLocks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1554125" cy="710270"/>
              </a:xfrm>
              <a:prstGeom prst="rect">
                <a:avLst/>
              </a:prstGeom>
              <a:effectLst/>
            </p:spPr>
          </p:pic>
        </p:grpSp>
        <p:grpSp>
          <p:nvGrpSpPr>
            <p:cNvPr id="638" name="&amp;"/>
            <p:cNvGrpSpPr/>
            <p:nvPr/>
          </p:nvGrpSpPr>
          <p:grpSpPr>
            <a:xfrm>
              <a:off x="6546521" y="3165225"/>
              <a:ext cx="617615" cy="710270"/>
              <a:chOff x="0" y="0"/>
              <a:chExt cx="617613" cy="710269"/>
            </a:xfrm>
          </p:grpSpPr>
          <p:sp>
            <p:nvSpPr>
              <p:cNvPr id="637" name="&amp;"/>
              <p:cNvSpPr txBox="1"/>
              <p:nvPr/>
            </p:nvSpPr>
            <p:spPr>
              <a:xfrm>
                <a:off x="12699" y="12700"/>
                <a:ext cx="592215" cy="6848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700" b="1">
                    <a:solidFill>
                      <a:srgbClr val="FFFFFF"/>
                    </a:solidFill>
                  </a:defRPr>
                </a:lvl1pPr>
              </a:lstStyle>
              <a:p>
                <a: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pPr>
                <a:r>
                  <a:rPr>
                    <a:solidFill>
                      <a:srgbClr val="FFFFFF"/>
                    </a:solidFill>
                  </a:rPr>
                  <a:t>&amp; </a:t>
                </a:r>
              </a:p>
            </p:txBody>
          </p:sp>
          <p:pic>
            <p:nvPicPr>
              <p:cNvPr id="636" name="&amp; &amp; " descr="&amp; &amp; "/>
              <p:cNvPicPr>
                <a:picLocks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617614" cy="710270"/>
              </a:xfrm>
              <a:prstGeom prst="rect">
                <a:avLst/>
              </a:prstGeom>
              <a:effectLst/>
            </p:spPr>
          </p:pic>
        </p:grpSp>
        <p:grpSp>
          <p:nvGrpSpPr>
            <p:cNvPr id="641" name="^, |"/>
            <p:cNvGrpSpPr/>
            <p:nvPr/>
          </p:nvGrpSpPr>
          <p:grpSpPr>
            <a:xfrm>
              <a:off x="6448782" y="3960100"/>
              <a:ext cx="813093" cy="710270"/>
              <a:chOff x="0" y="0"/>
              <a:chExt cx="813092" cy="710269"/>
            </a:xfrm>
          </p:grpSpPr>
          <p:sp>
            <p:nvSpPr>
              <p:cNvPr id="640" name="^, |"/>
              <p:cNvSpPr txBox="1"/>
              <p:nvPr/>
            </p:nvSpPr>
            <p:spPr>
              <a:xfrm>
                <a:off x="12700" y="12700"/>
                <a:ext cx="787693" cy="6848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700" b="1">
                    <a:solidFill>
                      <a:srgbClr val="FFFFFF"/>
                    </a:solidFill>
                  </a:defRPr>
                </a:lvl1pPr>
              </a:lstStyle>
              <a:p>
                <a: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pPr>
                <a:r>
                  <a:rPr>
                    <a:solidFill>
                      <a:srgbClr val="FFFFFF"/>
                    </a:solidFill>
                  </a:rPr>
                  <a:t>^, |</a:t>
                </a:r>
              </a:p>
            </p:txBody>
          </p:sp>
          <p:pic>
            <p:nvPicPr>
              <p:cNvPr id="639" name="^, | ^, |" descr="^, | ^, |"/>
              <p:cNvPicPr>
                <a:picLocks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813093" cy="710270"/>
              </a:xfrm>
              <a:prstGeom prst="rect">
                <a:avLst/>
              </a:prstGeom>
              <a:effectLst/>
            </p:spPr>
          </p:pic>
        </p:grpSp>
        <p:grpSp>
          <p:nvGrpSpPr>
            <p:cNvPr id="644" name="&lt;=, &lt;, &gt;, &gt;="/>
            <p:cNvGrpSpPr/>
            <p:nvPr/>
          </p:nvGrpSpPr>
          <p:grpSpPr>
            <a:xfrm>
              <a:off x="5386972" y="4541170"/>
              <a:ext cx="2640535" cy="710271"/>
              <a:chOff x="0" y="0"/>
              <a:chExt cx="2640533" cy="710269"/>
            </a:xfrm>
          </p:grpSpPr>
          <p:sp>
            <p:nvSpPr>
              <p:cNvPr id="643" name="&lt;=, &lt;, &gt;, &gt;="/>
              <p:cNvSpPr txBox="1"/>
              <p:nvPr/>
            </p:nvSpPr>
            <p:spPr>
              <a:xfrm>
                <a:off x="12699" y="12700"/>
                <a:ext cx="2615135" cy="6848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700" b="1">
                    <a:solidFill>
                      <a:srgbClr val="FFFFFF"/>
                    </a:solidFill>
                  </a:defRPr>
                </a:lvl1pPr>
              </a:lstStyle>
              <a:p>
                <a: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pPr>
                <a:r>
                  <a:rPr>
                    <a:solidFill>
                      <a:srgbClr val="FFFFFF"/>
                    </a:solidFill>
                  </a:rPr>
                  <a:t>&lt;=, &lt;, &gt;, &gt;=</a:t>
                </a:r>
              </a:p>
            </p:txBody>
          </p:sp>
          <p:pic>
            <p:nvPicPr>
              <p:cNvPr id="642" name="&lt;=, &lt;, &gt;, &gt;= &lt;=, &lt;, &gt;, &gt;=" descr="&lt;=, &lt;, &gt;, &gt;= &lt;=, &lt;, &gt;, &gt;="/>
              <p:cNvPicPr>
                <a:picLocks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2640534" cy="710270"/>
              </a:xfrm>
              <a:prstGeom prst="rect">
                <a:avLst/>
              </a:prstGeom>
              <a:effectLst/>
            </p:spPr>
          </p:pic>
        </p:grpSp>
        <p:grpSp>
          <p:nvGrpSpPr>
            <p:cNvPr id="647" name="=, %=, /=, //=, -=, +=, *=, **="/>
            <p:cNvGrpSpPr/>
            <p:nvPr/>
          </p:nvGrpSpPr>
          <p:grpSpPr>
            <a:xfrm>
              <a:off x="3710675" y="5368077"/>
              <a:ext cx="6289308" cy="710270"/>
              <a:chOff x="0" y="0"/>
              <a:chExt cx="6289306" cy="710269"/>
            </a:xfrm>
          </p:grpSpPr>
          <p:sp>
            <p:nvSpPr>
              <p:cNvPr id="646" name="=, %=, /=, //=, -=, +=, *=, **="/>
              <p:cNvSpPr txBox="1"/>
              <p:nvPr/>
            </p:nvSpPr>
            <p:spPr>
              <a:xfrm>
                <a:off x="12699" y="12700"/>
                <a:ext cx="6263908" cy="6848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700" b="1">
                    <a:solidFill>
                      <a:srgbClr val="FFFFFF"/>
                    </a:solidFill>
                  </a:defRPr>
                </a:lvl1pPr>
              </a:lstStyle>
              <a:p>
                <a: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pPr>
                <a:r>
                  <a:rPr>
                    <a:solidFill>
                      <a:srgbClr val="FFFFFF"/>
                    </a:solidFill>
                  </a:rPr>
                  <a:t>=, %=, /=, //=, -=, +=, *=, **=</a:t>
                </a:r>
              </a:p>
            </p:txBody>
          </p:sp>
          <p:pic>
            <p:nvPicPr>
              <p:cNvPr id="645" name="=, %=, /=, //=, -=, +=, *=, **= =, %=, /=, //=, -=, +=, *=, **=" descr="=, %=, /=, //=, -=, +=, *=, **= =, %=, /=, //=, -=, +=, *=, **="/>
              <p:cNvPicPr>
                <a:picLocks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6289307" cy="710270"/>
              </a:xfrm>
              <a:prstGeom prst="rect">
                <a:avLst/>
              </a:prstGeom>
              <a:effectLst/>
            </p:spPr>
          </p:pic>
        </p:grpSp>
        <p:grpSp>
          <p:nvGrpSpPr>
            <p:cNvPr id="650" name="is, is not"/>
            <p:cNvGrpSpPr/>
            <p:nvPr/>
          </p:nvGrpSpPr>
          <p:grpSpPr>
            <a:xfrm>
              <a:off x="5837677" y="6068091"/>
              <a:ext cx="2035303" cy="710271"/>
              <a:chOff x="0" y="0"/>
              <a:chExt cx="2035301" cy="710269"/>
            </a:xfrm>
          </p:grpSpPr>
          <p:sp>
            <p:nvSpPr>
              <p:cNvPr id="649" name="is, is not"/>
              <p:cNvSpPr txBox="1"/>
              <p:nvPr/>
            </p:nvSpPr>
            <p:spPr>
              <a:xfrm>
                <a:off x="12700" y="12700"/>
                <a:ext cx="2009902" cy="6848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700" b="1">
                    <a:solidFill>
                      <a:srgbClr val="FFFFFF"/>
                    </a:solidFill>
                  </a:defRPr>
                </a:lvl1pPr>
              </a:lstStyle>
              <a:p>
                <a: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pPr>
                <a:r>
                  <a:rPr>
                    <a:solidFill>
                      <a:srgbClr val="FFFFFF"/>
                    </a:solidFill>
                  </a:rPr>
                  <a:t>is, is not</a:t>
                </a:r>
              </a:p>
            </p:txBody>
          </p:sp>
          <p:pic>
            <p:nvPicPr>
              <p:cNvPr id="648" name="is, is not is, is not" descr="is, is not is, is not"/>
              <p:cNvPicPr>
                <a:picLocks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0" y="0"/>
                <a:ext cx="2035302" cy="710270"/>
              </a:xfrm>
              <a:prstGeom prst="rect">
                <a:avLst/>
              </a:prstGeom>
              <a:effectLst/>
            </p:spPr>
          </p:pic>
        </p:grpSp>
        <p:grpSp>
          <p:nvGrpSpPr>
            <p:cNvPr id="653" name="in, not in"/>
            <p:cNvGrpSpPr/>
            <p:nvPr/>
          </p:nvGrpSpPr>
          <p:grpSpPr>
            <a:xfrm>
              <a:off x="5811363" y="6928453"/>
              <a:ext cx="2087932" cy="710271"/>
              <a:chOff x="0" y="0"/>
              <a:chExt cx="2087930" cy="710269"/>
            </a:xfrm>
          </p:grpSpPr>
          <p:sp>
            <p:nvSpPr>
              <p:cNvPr id="652" name="in, not in"/>
              <p:cNvSpPr txBox="1"/>
              <p:nvPr/>
            </p:nvSpPr>
            <p:spPr>
              <a:xfrm>
                <a:off x="12699" y="12700"/>
                <a:ext cx="2062532" cy="6848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700" b="1">
                    <a:solidFill>
                      <a:srgbClr val="FFFFFF"/>
                    </a:solidFill>
                  </a:defRPr>
                </a:lvl1pPr>
              </a:lstStyle>
              <a:p>
                <a:pPr>
                  <a:def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defRPr>
                </a:pPr>
                <a:r>
                  <a:rPr>
                    <a:solidFill>
                      <a:srgbClr val="FFFFFF"/>
                    </a:solidFill>
                  </a:rPr>
                  <a:t>in, not in</a:t>
                </a:r>
              </a:p>
            </p:txBody>
          </p:sp>
          <p:pic>
            <p:nvPicPr>
              <p:cNvPr id="651" name="in, not in in, not in" descr="in, not in in, not in"/>
              <p:cNvPicPr>
                <a:picLocks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2087931" cy="710270"/>
              </a:xfrm>
              <a:prstGeom prst="rect">
                <a:avLst/>
              </a:prstGeom>
              <a:effectLst/>
            </p:spPr>
          </p:pic>
        </p:grpSp>
        <p:grpSp>
          <p:nvGrpSpPr>
            <p:cNvPr id="656" name="not, or, and"/>
            <p:cNvGrpSpPr/>
            <p:nvPr/>
          </p:nvGrpSpPr>
          <p:grpSpPr>
            <a:xfrm>
              <a:off x="5514856" y="7570929"/>
              <a:ext cx="2680946" cy="710271"/>
              <a:chOff x="0" y="0"/>
              <a:chExt cx="2680944" cy="710269"/>
            </a:xfrm>
          </p:grpSpPr>
          <p:sp>
            <p:nvSpPr>
              <p:cNvPr id="655" name="not, or, and"/>
              <p:cNvSpPr txBox="1"/>
              <p:nvPr/>
            </p:nvSpPr>
            <p:spPr>
              <a:xfrm>
                <a:off x="12699" y="12700"/>
                <a:ext cx="2655546" cy="6848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3700" b="1">
                    <a:solidFill>
                      <a:srgbClr val="FFFFFF"/>
                    </a:solidFill>
                  </a:defRPr>
                </a:lvl1pPr>
              </a:lstStyle>
              <a:p>
                <a:r>
                  <a:t>not, or, and</a:t>
                </a:r>
              </a:p>
            </p:txBody>
          </p:sp>
          <p:pic>
            <p:nvPicPr>
              <p:cNvPr id="654" name="not, or, and not, or, and" descr="not, or, and not, or, and"/>
              <p:cNvPicPr>
                <a:picLocks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2680945" cy="710270"/>
              </a:xfrm>
              <a:prstGeom prst="rect">
                <a:avLst/>
              </a:prstGeom>
              <a:effectLst/>
            </p:spPr>
          </p:pic>
        </p:grpSp>
      </p:grpSp>
      <p:grpSp>
        <p:nvGrpSpPr>
          <p:cNvPr id="670" name="Group"/>
          <p:cNvGrpSpPr/>
          <p:nvPr/>
        </p:nvGrpSpPr>
        <p:grpSpPr>
          <a:xfrm>
            <a:off x="12036371" y="2605572"/>
            <a:ext cx="8933074" cy="8644388"/>
            <a:chOff x="-1521974" y="-99205"/>
            <a:chExt cx="8933073" cy="8644386"/>
          </a:xfrm>
        </p:grpSpPr>
        <p:sp>
          <p:nvSpPr>
            <p:cNvPr id="658" name="Exponential or raise to power"/>
            <p:cNvSpPr txBox="1"/>
            <p:nvPr/>
          </p:nvSpPr>
          <p:spPr>
            <a:xfrm>
              <a:off x="-483026" y="-99206"/>
              <a:ext cx="6699950" cy="659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700" b="1">
                  <a:solidFill>
                    <a:srgbClr val="FFFFFF"/>
                  </a:solidFill>
                </a:defRPr>
              </a:lvl1pPr>
            </a:lstStyle>
            <a:p>
              <a: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pPr>
              <a:r>
                <a:rPr>
                  <a:solidFill>
                    <a:srgbClr val="FFFFFF"/>
                  </a:solidFill>
                </a:rPr>
                <a:t>Exponential or raise to power</a:t>
              </a:r>
            </a:p>
          </p:txBody>
        </p:sp>
        <p:sp>
          <p:nvSpPr>
            <p:cNvPr id="659" name="Complement, unary plus, unary minus"/>
            <p:cNvSpPr txBox="1"/>
            <p:nvPr/>
          </p:nvSpPr>
          <p:spPr>
            <a:xfrm>
              <a:off x="-1168920" y="541342"/>
              <a:ext cx="8580020" cy="659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700" b="1">
                  <a:solidFill>
                    <a:srgbClr val="FFFFFF"/>
                  </a:solidFill>
                </a:defRPr>
              </a:lvl1pPr>
            </a:lstStyle>
            <a:p>
              <a: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pPr>
              <a:r>
                <a:rPr>
                  <a:solidFill>
                    <a:srgbClr val="FFFFFF"/>
                  </a:solidFill>
                </a:rPr>
                <a:t>Complement, unary plus, unary minus</a:t>
              </a:r>
            </a:p>
          </p:txBody>
        </p:sp>
        <p:sp>
          <p:nvSpPr>
            <p:cNvPr id="660" name="Multiply, divide, modulus, floor division"/>
            <p:cNvSpPr txBox="1"/>
            <p:nvPr/>
          </p:nvSpPr>
          <p:spPr>
            <a:xfrm>
              <a:off x="-1521975" y="1360649"/>
              <a:ext cx="8777847" cy="659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700" b="1">
                  <a:solidFill>
                    <a:srgbClr val="FFFFFF"/>
                  </a:solidFill>
                </a:defRPr>
              </a:lvl1pPr>
            </a:lstStyle>
            <a:p>
              <a: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pPr>
              <a:r>
                <a:rPr>
                  <a:solidFill>
                    <a:srgbClr val="FFFFFF"/>
                  </a:solidFill>
                </a:rPr>
                <a:t>Multiply, divide, modulus, floor division</a:t>
              </a:r>
            </a:p>
          </p:txBody>
        </p:sp>
        <p:sp>
          <p:nvSpPr>
            <p:cNvPr id="661" name="Addition and subtraction"/>
            <p:cNvSpPr txBox="1"/>
            <p:nvPr/>
          </p:nvSpPr>
          <p:spPr>
            <a:xfrm>
              <a:off x="-123691" y="2031660"/>
              <a:ext cx="5638915" cy="659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700" b="1">
                  <a:solidFill>
                    <a:srgbClr val="FFFFFF"/>
                  </a:solidFill>
                </a:defRPr>
              </a:lvl1pPr>
            </a:lstStyle>
            <a:p>
              <a:pPr>
                <a:def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defRPr>
              </a:pPr>
              <a:r>
                <a:rPr>
                  <a:solidFill>
                    <a:srgbClr val="FFFFFF"/>
                  </a:solidFill>
                </a:rPr>
                <a:t>Addition and subtraction</a:t>
              </a:r>
            </a:p>
          </p:txBody>
        </p:sp>
        <p:sp>
          <p:nvSpPr>
            <p:cNvPr id="662" name="Bitwise : right , left"/>
            <p:cNvSpPr txBox="1"/>
            <p:nvPr/>
          </p:nvSpPr>
          <p:spPr>
            <a:xfrm>
              <a:off x="551085" y="2795587"/>
              <a:ext cx="4289363" cy="659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700" b="1">
                  <a:solidFill>
                    <a:srgbClr val="FFFFFF"/>
                  </a:solidFill>
                </a:defRPr>
              </a:lvl1pPr>
            </a:lstStyle>
            <a:p>
              <a:r>
                <a:t>Bitwise : right , left</a:t>
              </a:r>
            </a:p>
          </p:txBody>
        </p:sp>
        <p:sp>
          <p:nvSpPr>
            <p:cNvPr id="663" name="Bitwise : AND"/>
            <p:cNvSpPr txBox="1"/>
            <p:nvPr/>
          </p:nvSpPr>
          <p:spPr>
            <a:xfrm>
              <a:off x="826606" y="3504557"/>
              <a:ext cx="3167712" cy="659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700" b="1">
                  <a:solidFill>
                    <a:srgbClr val="FFFFFF"/>
                  </a:solidFill>
                </a:defRPr>
              </a:lvl1pPr>
            </a:lstStyle>
            <a:p>
              <a:r>
                <a:t>Bitwise : AND</a:t>
              </a:r>
            </a:p>
          </p:txBody>
        </p:sp>
        <p:sp>
          <p:nvSpPr>
            <p:cNvPr id="664" name="Bitwise : exclusive OR , OR"/>
            <p:cNvSpPr txBox="1"/>
            <p:nvPr/>
          </p:nvSpPr>
          <p:spPr>
            <a:xfrm>
              <a:off x="-213538" y="4213527"/>
              <a:ext cx="6160974" cy="659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700" b="1">
                  <a:solidFill>
                    <a:srgbClr val="FFFFFF"/>
                  </a:solidFill>
                </a:defRPr>
              </a:lvl1pPr>
            </a:lstStyle>
            <a:p>
              <a:r>
                <a:t>Bitwise : exclusive OR , OR</a:t>
              </a:r>
            </a:p>
          </p:txBody>
        </p:sp>
        <p:sp>
          <p:nvSpPr>
            <p:cNvPr id="665" name="Comparison operators"/>
            <p:cNvSpPr txBox="1"/>
            <p:nvPr/>
          </p:nvSpPr>
          <p:spPr>
            <a:xfrm>
              <a:off x="111259" y="4993623"/>
              <a:ext cx="5169015" cy="659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700" b="1">
                  <a:solidFill>
                    <a:srgbClr val="FFFFFF"/>
                  </a:solidFill>
                </a:defRPr>
              </a:lvl1pPr>
            </a:lstStyle>
            <a:p>
              <a:r>
                <a:t>Comparison operators</a:t>
              </a:r>
            </a:p>
          </p:txBody>
        </p:sp>
        <p:sp>
          <p:nvSpPr>
            <p:cNvPr id="666" name="Assignment operators"/>
            <p:cNvSpPr txBox="1"/>
            <p:nvPr/>
          </p:nvSpPr>
          <p:spPr>
            <a:xfrm>
              <a:off x="16022" y="5626541"/>
              <a:ext cx="5082084" cy="659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700" b="1">
                  <a:solidFill>
                    <a:srgbClr val="FFFFFF"/>
                  </a:solidFill>
                </a:defRPr>
              </a:lvl1pPr>
            </a:lstStyle>
            <a:p>
              <a:r>
                <a:t>Assignment operators</a:t>
              </a:r>
            </a:p>
          </p:txBody>
        </p:sp>
        <p:sp>
          <p:nvSpPr>
            <p:cNvPr id="667" name="Identity operators"/>
            <p:cNvSpPr txBox="1"/>
            <p:nvPr/>
          </p:nvSpPr>
          <p:spPr>
            <a:xfrm>
              <a:off x="507537" y="6399473"/>
              <a:ext cx="4099053" cy="659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700" b="1">
                  <a:solidFill>
                    <a:srgbClr val="FFFFFF"/>
                  </a:solidFill>
                </a:defRPr>
              </a:lvl1pPr>
            </a:lstStyle>
            <a:p>
              <a:r>
                <a:t>Identity operators</a:t>
              </a:r>
            </a:p>
          </p:txBody>
        </p:sp>
        <p:sp>
          <p:nvSpPr>
            <p:cNvPr id="668" name="Membership operator"/>
            <p:cNvSpPr txBox="1"/>
            <p:nvPr/>
          </p:nvSpPr>
          <p:spPr>
            <a:xfrm>
              <a:off x="207118" y="7151096"/>
              <a:ext cx="4977296" cy="659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700" b="1">
                  <a:solidFill>
                    <a:srgbClr val="FFFFFF"/>
                  </a:solidFill>
                </a:defRPr>
              </a:lvl1pPr>
            </a:lstStyle>
            <a:p>
              <a:r>
                <a:t>Membership operator</a:t>
              </a:r>
            </a:p>
          </p:txBody>
        </p:sp>
        <p:sp>
          <p:nvSpPr>
            <p:cNvPr id="669" name="Logical operators"/>
            <p:cNvSpPr txBox="1"/>
            <p:nvPr/>
          </p:nvSpPr>
          <p:spPr>
            <a:xfrm>
              <a:off x="663861" y="7885711"/>
              <a:ext cx="4063810" cy="6594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700" b="1">
                  <a:solidFill>
                    <a:srgbClr val="FFFFFF"/>
                  </a:solidFill>
                </a:defRPr>
              </a:lvl1pPr>
            </a:lstStyle>
            <a:p>
              <a:r>
                <a:t>Logical operators</a:t>
              </a:r>
            </a:p>
          </p:txBody>
        </p:sp>
      </p:grpSp>
      <p:pic>
        <p:nvPicPr>
          <p:cNvPr id="671" name="Line Line" descr="Line Line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184480" y="6963679"/>
            <a:ext cx="8240955" cy="246565"/>
          </a:xfrm>
          <a:prstGeom prst="rect">
            <a:avLst/>
          </a:prstGeom>
        </p:spPr>
      </p:pic>
      <p:pic>
        <p:nvPicPr>
          <p:cNvPr id="673" name="Line Line" descr="Line Line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2680918" y="2864461"/>
            <a:ext cx="1800644" cy="276295"/>
          </a:xfrm>
          <a:prstGeom prst="rect">
            <a:avLst/>
          </a:prstGeom>
        </p:spPr>
      </p:pic>
      <p:sp>
        <p:nvSpPr>
          <p:cNvPr id="675" name="( ( A +  B ) * ( C / D )) ** D    ?"/>
          <p:cNvSpPr txBox="1"/>
          <p:nvPr/>
        </p:nvSpPr>
        <p:spPr>
          <a:xfrm>
            <a:off x="12913092" y="11531379"/>
            <a:ext cx="8124445" cy="820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800" b="1">
                <a:solidFill>
                  <a:srgbClr val="FFFFFF"/>
                </a:solidFill>
              </a:defRPr>
            </a:lvl1pPr>
          </a:lstStyle>
          <a:p>
            <a:r>
              <a:t>( ( A +  B ) * ( C / D )) ** D    ?</a:t>
            </a:r>
          </a:p>
        </p:txBody>
      </p:sp>
      <p:sp>
        <p:nvSpPr>
          <p:cNvPr id="676" name="A = 20, B = 10, C = 15, D = 2"/>
          <p:cNvSpPr txBox="1"/>
          <p:nvPr/>
        </p:nvSpPr>
        <p:spPr>
          <a:xfrm>
            <a:off x="4818773" y="11605737"/>
            <a:ext cx="6414644" cy="671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800" b="1">
                <a:solidFill>
                  <a:srgbClr val="FFFFFF"/>
                </a:solidFill>
              </a:defRPr>
            </a:lvl1pPr>
          </a:lstStyle>
          <a:p>
            <a:r>
              <a:t>A = 20, B = 10, C = 15, D = 2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5E5B6435-BDA7-342D-1C6E-AE9EE5D1728B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" grpId="0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0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678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679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81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682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683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684" name="10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10</a:t>
            </a:r>
          </a:p>
        </p:txBody>
      </p:sp>
      <p:sp>
        <p:nvSpPr>
          <p:cNvPr id="686" name="Looping in Python"/>
          <p:cNvSpPr txBox="1"/>
          <p:nvPr/>
        </p:nvSpPr>
        <p:spPr>
          <a:xfrm>
            <a:off x="8252754" y="1382705"/>
            <a:ext cx="6827267" cy="1069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5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Looping in Python</a:t>
            </a:r>
          </a:p>
        </p:txBody>
      </p:sp>
      <p:sp>
        <p:nvSpPr>
          <p:cNvPr id="687" name="After decision making,…"/>
          <p:cNvSpPr txBox="1"/>
          <p:nvPr/>
        </p:nvSpPr>
        <p:spPr>
          <a:xfrm>
            <a:off x="2554284" y="3041839"/>
            <a:ext cx="18093577" cy="2323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700">
                <a:solidFill>
                  <a:srgbClr val="FFFFFF"/>
                </a:solidFill>
              </a:defRPr>
            </a:pPr>
            <a:r>
              <a:t>After decision making,</a:t>
            </a:r>
          </a:p>
          <a:p>
            <a:pPr algn="l">
              <a:defRPr sz="3700">
                <a:solidFill>
                  <a:srgbClr val="FFFFFF"/>
                </a:solidFill>
              </a:defRPr>
            </a:pPr>
            <a:endParaRPr/>
          </a:p>
          <a:p>
            <a:pPr lvl="3" algn="l">
              <a:defRPr sz="3700">
                <a:solidFill>
                  <a:srgbClr val="FFFFFF"/>
                </a:solidFill>
              </a:defRPr>
            </a:pPr>
            <a:r>
              <a:t>LOOPs are another fundamental part of any fundamental language, that allows </a:t>
            </a:r>
          </a:p>
          <a:p>
            <a:pPr lvl="3" algn="l">
              <a:defRPr sz="3700">
                <a:solidFill>
                  <a:srgbClr val="FFFFFF"/>
                </a:solidFill>
              </a:defRPr>
            </a:pPr>
            <a:r>
              <a:t>to execute the the same action several times. </a:t>
            </a:r>
          </a:p>
        </p:txBody>
      </p:sp>
      <p:sp>
        <p:nvSpPr>
          <p:cNvPr id="688" name="Print integer numbers between 1 to 10 ?"/>
          <p:cNvSpPr txBox="1"/>
          <p:nvPr/>
        </p:nvSpPr>
        <p:spPr>
          <a:xfrm>
            <a:off x="1906422" y="5750371"/>
            <a:ext cx="9060257" cy="659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Print integer numbers between 1 to 10 ?</a:t>
            </a:r>
          </a:p>
        </p:txBody>
      </p:sp>
      <p:sp>
        <p:nvSpPr>
          <p:cNvPr id="689" name="print(1)…"/>
          <p:cNvSpPr txBox="1"/>
          <p:nvPr/>
        </p:nvSpPr>
        <p:spPr>
          <a:xfrm>
            <a:off x="6938298" y="6794731"/>
            <a:ext cx="1974534" cy="5549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print(1)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print(2)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print(3)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.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.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.print(10)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5F2E64C7-496E-E033-8532-FA7924A4F31F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691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692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694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695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696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697" name="11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11</a:t>
            </a:r>
          </a:p>
        </p:txBody>
      </p:sp>
      <p:sp>
        <p:nvSpPr>
          <p:cNvPr id="699" name="Looping in Python"/>
          <p:cNvSpPr txBox="1"/>
          <p:nvPr/>
        </p:nvSpPr>
        <p:spPr>
          <a:xfrm>
            <a:off x="8252754" y="1382705"/>
            <a:ext cx="6827267" cy="1069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5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Looping in Python</a:t>
            </a:r>
          </a:p>
        </p:txBody>
      </p:sp>
      <p:sp>
        <p:nvSpPr>
          <p:cNvPr id="700" name="After decision making,…"/>
          <p:cNvSpPr txBox="1"/>
          <p:nvPr/>
        </p:nvSpPr>
        <p:spPr>
          <a:xfrm>
            <a:off x="2554284" y="3041839"/>
            <a:ext cx="18093577" cy="2323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700">
                <a:solidFill>
                  <a:srgbClr val="FFFFFF"/>
                </a:solidFill>
              </a:defRPr>
            </a:pPr>
            <a:r>
              <a:t>After decision making,</a:t>
            </a:r>
          </a:p>
          <a:p>
            <a:pPr algn="l">
              <a:defRPr sz="3700">
                <a:solidFill>
                  <a:srgbClr val="FFFFFF"/>
                </a:solidFill>
              </a:defRPr>
            </a:pPr>
            <a:endParaRPr/>
          </a:p>
          <a:p>
            <a:pPr lvl="3" algn="l">
              <a:defRPr sz="3700">
                <a:solidFill>
                  <a:srgbClr val="FFFFFF"/>
                </a:solidFill>
              </a:defRPr>
            </a:pPr>
            <a:r>
              <a:t>LOOPs are another fundamental part of any fundamental language, that allows </a:t>
            </a:r>
          </a:p>
          <a:p>
            <a:pPr lvl="3" algn="l">
              <a:defRPr sz="3700">
                <a:solidFill>
                  <a:srgbClr val="FFFFFF"/>
                </a:solidFill>
              </a:defRPr>
            </a:pPr>
            <a:r>
              <a:t>to execute the the same action several times. </a:t>
            </a:r>
          </a:p>
        </p:txBody>
      </p:sp>
      <p:sp>
        <p:nvSpPr>
          <p:cNvPr id="701" name="Print integer numbers between 1 to 10 ?"/>
          <p:cNvSpPr txBox="1"/>
          <p:nvPr/>
        </p:nvSpPr>
        <p:spPr>
          <a:xfrm>
            <a:off x="1906422" y="5750371"/>
            <a:ext cx="9060257" cy="659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Print integer numbers between 1 to 10 ?</a:t>
            </a:r>
          </a:p>
        </p:txBody>
      </p:sp>
      <p:sp>
        <p:nvSpPr>
          <p:cNvPr id="702" name="print(1)…"/>
          <p:cNvSpPr txBox="1"/>
          <p:nvPr/>
        </p:nvSpPr>
        <p:spPr>
          <a:xfrm>
            <a:off x="6938298" y="6794731"/>
            <a:ext cx="1974534" cy="5549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print(1)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print(2)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print(3)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.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.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.print(10)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pic>
        <p:nvPicPr>
          <p:cNvPr id="703" name="for x in range(1,11):… for x in range(1,11):      print(x)" descr="for x in range(1,11):… for x in range(1,11):      print(x)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702613" y="6626234"/>
            <a:ext cx="4600144" cy="1383844"/>
          </a:xfrm>
          <a:prstGeom prst="rect">
            <a:avLst/>
          </a:prstGeom>
          <a:effectLst>
            <a:outerShdw blurRad="355600" dist="254000" rotWithShape="0">
              <a:srgbClr val="000000">
                <a:alpha val="75000"/>
              </a:srgbClr>
            </a:outerShdw>
          </a:effectLst>
        </p:spPr>
      </p:pic>
      <p:sp>
        <p:nvSpPr>
          <p:cNvPr id="704" name="Using LOOP :"/>
          <p:cNvSpPr txBox="1"/>
          <p:nvPr/>
        </p:nvSpPr>
        <p:spPr>
          <a:xfrm>
            <a:off x="14647087" y="5955529"/>
            <a:ext cx="2711197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Using LOOP :</a:t>
            </a:r>
          </a:p>
        </p:txBody>
      </p:sp>
      <p:sp>
        <p:nvSpPr>
          <p:cNvPr id="705" name="Print only odd / Even numbers ?"/>
          <p:cNvSpPr txBox="1"/>
          <p:nvPr/>
        </p:nvSpPr>
        <p:spPr>
          <a:xfrm>
            <a:off x="12661911" y="8095670"/>
            <a:ext cx="6561507" cy="1105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400">
                <a:solidFill>
                  <a:srgbClr val="FFFFFF"/>
                </a:solidFill>
              </a:defRPr>
            </a:lvl1pPr>
          </a:lstStyle>
          <a:p>
            <a:r>
              <a:t> Print only odd / Even numbers ? 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1AF17CE0-CF1F-4EAD-B510-20F34ED1E6CF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" grpId="0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707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708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710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711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712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713" name="12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12</a:t>
            </a:r>
          </a:p>
        </p:txBody>
      </p:sp>
      <p:sp>
        <p:nvSpPr>
          <p:cNvPr id="715" name="Looping in Python"/>
          <p:cNvSpPr txBox="1"/>
          <p:nvPr/>
        </p:nvSpPr>
        <p:spPr>
          <a:xfrm>
            <a:off x="8252754" y="1382705"/>
            <a:ext cx="6827267" cy="1069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5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Looping in Python</a:t>
            </a:r>
          </a:p>
        </p:txBody>
      </p:sp>
      <p:sp>
        <p:nvSpPr>
          <p:cNvPr id="716" name="After decision making,…"/>
          <p:cNvSpPr txBox="1"/>
          <p:nvPr/>
        </p:nvSpPr>
        <p:spPr>
          <a:xfrm>
            <a:off x="2554284" y="3041839"/>
            <a:ext cx="18093577" cy="2323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700">
                <a:solidFill>
                  <a:srgbClr val="FFFFFF"/>
                </a:solidFill>
              </a:defRPr>
            </a:pPr>
            <a:r>
              <a:t>After decision making,</a:t>
            </a:r>
          </a:p>
          <a:p>
            <a:pPr algn="l">
              <a:defRPr sz="3700">
                <a:solidFill>
                  <a:srgbClr val="FFFFFF"/>
                </a:solidFill>
              </a:defRPr>
            </a:pPr>
            <a:endParaRPr/>
          </a:p>
          <a:p>
            <a:pPr lvl="3" algn="l">
              <a:defRPr sz="3700">
                <a:solidFill>
                  <a:srgbClr val="FFFFFF"/>
                </a:solidFill>
              </a:defRPr>
            </a:pPr>
            <a:r>
              <a:t>LOOPs are another fundamental part of any fundamental language, that allows </a:t>
            </a:r>
          </a:p>
          <a:p>
            <a:pPr lvl="3" algn="l">
              <a:defRPr sz="3700">
                <a:solidFill>
                  <a:srgbClr val="FFFFFF"/>
                </a:solidFill>
              </a:defRPr>
            </a:pPr>
            <a:r>
              <a:t>to execute the the same action several times. </a:t>
            </a:r>
          </a:p>
        </p:txBody>
      </p:sp>
      <p:sp>
        <p:nvSpPr>
          <p:cNvPr id="717" name="Print integer numbers between 1 to 10 ?"/>
          <p:cNvSpPr txBox="1"/>
          <p:nvPr/>
        </p:nvSpPr>
        <p:spPr>
          <a:xfrm>
            <a:off x="1906422" y="5750371"/>
            <a:ext cx="9060257" cy="659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Print integer numbers between 1 to 10 ?</a:t>
            </a:r>
          </a:p>
        </p:txBody>
      </p:sp>
      <p:sp>
        <p:nvSpPr>
          <p:cNvPr id="718" name="print(1)…"/>
          <p:cNvSpPr txBox="1"/>
          <p:nvPr/>
        </p:nvSpPr>
        <p:spPr>
          <a:xfrm>
            <a:off x="6938298" y="6794731"/>
            <a:ext cx="1974534" cy="5549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print(1)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print(2)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print(3)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.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.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.print(10)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pic>
        <p:nvPicPr>
          <p:cNvPr id="719" name="for x in range(1,11):… for x in range(1,11):      print(x)" descr="for x in range(1,11):… for x in range(1,11):      print(x)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702613" y="6626234"/>
            <a:ext cx="4600144" cy="1383844"/>
          </a:xfrm>
          <a:prstGeom prst="rect">
            <a:avLst/>
          </a:prstGeom>
          <a:effectLst>
            <a:outerShdw blurRad="355600" dist="254000" rotWithShape="0">
              <a:srgbClr val="000000">
                <a:alpha val="75000"/>
              </a:srgbClr>
            </a:outerShdw>
          </a:effectLst>
        </p:spPr>
      </p:pic>
      <p:sp>
        <p:nvSpPr>
          <p:cNvPr id="720" name="Using LOOP :"/>
          <p:cNvSpPr txBox="1"/>
          <p:nvPr/>
        </p:nvSpPr>
        <p:spPr>
          <a:xfrm>
            <a:off x="14647087" y="5955529"/>
            <a:ext cx="2711197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Using LOOP :</a:t>
            </a:r>
          </a:p>
        </p:txBody>
      </p:sp>
      <p:pic>
        <p:nvPicPr>
          <p:cNvPr id="721" name="for letter in &quot;coffee&quot;:… for letter in &quot;coffee&quot;:    print(letter*10)" descr="for letter in &quot;coffee&quot;:… for letter in &quot;coffee&quot;:    print(letter*10)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3750073" y="10031677"/>
            <a:ext cx="4505224" cy="1383844"/>
          </a:xfrm>
          <a:prstGeom prst="rect">
            <a:avLst/>
          </a:prstGeom>
          <a:effectLst>
            <a:outerShdw blurRad="355600" dist="254000" rotWithShape="0">
              <a:srgbClr val="000000">
                <a:alpha val="75000"/>
              </a:srgbClr>
            </a:outerShdw>
          </a:effectLst>
        </p:spPr>
      </p:pic>
      <p:pic>
        <p:nvPicPr>
          <p:cNvPr id="722" name="Rectangle Rectangle" descr="Rectangle Rectangl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3146535" y="9674397"/>
            <a:ext cx="5660573" cy="2171619"/>
          </a:xfrm>
          <a:prstGeom prst="rect">
            <a:avLst/>
          </a:prstGeom>
          <a:effectLst>
            <a:outerShdw blurRad="508000" dist="177800" rotWithShape="0">
              <a:schemeClr val="accent5">
                <a:hueOff val="-82419"/>
                <a:satOff val="-9513"/>
                <a:lumOff val="-16343"/>
                <a:alpha val="75000"/>
              </a:schemeClr>
            </a:outerShdw>
          </a:effectLst>
        </p:spPr>
      </p:pic>
      <p:sp>
        <p:nvSpPr>
          <p:cNvPr id="723" name="What it does ?"/>
          <p:cNvSpPr txBox="1"/>
          <p:nvPr/>
        </p:nvSpPr>
        <p:spPr>
          <a:xfrm>
            <a:off x="18973126" y="10399977"/>
            <a:ext cx="3152204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>
                <a:solidFill>
                  <a:srgbClr val="FFFFFF"/>
                </a:solidFill>
              </a:defRPr>
            </a:lvl1pPr>
          </a:lstStyle>
          <a:p>
            <a:r>
              <a:t>What it does ?</a:t>
            </a:r>
          </a:p>
        </p:txBody>
      </p:sp>
      <p:sp>
        <p:nvSpPr>
          <p:cNvPr id="724" name="Print only odd / Even numbers ?"/>
          <p:cNvSpPr txBox="1"/>
          <p:nvPr/>
        </p:nvSpPr>
        <p:spPr>
          <a:xfrm>
            <a:off x="12661911" y="8095670"/>
            <a:ext cx="6561507" cy="1105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400">
                <a:solidFill>
                  <a:srgbClr val="FFFFFF"/>
                </a:solidFill>
              </a:defRPr>
            </a:lvl1pPr>
          </a:lstStyle>
          <a:p>
            <a:r>
              <a:t> Print only odd / Even numbers ? 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B750CC74-9936-03EC-3A3C-56177821594F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726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727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729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730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731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732" name="13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734" name="Looping in Python"/>
          <p:cNvSpPr txBox="1"/>
          <p:nvPr/>
        </p:nvSpPr>
        <p:spPr>
          <a:xfrm>
            <a:off x="8252754" y="1382705"/>
            <a:ext cx="6827267" cy="1069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5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Looping in Python</a:t>
            </a:r>
          </a:p>
        </p:txBody>
      </p:sp>
      <p:sp>
        <p:nvSpPr>
          <p:cNvPr id="735" name="After decision making,…"/>
          <p:cNvSpPr txBox="1"/>
          <p:nvPr/>
        </p:nvSpPr>
        <p:spPr>
          <a:xfrm>
            <a:off x="2554284" y="3041839"/>
            <a:ext cx="18093577" cy="2323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700">
                <a:solidFill>
                  <a:srgbClr val="FFFFFF"/>
                </a:solidFill>
              </a:defRPr>
            </a:pPr>
            <a:r>
              <a:t>After decision making,</a:t>
            </a:r>
          </a:p>
          <a:p>
            <a:pPr algn="l">
              <a:defRPr sz="3700">
                <a:solidFill>
                  <a:srgbClr val="FFFFFF"/>
                </a:solidFill>
              </a:defRPr>
            </a:pPr>
            <a:endParaRPr/>
          </a:p>
          <a:p>
            <a:pPr lvl="3" algn="l">
              <a:defRPr sz="3700">
                <a:solidFill>
                  <a:srgbClr val="FFFFFF"/>
                </a:solidFill>
              </a:defRPr>
            </a:pPr>
            <a:r>
              <a:t>LOOPs are another fundamental part of any fundamental language, that allows </a:t>
            </a:r>
          </a:p>
          <a:p>
            <a:pPr lvl="3" algn="l">
              <a:defRPr sz="3700">
                <a:solidFill>
                  <a:srgbClr val="FFFFFF"/>
                </a:solidFill>
              </a:defRPr>
            </a:pPr>
            <a:r>
              <a:t>to execute the the same action several times. </a:t>
            </a:r>
          </a:p>
        </p:txBody>
      </p:sp>
      <p:sp>
        <p:nvSpPr>
          <p:cNvPr id="736" name="Print integer numbers between 1 to 10 ?"/>
          <p:cNvSpPr txBox="1"/>
          <p:nvPr/>
        </p:nvSpPr>
        <p:spPr>
          <a:xfrm>
            <a:off x="1906422" y="5750371"/>
            <a:ext cx="9060257" cy="659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Print integer numbers between 1 to 10 ?</a:t>
            </a:r>
          </a:p>
        </p:txBody>
      </p:sp>
      <p:sp>
        <p:nvSpPr>
          <p:cNvPr id="737" name="print(1)…"/>
          <p:cNvSpPr txBox="1"/>
          <p:nvPr/>
        </p:nvSpPr>
        <p:spPr>
          <a:xfrm>
            <a:off x="6938298" y="6794731"/>
            <a:ext cx="1974534" cy="5549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print(1)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print(2)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print(3)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.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.</a:t>
            </a:r>
          </a:p>
          <a:p>
            <a:pPr algn="l">
              <a:defRPr sz="35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.print(10)</a:t>
            </a:r>
          </a:p>
          <a:p>
            <a:pPr algn="l">
              <a:defRPr sz="35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pic>
        <p:nvPicPr>
          <p:cNvPr id="738" name="for x in range(1,11):… for x in range(1,11):      print(x)" descr="for x in range(1,11):… for x in range(1,11):      print(x)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702613" y="6626234"/>
            <a:ext cx="4600144" cy="1383844"/>
          </a:xfrm>
          <a:prstGeom prst="rect">
            <a:avLst/>
          </a:prstGeom>
          <a:effectLst>
            <a:outerShdw blurRad="355600" dist="254000" rotWithShape="0">
              <a:srgbClr val="000000">
                <a:alpha val="75000"/>
              </a:srgbClr>
            </a:outerShdw>
          </a:effectLst>
        </p:spPr>
      </p:pic>
      <p:sp>
        <p:nvSpPr>
          <p:cNvPr id="739" name="Using LOOP :"/>
          <p:cNvSpPr txBox="1"/>
          <p:nvPr/>
        </p:nvSpPr>
        <p:spPr>
          <a:xfrm>
            <a:off x="14647087" y="5955529"/>
            <a:ext cx="2711197" cy="58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Using LOOP :</a:t>
            </a:r>
          </a:p>
        </p:txBody>
      </p:sp>
      <p:sp>
        <p:nvSpPr>
          <p:cNvPr id="740" name="Print only odd / Even numbers ?"/>
          <p:cNvSpPr txBox="1"/>
          <p:nvPr/>
        </p:nvSpPr>
        <p:spPr>
          <a:xfrm>
            <a:off x="12661911" y="8095670"/>
            <a:ext cx="6561507" cy="1105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400">
                <a:solidFill>
                  <a:srgbClr val="FFFFFF"/>
                </a:solidFill>
              </a:defRPr>
            </a:lvl1pPr>
          </a:lstStyle>
          <a:p>
            <a:r>
              <a:t> Print only odd / Even numbers ? </a:t>
            </a:r>
          </a:p>
        </p:txBody>
      </p:sp>
      <p:pic>
        <p:nvPicPr>
          <p:cNvPr id="741" name="for letter in &quot;coffee&quot;:… for letter in &quot;coffee&quot;:    print(letter*10)" descr="for letter in &quot;coffee&quot;:… for letter in &quot;coffee&quot;:    print(letter*10)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3750073" y="10031677"/>
            <a:ext cx="4505224" cy="1383844"/>
          </a:xfrm>
          <a:prstGeom prst="rect">
            <a:avLst/>
          </a:prstGeom>
          <a:effectLst>
            <a:outerShdw blurRad="355600" dist="254000" rotWithShape="0">
              <a:srgbClr val="000000">
                <a:alpha val="75000"/>
              </a:srgbClr>
            </a:outerShdw>
          </a:effectLst>
        </p:spPr>
      </p:pic>
      <p:pic>
        <p:nvPicPr>
          <p:cNvPr id="742" name="Rectangle Rectangle" descr="Rectangle Rectangl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3146535" y="9674397"/>
            <a:ext cx="5660573" cy="2171619"/>
          </a:xfrm>
          <a:prstGeom prst="rect">
            <a:avLst/>
          </a:prstGeom>
          <a:effectLst>
            <a:outerShdw blurRad="508000" dist="177800" rotWithShape="0">
              <a:schemeClr val="accent5">
                <a:hueOff val="-82419"/>
                <a:satOff val="-9513"/>
                <a:lumOff val="-16343"/>
                <a:alpha val="75000"/>
              </a:schemeClr>
            </a:outerShdw>
          </a:effectLst>
        </p:spPr>
      </p:pic>
      <p:sp>
        <p:nvSpPr>
          <p:cNvPr id="743" name="What it does ?"/>
          <p:cNvSpPr txBox="1"/>
          <p:nvPr/>
        </p:nvSpPr>
        <p:spPr>
          <a:xfrm>
            <a:off x="18973126" y="10399977"/>
            <a:ext cx="3152204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>
                <a:solidFill>
                  <a:srgbClr val="FFFFFF"/>
                </a:solidFill>
              </a:defRPr>
            </a:lvl1pPr>
          </a:lstStyle>
          <a:p>
            <a:r>
              <a:t>What it does ?</a:t>
            </a:r>
          </a:p>
        </p:txBody>
      </p:sp>
      <p:sp>
        <p:nvSpPr>
          <p:cNvPr id="744" name="Rectangle"/>
          <p:cNvSpPr/>
          <p:nvPr/>
        </p:nvSpPr>
        <p:spPr>
          <a:xfrm>
            <a:off x="15453062" y="6713812"/>
            <a:ext cx="2781341" cy="674845"/>
          </a:xfrm>
          <a:prstGeom prst="rect">
            <a:avLst/>
          </a:prstGeom>
          <a:ln w="76200">
            <a:solidFill>
              <a:schemeClr val="accent5">
                <a:hueOff val="-82419"/>
                <a:satOff val="-9513"/>
                <a:lumOff val="-16343"/>
              </a:schemeClr>
            </a:solidFill>
            <a:custDash>
              <a:ds d="200000" sp="200000"/>
            </a:custDash>
            <a:miter lim="400000"/>
          </a:ln>
          <a:effectLst>
            <a:outerShdw blurRad="508000" dist="177800" rotWithShape="0">
              <a:schemeClr val="accent5">
                <a:hueOff val="-82419"/>
                <a:satOff val="-9513"/>
                <a:lumOff val="-16343"/>
                <a:alpha val="75000"/>
              </a:schemeClr>
            </a:outerShdw>
          </a:effec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58141A42-F537-C476-B8C3-8A84940E023A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" grpId="0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8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746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747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749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750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751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752" name="14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14</a:t>
            </a:r>
          </a:p>
        </p:txBody>
      </p:sp>
      <p:sp>
        <p:nvSpPr>
          <p:cNvPr id="754" name="Range in for loops"/>
          <p:cNvSpPr txBox="1"/>
          <p:nvPr/>
        </p:nvSpPr>
        <p:spPr>
          <a:xfrm>
            <a:off x="8776887" y="1446535"/>
            <a:ext cx="4885462" cy="78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600" u="sng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Range in for loops</a:t>
            </a:r>
          </a:p>
        </p:txBody>
      </p:sp>
      <p:sp>
        <p:nvSpPr>
          <p:cNvPr id="755" name="As per documentation, ‘ Range’ represents an immutable sequence of numbers and is…"/>
          <p:cNvSpPr txBox="1"/>
          <p:nvPr/>
        </p:nvSpPr>
        <p:spPr>
          <a:xfrm>
            <a:off x="2246958" y="2300426"/>
            <a:ext cx="19456795" cy="1230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700" b="1">
                <a:solidFill>
                  <a:srgbClr val="FFFFFF"/>
                </a:solidFill>
              </a:defRPr>
            </a:pPr>
            <a:r>
              <a:t>As per documentation, ‘ Range’ represents an immutable sequence of numbers and is </a:t>
            </a:r>
          </a:p>
          <a:p>
            <a:pPr algn="l">
              <a:defRPr sz="3700" b="1">
                <a:solidFill>
                  <a:srgbClr val="FFFFFF"/>
                </a:solidFill>
              </a:defRPr>
            </a:pPr>
            <a:r>
              <a:t>commonly used  for looping a specific number of times</a:t>
            </a:r>
          </a:p>
        </p:txBody>
      </p:sp>
      <p:sp>
        <p:nvSpPr>
          <p:cNvPr id="756" name="Python ranges  can be used in multiple forms"/>
          <p:cNvSpPr txBox="1"/>
          <p:nvPr/>
        </p:nvSpPr>
        <p:spPr>
          <a:xfrm>
            <a:off x="2244271" y="4215573"/>
            <a:ext cx="10224200" cy="659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7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Python </a:t>
            </a:r>
            <a:r>
              <a:rPr>
                <a:solidFill>
                  <a:srgbClr val="FFFFFF"/>
                </a:solidFill>
              </a:rPr>
              <a:t>ranges</a:t>
            </a:r>
            <a:r>
              <a:t>  can be used in multiple forms</a:t>
            </a:r>
          </a:p>
        </p:txBody>
      </p:sp>
      <p:sp>
        <p:nvSpPr>
          <p:cNvPr id="757" name="for x in range(11):"/>
          <p:cNvSpPr txBox="1"/>
          <p:nvPr/>
        </p:nvSpPr>
        <p:spPr>
          <a:xfrm>
            <a:off x="10449416" y="5487826"/>
            <a:ext cx="4030448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x in range(11):  </a:t>
            </a:r>
          </a:p>
        </p:txBody>
      </p:sp>
      <p:sp>
        <p:nvSpPr>
          <p:cNvPr id="758" name="for x in range(4,11):"/>
          <p:cNvSpPr txBox="1"/>
          <p:nvPr/>
        </p:nvSpPr>
        <p:spPr>
          <a:xfrm>
            <a:off x="10489993" y="6857999"/>
            <a:ext cx="4422344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x in range(4,11):  </a:t>
            </a:r>
          </a:p>
        </p:txBody>
      </p:sp>
      <p:sp>
        <p:nvSpPr>
          <p:cNvPr id="759" name="for x in range(4,11,1):"/>
          <p:cNvSpPr txBox="1"/>
          <p:nvPr/>
        </p:nvSpPr>
        <p:spPr>
          <a:xfrm>
            <a:off x="10478009" y="8234286"/>
            <a:ext cx="4814240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x in range(4,11,1):  </a:t>
            </a:r>
          </a:p>
        </p:txBody>
      </p:sp>
      <p:sp>
        <p:nvSpPr>
          <p:cNvPr id="760" name="ranges(final)"/>
          <p:cNvSpPr txBox="1"/>
          <p:nvPr/>
        </p:nvSpPr>
        <p:spPr>
          <a:xfrm>
            <a:off x="2609430" y="5553106"/>
            <a:ext cx="2889530" cy="659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rgbClr val="FFFFFF"/>
                </a:solidFill>
              </a:defRPr>
            </a:lvl1pPr>
          </a:lstStyle>
          <a:p>
            <a:pPr>
              <a:defRPr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>
                <a:solidFill>
                  <a:srgbClr val="FFFFFF"/>
                </a:solidFill>
              </a:rPr>
              <a:t>ranges(final)</a:t>
            </a:r>
          </a:p>
        </p:txBody>
      </p:sp>
      <p:sp>
        <p:nvSpPr>
          <p:cNvPr id="761" name="ranges(initial,final)"/>
          <p:cNvSpPr txBox="1"/>
          <p:nvPr/>
        </p:nvSpPr>
        <p:spPr>
          <a:xfrm>
            <a:off x="2601771" y="6851886"/>
            <a:ext cx="4218877" cy="659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rgbClr val="FFFFFF"/>
                </a:solidFill>
              </a:defRPr>
            </a:lvl1pPr>
          </a:lstStyle>
          <a:p>
            <a:pPr>
              <a:defRPr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>
                <a:solidFill>
                  <a:srgbClr val="FFFFFF"/>
                </a:solidFill>
              </a:rPr>
              <a:t>ranges(initial,final)</a:t>
            </a:r>
          </a:p>
        </p:txBody>
      </p:sp>
      <p:sp>
        <p:nvSpPr>
          <p:cNvPr id="762" name="ranges(initial,final,step)"/>
          <p:cNvSpPr txBox="1"/>
          <p:nvPr/>
        </p:nvSpPr>
        <p:spPr>
          <a:xfrm>
            <a:off x="2522219" y="8228173"/>
            <a:ext cx="5324082" cy="659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rgbClr val="FFFFFF"/>
                </a:solidFill>
              </a:defRPr>
            </a:lvl1pPr>
          </a:lstStyle>
          <a:p>
            <a:pPr>
              <a:defRPr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>
                <a:solidFill>
                  <a:srgbClr val="FFFFFF"/>
                </a:solidFill>
              </a:rPr>
              <a:t>ranges(initial,final,step)</a:t>
            </a:r>
          </a:p>
        </p:txBody>
      </p:sp>
      <p:sp>
        <p:nvSpPr>
          <p:cNvPr id="763" name="for x in range(4,11,2):"/>
          <p:cNvSpPr txBox="1"/>
          <p:nvPr/>
        </p:nvSpPr>
        <p:spPr>
          <a:xfrm>
            <a:off x="10478009" y="9392618"/>
            <a:ext cx="4814240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x in range(4,11,2):  </a:t>
            </a:r>
          </a:p>
        </p:txBody>
      </p:sp>
      <p:sp>
        <p:nvSpPr>
          <p:cNvPr id="764" name="for x in range(11,1,-2):"/>
          <p:cNvSpPr txBox="1"/>
          <p:nvPr/>
        </p:nvSpPr>
        <p:spPr>
          <a:xfrm>
            <a:off x="10412013" y="10550951"/>
            <a:ext cx="4997032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for x in range(11,1,-2):  </a:t>
            </a:r>
          </a:p>
        </p:txBody>
      </p:sp>
      <p:pic>
        <p:nvPicPr>
          <p:cNvPr id="765" name="Line Line" descr="Line Line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412484" y="9716850"/>
            <a:ext cx="2391122" cy="76201"/>
          </a:xfrm>
          <a:prstGeom prst="rect">
            <a:avLst/>
          </a:prstGeom>
        </p:spPr>
      </p:pic>
      <p:pic>
        <p:nvPicPr>
          <p:cNvPr id="767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598866" y="8516769"/>
            <a:ext cx="943636" cy="206959"/>
          </a:xfrm>
          <a:prstGeom prst="rect">
            <a:avLst/>
          </a:prstGeom>
        </p:spPr>
      </p:pic>
      <p:pic>
        <p:nvPicPr>
          <p:cNvPr id="769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598866" y="9653570"/>
            <a:ext cx="943636" cy="206959"/>
          </a:xfrm>
          <a:prstGeom prst="rect">
            <a:avLst/>
          </a:prstGeom>
        </p:spPr>
      </p:pic>
      <p:pic>
        <p:nvPicPr>
          <p:cNvPr id="771" name="Line Line" descr="Line Line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598866" y="10771093"/>
            <a:ext cx="943636" cy="206959"/>
          </a:xfrm>
          <a:prstGeom prst="rect">
            <a:avLst/>
          </a:prstGeom>
        </p:spPr>
      </p:pic>
      <p:pic>
        <p:nvPicPr>
          <p:cNvPr id="773" name="Line Line" descr="Line Line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847256" y="8596007"/>
            <a:ext cx="1747134" cy="76201"/>
          </a:xfrm>
          <a:prstGeom prst="rect">
            <a:avLst/>
          </a:prstGeom>
        </p:spPr>
      </p:pic>
      <p:pic>
        <p:nvPicPr>
          <p:cNvPr id="775" name="Line Line" descr="Line 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14864874" y="10181737"/>
            <a:ext cx="1309573" cy="352736"/>
          </a:xfrm>
          <a:prstGeom prst="rect">
            <a:avLst/>
          </a:prstGeom>
        </p:spPr>
      </p:pic>
      <p:sp>
        <p:nvSpPr>
          <p:cNvPr id="777" name="Steps up / down"/>
          <p:cNvSpPr txBox="1"/>
          <p:nvPr/>
        </p:nvSpPr>
        <p:spPr>
          <a:xfrm>
            <a:off x="15937060" y="10040149"/>
            <a:ext cx="3200502" cy="585112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Steps up / down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31D1B329-7BAC-5436-0CDF-AA6BF530EDF1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" grpId="0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1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779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780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782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783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784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785" name="15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15</a:t>
            </a:r>
          </a:p>
        </p:txBody>
      </p:sp>
      <p:sp>
        <p:nvSpPr>
          <p:cNvPr id="787" name="Hands - On"/>
          <p:cNvSpPr txBox="1"/>
          <p:nvPr/>
        </p:nvSpPr>
        <p:spPr>
          <a:xfrm>
            <a:off x="2184189" y="1744239"/>
            <a:ext cx="2993645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t>Hands - On </a:t>
            </a:r>
          </a:p>
        </p:txBody>
      </p:sp>
      <p:sp>
        <p:nvSpPr>
          <p:cNvPr id="788" name="What are expected numbers generated by the following range ?"/>
          <p:cNvSpPr txBox="1"/>
          <p:nvPr/>
        </p:nvSpPr>
        <p:spPr>
          <a:xfrm>
            <a:off x="3258128" y="2861644"/>
            <a:ext cx="11307586" cy="57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What are expected numbers generated by the following range ?</a:t>
            </a:r>
          </a:p>
        </p:txBody>
      </p:sp>
      <p:sp>
        <p:nvSpPr>
          <p:cNvPr id="789" name="range(2,19) ?"/>
          <p:cNvSpPr txBox="1"/>
          <p:nvPr/>
        </p:nvSpPr>
        <p:spPr>
          <a:xfrm>
            <a:off x="11709216" y="3423204"/>
            <a:ext cx="2930272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range(2,19) ?</a:t>
            </a:r>
          </a:p>
        </p:txBody>
      </p:sp>
      <p:sp>
        <p:nvSpPr>
          <p:cNvPr id="790" name="What are expected numbers generated by the following range ?"/>
          <p:cNvSpPr txBox="1"/>
          <p:nvPr/>
        </p:nvSpPr>
        <p:spPr>
          <a:xfrm>
            <a:off x="4013298" y="4612503"/>
            <a:ext cx="11307586" cy="573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What are expected numbers generated by the following range ?</a:t>
            </a:r>
          </a:p>
        </p:txBody>
      </p:sp>
      <p:sp>
        <p:nvSpPr>
          <p:cNvPr id="791" name="range(5) ?"/>
          <p:cNvSpPr txBox="1"/>
          <p:nvPr/>
        </p:nvSpPr>
        <p:spPr>
          <a:xfrm>
            <a:off x="13141310" y="5200968"/>
            <a:ext cx="2259458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800">
                <a:solidFill>
                  <a:schemeClr val="accent4">
                    <a:hueOff val="-476017"/>
                    <a:lumOff val="-10042"/>
                  </a:schemeClr>
                </a:solidFill>
              </a:defRPr>
            </a:lvl1pPr>
          </a:lstStyle>
          <a:p>
            <a:r>
              <a:t>range(5) ?</a:t>
            </a:r>
          </a:p>
        </p:txBody>
      </p:sp>
      <p:sp>
        <p:nvSpPr>
          <p:cNvPr id="792" name="What are expected numbers generated by the following range ?"/>
          <p:cNvSpPr txBox="1"/>
          <p:nvPr/>
        </p:nvSpPr>
        <p:spPr>
          <a:xfrm>
            <a:off x="5216643" y="6730281"/>
            <a:ext cx="11307586" cy="573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100">
                <a:solidFill>
                  <a:srgbClr val="FFFFFF"/>
                </a:solidFill>
              </a:defRPr>
            </a:lvl1pPr>
          </a:lstStyle>
          <a:p>
            <a:r>
              <a:t>What are expected numbers generated by the following range ?</a:t>
            </a:r>
          </a:p>
        </p:txBody>
      </p:sp>
      <p:sp>
        <p:nvSpPr>
          <p:cNvPr id="793" name="Rectangle"/>
          <p:cNvSpPr/>
          <p:nvPr/>
        </p:nvSpPr>
        <p:spPr>
          <a:xfrm>
            <a:off x="17046243" y="6365421"/>
            <a:ext cx="4753213" cy="1347410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ffectLst>
            <a:outerShdw blurRad="355600" dist="3175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794" name="for x in range(18,0,-3):…"/>
          <p:cNvSpPr txBox="1"/>
          <p:nvPr/>
        </p:nvSpPr>
        <p:spPr>
          <a:xfrm>
            <a:off x="17261970" y="6498920"/>
            <a:ext cx="4321760" cy="1080412"/>
          </a:xfrm>
          <a:prstGeom prst="rect">
            <a:avLst/>
          </a:prstGeom>
          <a:ln w="12700">
            <a:miter lim="400000"/>
          </a:ln>
          <a:effectLst>
            <a:outerShdw blurRad="355600" dist="3175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for x in range(18,0,-3):</a:t>
            </a:r>
          </a:p>
          <a:p>
            <a:pPr>
              <a:defRPr sz="3200" b="1">
                <a:solidFill>
                  <a:srgbClr val="000000"/>
                </a:solidFill>
              </a:defRPr>
            </a:pPr>
            <a:r>
              <a:t>print(x)</a:t>
            </a:r>
          </a:p>
        </p:txBody>
      </p:sp>
      <p:sp>
        <p:nvSpPr>
          <p:cNvPr id="795" name="Write a code using for loop to add odd/even numbers from range 1-100…"/>
          <p:cNvSpPr txBox="1"/>
          <p:nvPr/>
        </p:nvSpPr>
        <p:spPr>
          <a:xfrm>
            <a:off x="3266204" y="8524426"/>
            <a:ext cx="20117269" cy="4000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228600" indent="-228600" algn="l">
              <a:buSzPct val="66000"/>
              <a:buBlip>
                <a:blip r:embed="rId3"/>
              </a:buBlip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Write a code using for loop to add odd/even numbers from range 1-100</a:t>
            </a:r>
          </a:p>
          <a:p>
            <a:pPr algn="l"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endParaRPr/>
          </a:p>
          <a:p>
            <a:pPr marL="228600" indent="-228600" algn="l">
              <a:buSzPct val="66000"/>
              <a:buBlip>
                <a:blip r:embed="rId3"/>
              </a:buBlip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Modify code to print only odd numbers divisible by 3 from range 1-100</a:t>
            </a:r>
          </a:p>
          <a:p>
            <a:pPr algn="l"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endParaRPr/>
          </a:p>
          <a:p>
            <a:pPr marL="228600" indent="-228600" algn="l">
              <a:buSzPct val="66000"/>
              <a:buBlip>
                <a:blip r:embed="rId3"/>
              </a:buBlip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Modify code to print only number which give remainder 1 after dividing by 4 from </a:t>
            </a:r>
          </a:p>
          <a:p>
            <a:pPr algn="l"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  range 1-100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931ED3CB-D5F9-AA38-BFA5-2BAC6BEE6B37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4" grpId="0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9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797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798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800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801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802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803" name="16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16</a:t>
            </a:r>
          </a:p>
        </p:txBody>
      </p:sp>
      <p:sp>
        <p:nvSpPr>
          <p:cNvPr id="805" name="while loops"/>
          <p:cNvSpPr txBox="1"/>
          <p:nvPr/>
        </p:nvSpPr>
        <p:spPr>
          <a:xfrm>
            <a:off x="10604136" y="1402580"/>
            <a:ext cx="2992375" cy="771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t>while loops</a:t>
            </a:r>
          </a:p>
        </p:txBody>
      </p:sp>
      <p:sp>
        <p:nvSpPr>
          <p:cNvPr id="806" name="With while loop, one can do almost all actions which for loops can do, with additional features.…"/>
          <p:cNvSpPr txBox="1"/>
          <p:nvPr/>
        </p:nvSpPr>
        <p:spPr>
          <a:xfrm>
            <a:off x="2114576" y="2900255"/>
            <a:ext cx="20302615" cy="17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700">
                <a:solidFill>
                  <a:srgbClr val="FFFFFF"/>
                </a:solidFill>
              </a:defRPr>
            </a:pPr>
            <a:r>
              <a:t>With while loop, one can do almost all actions which for loops can do, </a:t>
            </a:r>
            <a:r>
              <a:rPr b="1">
                <a:solidFill>
                  <a:schemeClr val="accent4">
                    <a:hueOff val="-476017"/>
                    <a:lumOff val="-10042"/>
                  </a:schemeClr>
                </a:solidFill>
              </a:rPr>
              <a:t>with additional features</a:t>
            </a:r>
            <a:r>
              <a:t>.</a:t>
            </a:r>
          </a:p>
          <a:p>
            <a:pPr algn="l">
              <a:defRPr sz="3700">
                <a:solidFill>
                  <a:srgbClr val="FFFFFF"/>
                </a:solidFill>
              </a:defRPr>
            </a:pPr>
            <a:endParaRPr/>
          </a:p>
          <a:p>
            <a:pPr algn="l">
              <a:defRPr sz="3700">
                <a:solidFill>
                  <a:srgbClr val="FFFFFF"/>
                </a:solidFill>
              </a:defRPr>
            </a:pPr>
            <a:r>
              <a:t>As the name suggests,  it invoke the conditional statement</a:t>
            </a:r>
          </a:p>
        </p:txBody>
      </p:sp>
      <p:sp>
        <p:nvSpPr>
          <p:cNvPr id="807" name="Syntax:…"/>
          <p:cNvSpPr txBox="1"/>
          <p:nvPr/>
        </p:nvSpPr>
        <p:spPr>
          <a:xfrm>
            <a:off x="3112620" y="5017709"/>
            <a:ext cx="8809813" cy="22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700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t>Syntax: </a:t>
            </a:r>
          </a:p>
          <a:p>
            <a:pPr lvl="1" algn="l">
              <a:defRPr sz="3700"/>
            </a:pPr>
            <a:r>
              <a:rPr>
                <a:solidFill>
                  <a:srgbClr val="FFFFFF"/>
                </a:solidFill>
              </a:rPr>
              <a:t>while</a:t>
            </a:r>
            <a:r>
              <a:t> </a:t>
            </a:r>
            <a:r>
              <a:rPr i="1">
                <a:solidFill>
                  <a:schemeClr val="accent4">
                    <a:hueOff val="-476017"/>
                    <a:lumOff val="-10042"/>
                  </a:schemeClr>
                </a:solidFill>
              </a:rPr>
              <a:t>conditional_statement</a:t>
            </a:r>
            <a:r>
              <a:rPr>
                <a:solidFill>
                  <a:srgbClr val="FFFFFF"/>
                </a:solidFill>
              </a:rPr>
              <a:t>:</a:t>
            </a:r>
          </a:p>
          <a:p>
            <a:pPr lvl="1" algn="l">
              <a:defRPr sz="3400">
                <a:solidFill>
                  <a:srgbClr val="FFFFFF"/>
                </a:solidFill>
              </a:defRPr>
            </a:pPr>
            <a:r>
              <a:t>Block_of_statements, </a:t>
            </a:r>
          </a:p>
          <a:p>
            <a:pPr lvl="1" algn="l">
              <a:defRPr sz="3400">
                <a:solidFill>
                  <a:srgbClr val="FFFFFF"/>
                </a:solidFill>
              </a:defRPr>
            </a:pPr>
            <a:r>
              <a:t>unless conditional statement become false</a:t>
            </a:r>
          </a:p>
        </p:txBody>
      </p:sp>
      <p:sp>
        <p:nvSpPr>
          <p:cNvPr id="808" name="Line"/>
          <p:cNvSpPr/>
          <p:nvPr/>
        </p:nvSpPr>
        <p:spPr>
          <a:xfrm flipV="1">
            <a:off x="12192000" y="8849824"/>
            <a:ext cx="0" cy="2071012"/>
          </a:xfrm>
          <a:prstGeom prst="line">
            <a:avLst/>
          </a:prstGeom>
          <a:ln w="190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809" name="Difference between while and for loop"/>
          <p:cNvSpPr txBox="1"/>
          <p:nvPr/>
        </p:nvSpPr>
        <p:spPr>
          <a:xfrm>
            <a:off x="7687043" y="7933225"/>
            <a:ext cx="9009914" cy="78352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ffectLst>
            <a:outerShdw blurRad="355600" dist="3175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700" b="1">
                <a:solidFill>
                  <a:schemeClr val="accent4">
                    <a:hueOff val="-476017"/>
                    <a:lumOff val="-10042"/>
                  </a:schemeClr>
                </a:solidFill>
              </a:defRPr>
            </a:pPr>
            <a:r>
              <a:rPr>
                <a:solidFill>
                  <a:srgbClr val="FFFFFF"/>
                </a:solidFill>
              </a:rPr>
              <a:t>Difference between</a:t>
            </a:r>
            <a:r>
              <a:t> </a:t>
            </a:r>
            <a:r>
              <a:rPr sz="4500" i="1"/>
              <a:t>while</a:t>
            </a:r>
            <a:r>
              <a:t> </a:t>
            </a:r>
            <a:r>
              <a:rPr>
                <a:solidFill>
                  <a:srgbClr val="FFFFFF"/>
                </a:solidFill>
              </a:rPr>
              <a:t>and</a:t>
            </a:r>
            <a:r>
              <a:t> </a:t>
            </a:r>
            <a:r>
              <a:rPr sz="4500" i="1"/>
              <a:t>for</a:t>
            </a:r>
            <a:r>
              <a:t> </a:t>
            </a:r>
            <a:r>
              <a:rPr>
                <a:solidFill>
                  <a:srgbClr val="FFFFFF"/>
                </a:solidFill>
              </a:rPr>
              <a:t>loop</a:t>
            </a:r>
          </a:p>
        </p:txBody>
      </p:sp>
      <p:sp>
        <p:nvSpPr>
          <p:cNvPr id="810" name="for x in range(1,10):…"/>
          <p:cNvSpPr txBox="1"/>
          <p:nvPr/>
        </p:nvSpPr>
        <p:spPr>
          <a:xfrm>
            <a:off x="15097317" y="9677231"/>
            <a:ext cx="3817417" cy="108041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55600" dist="3175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for x in range(1,10):</a:t>
            </a:r>
          </a:p>
          <a:p>
            <a:pPr>
              <a:defRPr sz="3200" b="1">
                <a:solidFill>
                  <a:srgbClr val="000000"/>
                </a:solidFill>
              </a:defRPr>
            </a:pPr>
            <a:r>
              <a:t>print(x)</a:t>
            </a:r>
          </a:p>
        </p:txBody>
      </p:sp>
      <p:sp>
        <p:nvSpPr>
          <p:cNvPr id="811" name="x = 1…"/>
          <p:cNvSpPr txBox="1"/>
          <p:nvPr/>
        </p:nvSpPr>
        <p:spPr>
          <a:xfrm>
            <a:off x="6243614" y="9181931"/>
            <a:ext cx="2434845" cy="207101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55600" dist="3175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</a:defRPr>
            </a:pPr>
            <a:r>
              <a:t>x = 1</a:t>
            </a:r>
          </a:p>
          <a:p>
            <a:pPr algn="l">
              <a:defRPr sz="3200" b="1">
                <a:solidFill>
                  <a:srgbClr val="000000"/>
                </a:solidFill>
              </a:defRPr>
            </a:pPr>
            <a:r>
              <a:t>While x &lt;11:</a:t>
            </a:r>
          </a:p>
          <a:p>
            <a:pPr lvl="1" algn="l">
              <a:defRPr sz="3200" b="1">
                <a:solidFill>
                  <a:srgbClr val="000000"/>
                </a:solidFill>
              </a:defRPr>
            </a:pPr>
            <a:r>
              <a:t>print(x)</a:t>
            </a:r>
          </a:p>
          <a:p>
            <a:pPr lvl="1" algn="l">
              <a:defRPr sz="3200" b="1">
                <a:solidFill>
                  <a:srgbClr val="000000"/>
                </a:solidFill>
              </a:defRPr>
            </a:pPr>
            <a:r>
              <a:t>x+=1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B3B7AB14-B3D9-FBDA-B6E3-E8997F3672E5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2" grpId="0" animBg="1" advAuto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5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813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814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816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817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818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819" name="17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17</a:t>
            </a:r>
          </a:p>
        </p:txBody>
      </p:sp>
      <p:sp>
        <p:nvSpPr>
          <p:cNvPr id="821" name="Hands-On"/>
          <p:cNvSpPr txBox="1"/>
          <p:nvPr/>
        </p:nvSpPr>
        <p:spPr>
          <a:xfrm>
            <a:off x="10907013" y="1359917"/>
            <a:ext cx="2569973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t>Hands-On</a:t>
            </a:r>
          </a:p>
        </p:txBody>
      </p:sp>
      <p:sp>
        <p:nvSpPr>
          <p:cNvPr id="822" name="for num in range(1,21):…"/>
          <p:cNvSpPr txBox="1"/>
          <p:nvPr/>
        </p:nvSpPr>
        <p:spPr>
          <a:xfrm>
            <a:off x="2270214" y="8023134"/>
            <a:ext cx="16499245" cy="4047580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200000"/>
              </a:lnSpc>
              <a:defRPr sz="3700" b="1">
                <a:solidFill>
                  <a:srgbClr val="000000"/>
                </a:solidFill>
              </a:defRPr>
            </a:pPr>
            <a:r>
              <a:t>for num in range(1,21):</a:t>
            </a:r>
          </a:p>
          <a:p>
            <a:pPr algn="l">
              <a:lnSpc>
                <a:spcPct val="200000"/>
              </a:lnSpc>
              <a:defRPr sz="3700" b="1">
                <a:solidFill>
                  <a:srgbClr val="000000"/>
                </a:solidFill>
              </a:defRPr>
            </a:pPr>
            <a:r>
              <a:t>    if num % 2 == 0:</a:t>
            </a:r>
          </a:p>
          <a:p>
            <a:pPr algn="l">
              <a:lnSpc>
                <a:spcPct val="200000"/>
              </a:lnSpc>
              <a:defRPr sz="3700" b="1">
                <a:solidFill>
                  <a:srgbClr val="000000"/>
                </a:solidFill>
              </a:defRPr>
            </a:pPr>
            <a:r>
              <a:t>        print("    \U0001f936\t    \U0001f936\t    \U0001f936\t\n".expandtabs())</a:t>
            </a:r>
          </a:p>
          <a:p>
            <a:pPr algn="l">
              <a:lnSpc>
                <a:spcPct val="200000"/>
              </a:lnSpc>
              <a:defRPr sz="3700" b="1">
                <a:solidFill>
                  <a:srgbClr val="000000"/>
                </a:solidFill>
              </a:defRPr>
            </a:pPr>
            <a:r>
              <a:t>    else: print("\U0001f385\t\U0001f385\t\U0001f385\n".expandtabs())</a:t>
            </a:r>
          </a:p>
        </p:txBody>
      </p:sp>
      <p:pic>
        <p:nvPicPr>
          <p:cNvPr id="823" name="Screen Shot 2022-10-18 at 9.55.01 PM.png" descr="Screen Shot 2022-10-18 at 9.55.01 PM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144401" y="7568496"/>
            <a:ext cx="18343338" cy="4659479"/>
          </a:xfrm>
          <a:prstGeom prst="rect">
            <a:avLst/>
          </a:prstGeom>
          <a:ln w="12700">
            <a:miter lim="400000"/>
          </a:ln>
        </p:spPr>
      </p:pic>
      <p:sp>
        <p:nvSpPr>
          <p:cNvPr id="824" name="for num in range(1,11):…"/>
          <p:cNvSpPr txBox="1"/>
          <p:nvPr/>
        </p:nvSpPr>
        <p:spPr>
          <a:xfrm>
            <a:off x="3896816" y="3901699"/>
            <a:ext cx="5807609" cy="1230970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700" b="1">
                <a:solidFill>
                  <a:srgbClr val="000000"/>
                </a:solidFill>
              </a:defRPr>
            </a:pPr>
            <a:r>
              <a:t>for num in range(1,11):</a:t>
            </a:r>
          </a:p>
          <a:p>
            <a:pPr>
              <a:defRPr sz="3700" b="1">
                <a:solidFill>
                  <a:srgbClr val="000000"/>
                </a:solidFill>
              </a:defRPr>
            </a:pPr>
            <a:r>
              <a:t>           print("\U0001f332")</a:t>
            </a:r>
          </a:p>
        </p:txBody>
      </p:sp>
      <p:sp>
        <p:nvSpPr>
          <p:cNvPr id="825" name="Print only, when num is even"/>
          <p:cNvSpPr txBox="1"/>
          <p:nvPr/>
        </p:nvSpPr>
        <p:spPr>
          <a:xfrm>
            <a:off x="13022436" y="2844682"/>
            <a:ext cx="6484265" cy="659471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rgbClr val="000000"/>
                </a:solidFill>
              </a:defRPr>
            </a:lvl1pPr>
          </a:lstStyle>
          <a:p>
            <a:r>
              <a:t>Print only, when num is even</a:t>
            </a:r>
          </a:p>
        </p:txBody>
      </p:sp>
      <p:sp>
        <p:nvSpPr>
          <p:cNvPr id="826" name="Print only, when num is odd"/>
          <p:cNvSpPr txBox="1"/>
          <p:nvPr/>
        </p:nvSpPr>
        <p:spPr>
          <a:xfrm>
            <a:off x="13016499" y="4187449"/>
            <a:ext cx="6283148" cy="659470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rgbClr val="000000"/>
                </a:solidFill>
              </a:defRPr>
            </a:lvl1pPr>
          </a:lstStyle>
          <a:p>
            <a:r>
              <a:t>Print only, when num is odd</a:t>
            </a:r>
          </a:p>
        </p:txBody>
      </p:sp>
      <p:sp>
        <p:nvSpPr>
          <p:cNvPr id="827" name="Print both, even and odd"/>
          <p:cNvSpPr txBox="1"/>
          <p:nvPr/>
        </p:nvSpPr>
        <p:spPr>
          <a:xfrm>
            <a:off x="13024320" y="5530215"/>
            <a:ext cx="5606492" cy="659470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 b="1">
                <a:solidFill>
                  <a:srgbClr val="000000"/>
                </a:solidFill>
              </a:defRPr>
            </a:lvl1pPr>
          </a:lstStyle>
          <a:p>
            <a:r>
              <a:t>Print both, even and odd</a:t>
            </a:r>
          </a:p>
        </p:txBody>
      </p:sp>
      <p:sp>
        <p:nvSpPr>
          <p:cNvPr id="828" name="Line"/>
          <p:cNvSpPr/>
          <p:nvPr/>
        </p:nvSpPr>
        <p:spPr>
          <a:xfrm flipV="1">
            <a:off x="12100323" y="3111639"/>
            <a:ext cx="1" cy="2811090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829" name="Line"/>
          <p:cNvSpPr/>
          <p:nvPr/>
        </p:nvSpPr>
        <p:spPr>
          <a:xfrm>
            <a:off x="12111339" y="3136317"/>
            <a:ext cx="892836" cy="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830" name="Line"/>
          <p:cNvSpPr/>
          <p:nvPr/>
        </p:nvSpPr>
        <p:spPr>
          <a:xfrm>
            <a:off x="12111339" y="4517183"/>
            <a:ext cx="892836" cy="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831" name="Line"/>
          <p:cNvSpPr/>
          <p:nvPr/>
        </p:nvSpPr>
        <p:spPr>
          <a:xfrm>
            <a:off x="12096803" y="5872650"/>
            <a:ext cx="892836" cy="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832" name="Line"/>
          <p:cNvSpPr/>
          <p:nvPr/>
        </p:nvSpPr>
        <p:spPr>
          <a:xfrm>
            <a:off x="9759544" y="4517183"/>
            <a:ext cx="2253910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833" name="Screen Shot 2022-11-23 at 9.22.35 AM.png" descr="Screen Shot 2022-11-23 at 9.22.35 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264" y="6658967"/>
            <a:ext cx="12573001" cy="1155701"/>
          </a:xfrm>
          <a:prstGeom prst="rect">
            <a:avLst/>
          </a:prstGeom>
          <a:ln w="12700">
            <a:miter lim="400000"/>
          </a:ln>
        </p:spPr>
      </p:pic>
      <p:sp>
        <p:nvSpPr>
          <p:cNvPr id="834" name="Print"/>
          <p:cNvSpPr txBox="1"/>
          <p:nvPr/>
        </p:nvSpPr>
        <p:spPr>
          <a:xfrm>
            <a:off x="5305555" y="6659160"/>
            <a:ext cx="2122552" cy="115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 b="1">
                <a:solidFill>
                  <a:srgbClr val="FFFFFF"/>
                </a:solidFill>
              </a:defRPr>
            </a:lvl1pPr>
          </a:lstStyle>
          <a:p>
            <a:r>
              <a:t>Print</a:t>
            </a:r>
          </a:p>
        </p:txBody>
      </p:sp>
      <p:sp>
        <p:nvSpPr>
          <p:cNvPr id="2" name="28/10/2022">
            <a:extLst>
              <a:ext uri="{FF2B5EF4-FFF2-40B4-BE49-F238E27FC236}">
                <a16:creationId xmlns:a16="http://schemas.microsoft.com/office/drawing/2014/main" id="{19F423A5-19BD-64EB-5D45-7FB95DE19ADF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8" grpId="0" animBg="1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8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836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837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839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840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841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842" name="18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18</a:t>
            </a:r>
          </a:p>
        </p:txBody>
      </p:sp>
      <p:sp>
        <p:nvSpPr>
          <p:cNvPr id="844" name="Hands-On - print"/>
          <p:cNvSpPr txBox="1"/>
          <p:nvPr/>
        </p:nvSpPr>
        <p:spPr>
          <a:xfrm>
            <a:off x="10102850" y="1185295"/>
            <a:ext cx="417830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t>Hands-On - print</a:t>
            </a:r>
          </a:p>
        </p:txBody>
      </p:sp>
      <p:grpSp>
        <p:nvGrpSpPr>
          <p:cNvPr id="847" name="Screen Shot 2022-11-23 at 9.41.14 AM.png"/>
          <p:cNvGrpSpPr/>
          <p:nvPr/>
        </p:nvGrpSpPr>
        <p:grpSpPr>
          <a:xfrm>
            <a:off x="1995748" y="1954959"/>
            <a:ext cx="15370328" cy="5392505"/>
            <a:chOff x="0" y="0"/>
            <a:chExt cx="15370326" cy="5392503"/>
          </a:xfrm>
        </p:grpSpPr>
        <p:pic>
          <p:nvPicPr>
            <p:cNvPr id="846" name="Screen Shot 2022-11-23 at 9.41.14 AM.png" descr="Screen Shot 2022-11-23 at 9.41.14 A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0" y="50800"/>
              <a:ext cx="15268727" cy="529090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45" name="Screen Shot 2022-11-23 at 9.41.14 AM.png" descr="Screen Shot 2022-11-23 at 9.41.14 AM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5370327" cy="5392504"/>
            </a:xfrm>
            <a:prstGeom prst="rect">
              <a:avLst/>
            </a:prstGeom>
            <a:effectLst/>
          </p:spPr>
        </p:pic>
      </p:grpSp>
      <p:grpSp>
        <p:nvGrpSpPr>
          <p:cNvPr id="855" name="Group"/>
          <p:cNvGrpSpPr/>
          <p:nvPr/>
        </p:nvGrpSpPr>
        <p:grpSpPr>
          <a:xfrm>
            <a:off x="2064507" y="9344326"/>
            <a:ext cx="9200930" cy="1975421"/>
            <a:chOff x="0" y="1936362"/>
            <a:chExt cx="9200928" cy="1975420"/>
          </a:xfrm>
        </p:grpSpPr>
        <p:sp>
          <p:nvSpPr>
            <p:cNvPr id="848" name="for num in range(1,11):…"/>
            <p:cNvSpPr/>
            <p:nvPr/>
          </p:nvSpPr>
          <p:spPr>
            <a:xfrm>
              <a:off x="0" y="1936362"/>
              <a:ext cx="1270000" cy="1270001"/>
            </a:xfrm>
            <a:prstGeom prst="line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lnSpc>
                  <a:spcPct val="200000"/>
                </a:lnSpc>
                <a:defRPr sz="3500" b="1">
                  <a:solidFill>
                    <a:srgbClr val="000000"/>
                  </a:solidFill>
                </a:defRPr>
              </a:pPr>
              <a:r>
                <a:t>for num in range(1,11):</a:t>
              </a:r>
            </a:p>
            <a:p>
              <a:pPr algn="l">
                <a:lnSpc>
                  <a:spcPct val="200000"/>
                </a:lnSpc>
                <a:defRPr sz="3500" b="1">
                  <a:solidFill>
                    <a:srgbClr val="000000"/>
                  </a:solidFill>
                </a:defRPr>
              </a:pPr>
              <a:r>
                <a:t>    if num % 2 == 0:</a:t>
              </a:r>
            </a:p>
            <a:p>
              <a:pPr algn="l">
                <a:lnSpc>
                  <a:spcPct val="200000"/>
                </a:lnSpc>
                <a:defRPr sz="3500" b="1">
                  <a:solidFill>
                    <a:srgbClr val="000000"/>
                  </a:solidFill>
                </a:defRPr>
              </a:pPr>
              <a:r>
                <a:t>        print("    \U0001f936\t\t\U0001f936\t\t\U0001f936\t\t\U0001f936\t\t".</a:t>
              </a:r>
              <a:r>
                <a:rPr>
                  <a:solidFill>
                    <a:schemeClr val="accent3">
                      <a:hueOff val="914338"/>
                      <a:satOff val="31515"/>
                      <a:lumOff val="-30790"/>
                    </a:schemeClr>
                  </a:solidFill>
                </a:rPr>
                <a:t>expandtabs</a:t>
              </a:r>
              <a:r>
                <a:t>(</a:t>
              </a:r>
              <a:r>
                <a:rPr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</a:rPr>
                <a:t>4</a:t>
              </a:r>
              <a:r>
                <a:t>))</a:t>
              </a:r>
            </a:p>
            <a:p>
              <a:pPr algn="l">
                <a:lnSpc>
                  <a:spcPct val="200000"/>
                </a:lnSpc>
                <a:defRPr sz="3500" b="1">
                  <a:solidFill>
                    <a:srgbClr val="000000"/>
                  </a:solidFill>
                </a:defRPr>
              </a:pPr>
              <a:r>
                <a:t>    elif num%2 ==1: print("\U0001f385\t\U0001f385\t\U0001f385\t\U0001f385\t".</a:t>
              </a:r>
              <a:r>
                <a:rPr>
                  <a:solidFill>
                    <a:schemeClr val="accent3">
                      <a:hueOff val="914338"/>
                      <a:satOff val="31515"/>
                      <a:lumOff val="-30790"/>
                    </a:schemeClr>
                  </a:solidFill>
                </a:rPr>
                <a:t>expandtabs</a:t>
              </a:r>
              <a:r>
                <a:t>())</a:t>
              </a:r>
            </a:p>
          </p:txBody>
        </p:sp>
        <p:pic>
          <p:nvPicPr>
            <p:cNvPr id="849" name="Rectangle Rectangle" descr="Rectangle Rectangle"/>
            <p:cNvPicPr>
              <a:picLocks/>
            </p:cNvPicPr>
            <p:nvPr/>
          </p:nvPicPr>
          <p:blipFill>
            <a:blip r:embed="rId5">
              <a:alphaModFix amt="13305"/>
            </a:blip>
            <a:stretch>
              <a:fillRect/>
            </a:stretch>
          </p:blipFill>
          <p:spPr>
            <a:xfrm>
              <a:off x="2666318" y="2172580"/>
              <a:ext cx="3251677" cy="659995"/>
            </a:xfrm>
            <a:prstGeom prst="rect">
              <a:avLst/>
            </a:prstGeom>
            <a:effectLst/>
          </p:spPr>
        </p:pic>
        <p:pic>
          <p:nvPicPr>
            <p:cNvPr id="851" name="Rectangle Rectangle" descr="Rectangle Rectangle"/>
            <p:cNvPicPr>
              <a:picLocks/>
            </p:cNvPicPr>
            <p:nvPr/>
          </p:nvPicPr>
          <p:blipFill>
            <a:blip r:embed="rId5">
              <a:alphaModFix amt="13305"/>
            </a:blip>
            <a:stretch>
              <a:fillRect/>
            </a:stretch>
          </p:blipFill>
          <p:spPr>
            <a:xfrm>
              <a:off x="5949253" y="2172580"/>
              <a:ext cx="3251676" cy="659995"/>
            </a:xfrm>
            <a:prstGeom prst="rect">
              <a:avLst/>
            </a:prstGeom>
            <a:effectLst/>
          </p:spPr>
        </p:pic>
        <p:pic>
          <p:nvPicPr>
            <p:cNvPr id="853" name="Rectangle Rectangle" descr="Rectangle Rectangle"/>
            <p:cNvPicPr>
              <a:picLocks/>
            </p:cNvPicPr>
            <p:nvPr/>
          </p:nvPicPr>
          <p:blipFill>
            <a:blip r:embed="rId6">
              <a:alphaModFix amt="41311"/>
            </a:blip>
            <a:stretch>
              <a:fillRect/>
            </a:stretch>
          </p:blipFill>
          <p:spPr>
            <a:xfrm>
              <a:off x="5308683" y="3251789"/>
              <a:ext cx="3057940" cy="659995"/>
            </a:xfrm>
            <a:prstGeom prst="rect">
              <a:avLst/>
            </a:prstGeom>
            <a:effectLst/>
          </p:spPr>
        </p:pic>
      </p:grpSp>
      <p:sp>
        <p:nvSpPr>
          <p:cNvPr id="856" name="\U0001f936"/>
          <p:cNvSpPr txBox="1"/>
          <p:nvPr/>
        </p:nvSpPr>
        <p:spPr>
          <a:xfrm>
            <a:off x="17721718" y="3526982"/>
            <a:ext cx="2961057" cy="73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 b="1">
                <a:solidFill>
                  <a:srgbClr val="FFFFFF"/>
                </a:solidFill>
              </a:defRPr>
            </a:lvl1pPr>
          </a:lstStyle>
          <a:p>
            <a:r>
              <a:t>\U0001f936</a:t>
            </a:r>
          </a:p>
        </p:txBody>
      </p:sp>
      <p:sp>
        <p:nvSpPr>
          <p:cNvPr id="857" name="\U0001f385"/>
          <p:cNvSpPr txBox="1"/>
          <p:nvPr/>
        </p:nvSpPr>
        <p:spPr>
          <a:xfrm>
            <a:off x="17721718" y="2421730"/>
            <a:ext cx="2961057" cy="733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 b="1">
                <a:solidFill>
                  <a:srgbClr val="FFFFFF"/>
                </a:solidFill>
              </a:defRPr>
            </a:lvl1pPr>
          </a:lstStyle>
          <a:p>
            <a:r>
              <a:t>\U0001f385</a:t>
            </a:r>
          </a:p>
        </p:txBody>
      </p:sp>
      <p:pic>
        <p:nvPicPr>
          <p:cNvPr id="858" name="Screen Shot 2022-11-23 at 9.53.27 AM.png" descr="Screen Shot 2022-11-23 at 9.53.27 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35219" y="2331444"/>
            <a:ext cx="901701" cy="91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9" name="Screen Shot 2022-11-23 at 9.53.35 AM.png" descr="Screen Shot 2022-11-23 at 9.53.35 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66969" y="3571121"/>
            <a:ext cx="838201" cy="838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0" name="Screen Shot 2022-10-18 at 9.55.01 PM.png" descr="Screen Shot 2022-10-18 at 9.55.01 PM.png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2061774" y="7362656"/>
            <a:ext cx="19881209" cy="420390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28/10/2022">
            <a:extLst>
              <a:ext uri="{FF2B5EF4-FFF2-40B4-BE49-F238E27FC236}">
                <a16:creationId xmlns:a16="http://schemas.microsoft.com/office/drawing/2014/main" id="{8D047FF3-0344-FCB9-AE20-E3171ECAA9B5}"/>
              </a:ext>
            </a:extLst>
          </p:cNvPr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2</a:t>
            </a:r>
            <a:r>
              <a:rPr lang="en-US" dirty="0"/>
              <a:t>1</a:t>
            </a:r>
            <a:r>
              <a:rPr dirty="0"/>
              <a:t>/1</a:t>
            </a:r>
            <a:r>
              <a:rPr lang="en-US" dirty="0"/>
              <a:t>1</a:t>
            </a:r>
            <a:r>
              <a:rPr dirty="0"/>
              <a:t>/2022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1" grpId="0" animBg="1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4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862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863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865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866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867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868" name="19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500" b="1">
                <a:solidFill>
                  <a:srgbClr val="FFFFFF"/>
                </a:solidFill>
              </a:defRPr>
            </a:lvl1pPr>
          </a:lstStyle>
          <a:p>
            <a:r>
              <a:t>19</a:t>
            </a:r>
          </a:p>
        </p:txBody>
      </p:sp>
      <p:sp>
        <p:nvSpPr>
          <p:cNvPr id="870" name="Hands-On - print"/>
          <p:cNvSpPr txBox="1"/>
          <p:nvPr/>
        </p:nvSpPr>
        <p:spPr>
          <a:xfrm>
            <a:off x="10102850" y="1185295"/>
            <a:ext cx="417830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t>Hands-On - print</a:t>
            </a:r>
          </a:p>
        </p:txBody>
      </p:sp>
      <p:grpSp>
        <p:nvGrpSpPr>
          <p:cNvPr id="873" name="Screen Shot 2022-11-23 at 9.41.14 AM.png"/>
          <p:cNvGrpSpPr/>
          <p:nvPr/>
        </p:nvGrpSpPr>
        <p:grpSpPr>
          <a:xfrm>
            <a:off x="1995748" y="1954959"/>
            <a:ext cx="15370328" cy="5392505"/>
            <a:chOff x="0" y="0"/>
            <a:chExt cx="15370326" cy="5392503"/>
          </a:xfrm>
        </p:grpSpPr>
        <p:pic>
          <p:nvPicPr>
            <p:cNvPr id="872" name="Screen Shot 2022-11-23 at 9.41.14 AM.png" descr="Screen Shot 2022-11-23 at 9.41.14 A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0" y="50800"/>
              <a:ext cx="15268727" cy="529090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71" name="Screen Shot 2022-11-23 at 9.41.14 AM.png" descr="Screen Shot 2022-11-23 at 9.41.14 AM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5370327" cy="5392504"/>
            </a:xfrm>
            <a:prstGeom prst="rect">
              <a:avLst/>
            </a:prstGeom>
            <a:effectLst/>
          </p:spPr>
        </p:pic>
      </p:grpSp>
      <p:grpSp>
        <p:nvGrpSpPr>
          <p:cNvPr id="881" name="Group"/>
          <p:cNvGrpSpPr/>
          <p:nvPr/>
        </p:nvGrpSpPr>
        <p:grpSpPr>
          <a:xfrm>
            <a:off x="2064507" y="9344326"/>
            <a:ext cx="9200931" cy="2082997"/>
            <a:chOff x="0" y="1936362"/>
            <a:chExt cx="9200929" cy="2082996"/>
          </a:xfrm>
        </p:grpSpPr>
        <p:sp>
          <p:nvSpPr>
            <p:cNvPr id="874" name="for num in range(1,11):…"/>
            <p:cNvSpPr/>
            <p:nvPr/>
          </p:nvSpPr>
          <p:spPr>
            <a:xfrm>
              <a:off x="0" y="1936362"/>
              <a:ext cx="1270000" cy="1270001"/>
            </a:xfrm>
            <a:prstGeom prst="line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lnSpc>
                  <a:spcPct val="200000"/>
                </a:lnSpc>
                <a:defRPr sz="3500" b="1">
                  <a:solidFill>
                    <a:srgbClr val="000000"/>
                  </a:solidFill>
                </a:defRPr>
              </a:pPr>
              <a:r>
                <a:rPr dirty="0"/>
                <a:t>for num in range(1,11):</a:t>
              </a:r>
            </a:p>
            <a:p>
              <a:pPr algn="l">
                <a:lnSpc>
                  <a:spcPct val="200000"/>
                </a:lnSpc>
                <a:defRPr sz="3500" b="1">
                  <a:solidFill>
                    <a:srgbClr val="000000"/>
                  </a:solidFill>
                </a:defRPr>
              </a:pPr>
              <a:r>
                <a:rPr dirty="0"/>
                <a:t>    if num % 2 == 0:</a:t>
              </a:r>
            </a:p>
            <a:p>
              <a:pPr algn="l">
                <a:lnSpc>
                  <a:spcPct val="200000"/>
                </a:lnSpc>
                <a:defRPr sz="3500" b="1">
                  <a:solidFill>
                    <a:srgbClr val="000000"/>
                  </a:solidFill>
                </a:defRPr>
              </a:pPr>
              <a:r>
                <a:rPr dirty="0"/>
                <a:t>        </a:t>
              </a:r>
              <a:r>
                <a:rPr dirty="0">
                  <a:highlight>
                    <a:srgbClr val="FFFF00"/>
                  </a:highlight>
                </a:rPr>
                <a:t>print("    \U0001f936\t\t\U0001f936\t\t\U0001f936\t\t\U0001f936\t\t".</a:t>
              </a:r>
              <a:r>
                <a:rPr dirty="0" err="1">
                  <a:solidFill>
                    <a:schemeClr val="accent3">
                      <a:hueOff val="914338"/>
                      <a:satOff val="31515"/>
                      <a:lumOff val="-30790"/>
                    </a:schemeClr>
                  </a:solidFill>
                  <a:highlight>
                    <a:srgbClr val="FFFF00"/>
                  </a:highlight>
                </a:rPr>
                <a:t>expandtabs</a:t>
              </a:r>
              <a:r>
                <a:rPr dirty="0">
                  <a:highlight>
                    <a:srgbClr val="FFFF00"/>
                  </a:highlight>
                </a:rPr>
                <a:t>(</a:t>
              </a:r>
              <a:r>
                <a:rPr dirty="0">
                  <a:solidFill>
                    <a:schemeClr val="accent3">
                      <a:hueOff val="362282"/>
                      <a:satOff val="31803"/>
                      <a:lumOff val="-18242"/>
                    </a:schemeClr>
                  </a:solidFill>
                  <a:highlight>
                    <a:srgbClr val="FFFF00"/>
                  </a:highlight>
                </a:rPr>
                <a:t>4</a:t>
              </a:r>
              <a:r>
                <a:rPr dirty="0">
                  <a:highlight>
                    <a:srgbClr val="FFFF00"/>
                  </a:highlight>
                </a:rPr>
                <a:t>))</a:t>
              </a:r>
            </a:p>
            <a:p>
              <a:pPr algn="l">
                <a:lnSpc>
                  <a:spcPct val="200000"/>
                </a:lnSpc>
                <a:defRPr sz="3500" b="1">
                  <a:solidFill>
                    <a:srgbClr val="000000"/>
                  </a:solidFill>
                </a:defRPr>
              </a:pPr>
              <a:r>
                <a:rPr dirty="0"/>
                <a:t>    </a:t>
              </a:r>
              <a:r>
                <a:rPr dirty="0" err="1">
                  <a:highlight>
                    <a:srgbClr val="FFFF00"/>
                  </a:highlight>
                </a:rPr>
                <a:t>elif</a:t>
              </a:r>
              <a:r>
                <a:rPr dirty="0">
                  <a:highlight>
                    <a:srgbClr val="FFFF00"/>
                  </a:highlight>
                </a:rPr>
                <a:t> num%2 ==1: print("\U0001f385\t\U0001f385\t\U0001f385\t\U0001f385\t".</a:t>
              </a:r>
              <a:r>
                <a:rPr dirty="0" err="1">
                  <a:solidFill>
                    <a:schemeClr val="accent3">
                      <a:hueOff val="914338"/>
                      <a:satOff val="31515"/>
                      <a:lumOff val="-30790"/>
                    </a:schemeClr>
                  </a:solidFill>
                  <a:highlight>
                    <a:srgbClr val="FFFF00"/>
                  </a:highlight>
                </a:rPr>
                <a:t>expandtabs</a:t>
              </a:r>
              <a:r>
                <a:rPr dirty="0">
                  <a:highlight>
                    <a:srgbClr val="FFFF00"/>
                  </a:highlight>
                </a:rPr>
                <a:t>())</a:t>
              </a:r>
            </a:p>
          </p:txBody>
        </p:sp>
        <p:pic>
          <p:nvPicPr>
            <p:cNvPr id="875" name="Rectangle Rectangle" descr="Rectangle Rectangle"/>
            <p:cNvPicPr>
              <a:picLocks/>
            </p:cNvPicPr>
            <p:nvPr/>
          </p:nvPicPr>
          <p:blipFill>
            <a:blip r:embed="rId5">
              <a:alphaModFix amt="13305"/>
            </a:blip>
            <a:stretch>
              <a:fillRect/>
            </a:stretch>
          </p:blipFill>
          <p:spPr>
            <a:xfrm>
              <a:off x="2666318" y="2333941"/>
              <a:ext cx="3251677" cy="659995"/>
            </a:xfrm>
            <a:prstGeom prst="rect">
              <a:avLst/>
            </a:prstGeom>
            <a:effectLst/>
          </p:spPr>
        </p:pic>
        <p:pic>
          <p:nvPicPr>
            <p:cNvPr id="877" name="Rectangle Rectangle" descr="Rectangle Rectangle"/>
            <p:cNvPicPr>
              <a:picLocks/>
            </p:cNvPicPr>
            <p:nvPr/>
          </p:nvPicPr>
          <p:blipFill>
            <a:blip r:embed="rId5">
              <a:alphaModFix amt="13305"/>
            </a:blip>
            <a:stretch>
              <a:fillRect/>
            </a:stretch>
          </p:blipFill>
          <p:spPr>
            <a:xfrm>
              <a:off x="5949253" y="2172580"/>
              <a:ext cx="3251676" cy="659995"/>
            </a:xfrm>
            <a:prstGeom prst="rect">
              <a:avLst/>
            </a:prstGeom>
            <a:effectLst/>
          </p:spPr>
        </p:pic>
        <p:pic>
          <p:nvPicPr>
            <p:cNvPr id="879" name="Rectangle Rectangle" descr="Rectangle Rectangle"/>
            <p:cNvPicPr>
              <a:picLocks/>
            </p:cNvPicPr>
            <p:nvPr/>
          </p:nvPicPr>
          <p:blipFill>
            <a:blip r:embed="rId6">
              <a:alphaModFix amt="41311"/>
            </a:blip>
            <a:stretch>
              <a:fillRect/>
            </a:stretch>
          </p:blipFill>
          <p:spPr>
            <a:xfrm>
              <a:off x="5308683" y="3359363"/>
              <a:ext cx="3057940" cy="659995"/>
            </a:xfrm>
            <a:prstGeom prst="rect">
              <a:avLst/>
            </a:prstGeom>
            <a:effectLst/>
          </p:spPr>
        </p:pic>
      </p:grpSp>
      <p:sp>
        <p:nvSpPr>
          <p:cNvPr id="882" name="\U0001f936"/>
          <p:cNvSpPr txBox="1"/>
          <p:nvPr/>
        </p:nvSpPr>
        <p:spPr>
          <a:xfrm>
            <a:off x="17721718" y="3526982"/>
            <a:ext cx="2961057" cy="73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 b="1">
                <a:solidFill>
                  <a:srgbClr val="FFFFFF"/>
                </a:solidFill>
              </a:defRPr>
            </a:lvl1pPr>
          </a:lstStyle>
          <a:p>
            <a:r>
              <a:t>\U0001f936</a:t>
            </a:r>
          </a:p>
        </p:txBody>
      </p:sp>
      <p:sp>
        <p:nvSpPr>
          <p:cNvPr id="883" name="\U0001f385"/>
          <p:cNvSpPr txBox="1"/>
          <p:nvPr/>
        </p:nvSpPr>
        <p:spPr>
          <a:xfrm>
            <a:off x="17721718" y="2421730"/>
            <a:ext cx="2961057" cy="733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200" b="1">
                <a:solidFill>
                  <a:srgbClr val="FFFFFF"/>
                </a:solidFill>
              </a:defRPr>
            </a:lvl1pPr>
          </a:lstStyle>
          <a:p>
            <a:r>
              <a:t>\U0001f385</a:t>
            </a:r>
          </a:p>
        </p:txBody>
      </p:sp>
      <p:pic>
        <p:nvPicPr>
          <p:cNvPr id="884" name="Screen Shot 2022-11-23 at 9.53.27 AM.png" descr="Screen Shot 2022-11-23 at 9.53.27 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35219" y="2331444"/>
            <a:ext cx="901701" cy="91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5" name="Screen Shot 2022-11-23 at 9.53.35 AM.png" descr="Screen Shot 2022-11-23 at 9.53.35 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66969" y="3571121"/>
            <a:ext cx="838201" cy="838201"/>
          </a:xfrm>
          <a:prstGeom prst="rect">
            <a:avLst/>
          </a:prstGeom>
          <a:ln w="12700">
            <a:miter lim="400000"/>
          </a:ln>
        </p:spPr>
      </p:pic>
      <p:sp>
        <p:nvSpPr>
          <p:cNvPr id="886" name="Line"/>
          <p:cNvSpPr/>
          <p:nvPr/>
        </p:nvSpPr>
        <p:spPr>
          <a:xfrm>
            <a:off x="19807501" y="9596458"/>
            <a:ext cx="48425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887" name="Line"/>
          <p:cNvSpPr/>
          <p:nvPr/>
        </p:nvSpPr>
        <p:spPr>
          <a:xfrm>
            <a:off x="7201816" y="9596458"/>
            <a:ext cx="48425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888" name="Line"/>
          <p:cNvSpPr/>
          <p:nvPr/>
        </p:nvSpPr>
        <p:spPr>
          <a:xfrm flipV="1">
            <a:off x="7443942" y="9030707"/>
            <a:ext cx="1" cy="57643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889" name="Line"/>
          <p:cNvSpPr/>
          <p:nvPr/>
        </p:nvSpPr>
        <p:spPr>
          <a:xfrm flipV="1">
            <a:off x="20049627" y="9030707"/>
            <a:ext cx="1" cy="57643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890" name="Line"/>
          <p:cNvSpPr/>
          <p:nvPr/>
        </p:nvSpPr>
        <p:spPr>
          <a:xfrm>
            <a:off x="7447242" y="9056220"/>
            <a:ext cx="1259809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7" grpId="0" animBg="1" advAuto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4" name="Group"/>
          <p:cNvGrpSpPr/>
          <p:nvPr/>
        </p:nvGrpSpPr>
        <p:grpSpPr>
          <a:xfrm>
            <a:off x="1133940" y="636008"/>
            <a:ext cx="22090721" cy="12494784"/>
            <a:chOff x="0" y="25400"/>
            <a:chExt cx="22090719" cy="12494783"/>
          </a:xfrm>
        </p:grpSpPr>
        <p:sp>
          <p:nvSpPr>
            <p:cNvPr id="892" name="8"/>
            <p:cNvSpPr/>
            <p:nvPr/>
          </p:nvSpPr>
          <p:spPr>
            <a:xfrm>
              <a:off x="0" y="25400"/>
              <a:ext cx="22090720" cy="12494784"/>
            </a:xfrm>
            <a:prstGeom prst="rect">
              <a:avLst/>
            </a:prstGeom>
            <a:solidFill>
              <a:srgbClr val="0433FF"/>
            </a:solidFill>
            <a:ln w="63500" cap="flat">
              <a:solidFill>
                <a:srgbClr val="000000"/>
              </a:solidFill>
              <a:prstDash val="solid"/>
              <a:miter lim="400000"/>
            </a:ln>
            <a:effectLst>
              <a:outerShdw blurRad="190500" dir="5400000" rotWithShape="0">
                <a:srgbClr val="000000"/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r>
                <a:t>8</a:t>
              </a:r>
            </a:p>
          </p:txBody>
        </p:sp>
        <p:sp>
          <p:nvSpPr>
            <p:cNvPr id="893" name="Shape"/>
            <p:cNvSpPr/>
            <p:nvPr/>
          </p:nvSpPr>
          <p:spPr>
            <a:xfrm rot="4812">
              <a:off x="800033" y="596844"/>
              <a:ext cx="20490654" cy="1130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"/>
                  </a:lnTo>
                  <a:lnTo>
                    <a:pt x="21600" y="21600"/>
                  </a:lnTo>
                  <a:lnTo>
                    <a:pt x="0" y="21599"/>
                  </a:lnTo>
                  <a:close/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895" name="S. Sharma, UJ"/>
          <p:cNvSpPr/>
          <p:nvPr/>
        </p:nvSpPr>
        <p:spPr>
          <a:xfrm>
            <a:off x="2679344" y="125175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S. Sharma, UJ</a:t>
            </a:r>
          </a:p>
        </p:txBody>
      </p:sp>
      <p:sp>
        <p:nvSpPr>
          <p:cNvPr id="896" name="Python for beginners"/>
          <p:cNvSpPr/>
          <p:nvPr/>
        </p:nvSpPr>
        <p:spPr>
          <a:xfrm>
            <a:off x="8924527" y="12530284"/>
            <a:ext cx="6351593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Python for beginners</a:t>
            </a:r>
          </a:p>
        </p:txBody>
      </p:sp>
      <p:pic>
        <p:nvPicPr>
          <p:cNvPr id="897" name="Picture 3" descr="Picture 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703" y="11920917"/>
            <a:ext cx="4487664" cy="1226136"/>
          </a:xfrm>
          <a:prstGeom prst="rect">
            <a:avLst/>
          </a:prstGeom>
          <a:ln w="12700">
            <a:miter lim="400000"/>
          </a:ln>
        </p:spPr>
      </p:pic>
      <p:sp>
        <p:nvSpPr>
          <p:cNvPr id="898" name="Shape"/>
          <p:cNvSpPr/>
          <p:nvPr/>
        </p:nvSpPr>
        <p:spPr>
          <a:xfrm>
            <a:off x="21797471" y="12339926"/>
            <a:ext cx="892836" cy="751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6" h="18742" extrusionOk="0">
                <a:moveTo>
                  <a:pt x="16543" y="1756"/>
                </a:moveTo>
                <a:cubicBezTo>
                  <a:pt x="18083" y="3365"/>
                  <a:pt x="21470" y="4673"/>
                  <a:pt x="21200" y="7182"/>
                </a:cubicBezTo>
                <a:cubicBezTo>
                  <a:pt x="20931" y="9691"/>
                  <a:pt x="17421" y="13905"/>
                  <a:pt x="15881" y="15513"/>
                </a:cubicBezTo>
                <a:cubicBezTo>
                  <a:pt x="12800" y="18730"/>
                  <a:pt x="6359" y="20139"/>
                  <a:pt x="3279" y="16922"/>
                </a:cubicBezTo>
                <a:cubicBezTo>
                  <a:pt x="2508" y="16118"/>
                  <a:pt x="1282" y="16044"/>
                  <a:pt x="851" y="14993"/>
                </a:cubicBezTo>
                <a:cubicBezTo>
                  <a:pt x="420" y="13941"/>
                  <a:pt x="-130" y="11996"/>
                  <a:pt x="27" y="10744"/>
                </a:cubicBezTo>
                <a:cubicBezTo>
                  <a:pt x="342" y="8239"/>
                  <a:pt x="2769" y="4966"/>
                  <a:pt x="4309" y="3358"/>
                </a:cubicBezTo>
                <a:cubicBezTo>
                  <a:pt x="7390" y="141"/>
                  <a:pt x="13462" y="-1461"/>
                  <a:pt x="16543" y="1756"/>
                </a:cubicBezTo>
                <a:close/>
              </a:path>
            </a:pathLst>
          </a:custGeom>
          <a:solidFill>
            <a:srgbClr val="000000">
              <a:alpha val="7361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25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9" name="25/11/2022"/>
          <p:cNvSpPr/>
          <p:nvPr/>
        </p:nvSpPr>
        <p:spPr>
          <a:xfrm>
            <a:off x="17929311" y="12530284"/>
            <a:ext cx="3591992" cy="55839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25/11/2022</a:t>
            </a:r>
          </a:p>
        </p:txBody>
      </p:sp>
      <p:sp>
        <p:nvSpPr>
          <p:cNvPr id="900" name="Thank you !!!"/>
          <p:cNvSpPr txBox="1"/>
          <p:nvPr/>
        </p:nvSpPr>
        <p:spPr>
          <a:xfrm>
            <a:off x="9055576" y="6180962"/>
            <a:ext cx="6272848" cy="135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500">
                <a:solidFill>
                  <a:srgbClr val="FFFFFF"/>
                </a:solidFill>
              </a:defRPr>
            </a:lvl1pPr>
          </a:lstStyle>
          <a:p>
            <a:r>
              <a:t>Thank you !!!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7" grpId="0" animBg="1" advAuto="0"/>
    </p:bld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4488</Words>
  <Application>Microsoft Office PowerPoint</Application>
  <PresentationFormat>Custom</PresentationFormat>
  <Paragraphs>1070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Sushil Sharma</cp:lastModifiedBy>
  <cp:revision>12</cp:revision>
  <dcterms:modified xsi:type="dcterms:W3CDTF">2025-11-18T20:30:05Z</dcterms:modified>
</cp:coreProperties>
</file>